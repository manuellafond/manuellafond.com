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60" r:id="rId1"/>
  </p:sldMasterIdLst>
  <p:notesMasterIdLst>
    <p:notesMasterId r:id="rId13"/>
  </p:notesMasterIdLst>
  <p:handoutMasterIdLst>
    <p:handoutMasterId r:id="rId14"/>
  </p:handoutMasterIdLst>
  <p:sldIdLst>
    <p:sldId id="262" r:id="rId2"/>
    <p:sldId id="373" r:id="rId3"/>
    <p:sldId id="305" r:id="rId4"/>
    <p:sldId id="402" r:id="rId5"/>
    <p:sldId id="403" r:id="rId6"/>
    <p:sldId id="404" r:id="rId7"/>
    <p:sldId id="392" r:id="rId8"/>
    <p:sldId id="393" r:id="rId9"/>
    <p:sldId id="405" r:id="rId10"/>
    <p:sldId id="394" r:id="rId11"/>
    <p:sldId id="370" r:id="rId12"/>
  </p:sldIdLst>
  <p:sldSz cx="9144000" cy="5143500" type="screen16x9"/>
  <p:notesSz cx="6858000" cy="9144000"/>
  <p:defaultTextStyle>
    <a:defPPr>
      <a:defRPr lang="fr-FR"/>
    </a:defPPr>
    <a:lvl1pPr algn="l" rtl="0" eaLnBrk="0" fontAlgn="base" hangingPunct="0">
      <a:spcBef>
        <a:spcPct val="0"/>
      </a:spcBef>
      <a:spcAft>
        <a:spcPct val="0"/>
      </a:spcAft>
      <a:defRPr sz="2400"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DEFE9"/>
    <a:srgbClr val="B6BAAF"/>
    <a:srgbClr val="805286"/>
    <a:srgbClr val="B45E2F"/>
    <a:srgbClr val="E6E4D8"/>
    <a:srgbClr val="E6EFCE"/>
    <a:srgbClr val="000000"/>
    <a:srgbClr val="149B9C"/>
    <a:srgbClr val="0049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70"/>
    <p:restoredTop sz="94694"/>
  </p:normalViewPr>
  <p:slideViewPr>
    <p:cSldViewPr>
      <p:cViewPr varScale="1">
        <p:scale>
          <a:sx n="103" d="100"/>
          <a:sy n="103" d="100"/>
        </p:scale>
        <p:origin x="1114" y="77"/>
      </p:cViewPr>
      <p:guideLst>
        <p:guide orient="horz" pos="1620"/>
        <p:guide pos="288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9" d="100"/>
          <a:sy n="99" d="100"/>
        </p:scale>
        <p:origin x="3064"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ＭＳ Ｐゴシック" charset="0"/>
                <a:cs typeface="ＭＳ Ｐゴシック" charset="0"/>
              </a:defRPr>
            </a:lvl1pPr>
          </a:lstStyle>
          <a:p>
            <a:pPr>
              <a:defRPr/>
            </a:pPr>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0CAF17FA-651E-0E42-A6BE-D4A0484837FB}" type="datetime1">
              <a:rPr lang="fr-FR" altLang="x-none"/>
              <a:pPr>
                <a:defRPr/>
              </a:pPr>
              <a:t>04/12/2024</a:t>
            </a:fld>
            <a:endParaRPr lang="fr-FR" altLang="x-none"/>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ea typeface="ＭＳ Ｐゴシック" charset="0"/>
                <a:cs typeface="ＭＳ Ｐゴシック" charset="0"/>
              </a:defRPr>
            </a:lvl1pPr>
          </a:lstStyle>
          <a:p>
            <a:pPr>
              <a:defRPr/>
            </a:pPr>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5AB6679F-8AFA-BB4B-A1B0-55DCE4DD829D}" type="slidenum">
              <a:rPr lang="fr-FR" altLang="x-none"/>
              <a:pPr>
                <a:defRPr/>
              </a:pPr>
              <a:t>‹N°›</a:t>
            </a:fld>
            <a:endParaRPr lang="fr-FR" altLang="x-none"/>
          </a:p>
        </p:txBody>
      </p:sp>
    </p:spTree>
    <p:extLst>
      <p:ext uri="{BB962C8B-B14F-4D97-AF65-F5344CB8AC3E}">
        <p14:creationId xmlns:p14="http://schemas.microsoft.com/office/powerpoint/2010/main" val="17905366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fr-FR"/>
          </a:p>
        </p:txBody>
      </p:sp>
      <p:sp>
        <p:nvSpPr>
          <p:cNvPr id="6147" name="Rectangle 3"/>
          <p:cNvSpPr>
            <a:spLocks noGrp="1" noChangeArrowheads="1"/>
          </p:cNvSpPr>
          <p:nvPr>
            <p:ph type="dt" idx="1"/>
          </p:nvPr>
        </p:nvSpPr>
        <p:spPr bwMode="auto">
          <a:xfrm>
            <a:off x="388620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ＭＳ Ｐゴシック" charset="0"/>
              </a:defRPr>
            </a:lvl1pPr>
          </a:lstStyle>
          <a:p>
            <a:pPr>
              <a:defRPr/>
            </a:pPr>
            <a:endParaRPr lang="fr-FR"/>
          </a:p>
        </p:txBody>
      </p:sp>
      <p:sp>
        <p:nvSpPr>
          <p:cNvPr id="61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fr-FR" altLang="x-none" noProof="0"/>
              <a:t>Cliquez pour modifier les styles du texte du masque</a:t>
            </a:r>
          </a:p>
          <a:p>
            <a:pPr lvl="1"/>
            <a:r>
              <a:rPr lang="fr-FR" altLang="x-none" noProof="0"/>
              <a:t>Deuxième niveau</a:t>
            </a:r>
          </a:p>
          <a:p>
            <a:pPr lvl="2"/>
            <a:r>
              <a:rPr lang="fr-FR" altLang="x-none" noProof="0"/>
              <a:t>Troisième niveau</a:t>
            </a:r>
          </a:p>
          <a:p>
            <a:pPr lvl="3"/>
            <a:r>
              <a:rPr lang="fr-FR" altLang="x-none" noProof="0"/>
              <a:t>Quatrième niveau</a:t>
            </a:r>
          </a:p>
          <a:p>
            <a:pPr lvl="4"/>
            <a:r>
              <a:rPr lang="fr-FR" altLang="x-none" noProof="0"/>
              <a:t>Cinquième niveau</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fr-FR"/>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sz="1200"/>
            </a:lvl1pPr>
          </a:lstStyle>
          <a:p>
            <a:pPr>
              <a:defRPr/>
            </a:pPr>
            <a:fld id="{32BA4F3A-7F2A-F149-B466-AAABF38C2E0E}" type="slidenum">
              <a:rPr lang="fr-FR" altLang="x-none"/>
              <a:pPr>
                <a:defRPr/>
              </a:pPr>
              <a:t>‹N°›</a:t>
            </a:fld>
            <a:endParaRPr lang="fr-FR" altLang="x-none"/>
          </a:p>
        </p:txBody>
      </p:sp>
    </p:spTree>
    <p:extLst>
      <p:ext uri="{BB962C8B-B14F-4D97-AF65-F5344CB8AC3E}">
        <p14:creationId xmlns:p14="http://schemas.microsoft.com/office/powerpoint/2010/main" val="35274820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ヒラギノ角ゴ Pro W3" charset="-128"/>
        <a:cs typeface="ヒラギノ角ゴ Pro W3" charset="-128"/>
      </a:defRPr>
    </a:lvl3pPr>
    <a:lvl4pPr marL="1371600" algn="l" rtl="0" eaLnBrk="0" fontAlgn="base" hangingPunct="0">
      <a:spcBef>
        <a:spcPct val="30000"/>
      </a:spcBef>
      <a:spcAft>
        <a:spcPct val="0"/>
      </a:spcAft>
      <a:defRPr sz="1200" kern="1200">
        <a:solidFill>
          <a:schemeClr val="tx1"/>
        </a:solidFill>
        <a:latin typeface="Arial" charset="0"/>
        <a:ea typeface="ヒラギノ角ゴ Pro W3"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ヒラギノ角ゴ Pro W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 Titre 1">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56E720D-9D2F-F946-A19F-24FF2DD1F9B4}"/>
              </a:ext>
            </a:extLst>
          </p:cNvPr>
          <p:cNvPicPr>
            <a:picLocks noChangeAspect="1"/>
          </p:cNvPicPr>
          <p:nvPr userDrawn="1"/>
        </p:nvPicPr>
        <p:blipFill>
          <a:blip r:embed="rId2"/>
          <a:srcRect/>
          <a:stretch/>
        </p:blipFill>
        <p:spPr>
          <a:xfrm>
            <a:off x="0" y="0"/>
            <a:ext cx="9144000" cy="5143500"/>
          </a:xfrm>
          <a:prstGeom prst="rect">
            <a:avLst/>
          </a:prstGeom>
        </p:spPr>
      </p:pic>
      <p:sp>
        <p:nvSpPr>
          <p:cNvPr id="4099" name="Rectangle 3"/>
          <p:cNvSpPr>
            <a:spLocks noGrp="1" noChangeArrowheads="1"/>
          </p:cNvSpPr>
          <p:nvPr>
            <p:ph type="ctrTitle"/>
          </p:nvPr>
        </p:nvSpPr>
        <p:spPr>
          <a:xfrm>
            <a:off x="5004048" y="897564"/>
            <a:ext cx="3816424" cy="1890210"/>
          </a:xfrm>
        </p:spPr>
        <p:txBody>
          <a:bodyPr/>
          <a:lstStyle>
            <a:lvl1pPr algn="l">
              <a:defRPr sz="4000" b="1" i="0">
                <a:solidFill>
                  <a:srgbClr val="FFFFFF"/>
                </a:solidFill>
                <a:latin typeface="Arial Narrow"/>
                <a:cs typeface="Arial Narrow"/>
              </a:defRPr>
            </a:lvl1pPr>
          </a:lstStyle>
          <a:p>
            <a:pPr lvl="0"/>
            <a:r>
              <a:rPr lang="fr-CA" noProof="0" dirty="0"/>
              <a:t>Modifier le style du titre</a:t>
            </a:r>
            <a:endParaRPr lang="fr-FR" noProof="0" dirty="0"/>
          </a:p>
        </p:txBody>
      </p:sp>
      <p:sp>
        <p:nvSpPr>
          <p:cNvPr id="10" name="Espace réservé du texte 9"/>
          <p:cNvSpPr>
            <a:spLocks noGrp="1"/>
          </p:cNvSpPr>
          <p:nvPr>
            <p:ph type="body" sz="quarter" idx="10"/>
          </p:nvPr>
        </p:nvSpPr>
        <p:spPr>
          <a:xfrm>
            <a:off x="5004468" y="3291830"/>
            <a:ext cx="3816003" cy="1008112"/>
          </a:xfrm>
        </p:spPr>
        <p:txBody>
          <a:bodyPr/>
          <a:lstStyle>
            <a:lvl1pPr marL="0" indent="0">
              <a:spcBef>
                <a:spcPts val="500"/>
              </a:spcBef>
              <a:buFontTx/>
              <a:buNone/>
              <a:defRPr sz="1800">
                <a:solidFill>
                  <a:srgbClr val="FFFFFF"/>
                </a:solidFill>
                <a:latin typeface="Arial Narrow" charset="0"/>
                <a:ea typeface="Arial Narrow" charset="0"/>
                <a:cs typeface="Arial Narrow" charset="0"/>
              </a:defRPr>
            </a:lvl1pPr>
            <a:lvl2pPr marL="228594" indent="0">
              <a:buFontTx/>
              <a:buNone/>
              <a:defRPr>
                <a:solidFill>
                  <a:srgbClr val="FFFFFF"/>
                </a:solidFill>
              </a:defRPr>
            </a:lvl2pPr>
            <a:lvl3pPr marL="503225" indent="0">
              <a:buFontTx/>
              <a:buNone/>
              <a:defRPr>
                <a:solidFill>
                  <a:srgbClr val="FFFFFF"/>
                </a:solidFill>
              </a:defRPr>
            </a:lvl3pPr>
            <a:lvl4pPr marL="714357" indent="0">
              <a:buFontTx/>
              <a:buNone/>
              <a:defRPr>
                <a:solidFill>
                  <a:srgbClr val="FFFFFF"/>
                </a:solidFill>
              </a:defRPr>
            </a:lvl4pPr>
            <a:lvl5pPr marL="942951" indent="0">
              <a:buFontTx/>
              <a:buNone/>
              <a:defRPr>
                <a:solidFill>
                  <a:srgbClr val="FFFFFF"/>
                </a:solidFill>
              </a:defRPr>
            </a:lvl5pPr>
          </a:lstStyle>
          <a:p>
            <a:pPr lvl="0"/>
            <a:r>
              <a:rPr lang="fr-CA"/>
              <a:t>Cliquez pour modifier les styles du texte du masque</a:t>
            </a:r>
          </a:p>
        </p:txBody>
      </p:sp>
      <p:sp>
        <p:nvSpPr>
          <p:cNvPr id="11" name="ZoneTexte 10">
            <a:extLst>
              <a:ext uri="{FF2B5EF4-FFF2-40B4-BE49-F238E27FC236}">
                <a16:creationId xmlns:a16="http://schemas.microsoft.com/office/drawing/2014/main" id="{35995C48-D059-0343-8D52-AECC1486F82B}"/>
              </a:ext>
            </a:extLst>
          </p:cNvPr>
          <p:cNvSpPr txBox="1"/>
          <p:nvPr userDrawn="1"/>
        </p:nvSpPr>
        <p:spPr>
          <a:xfrm>
            <a:off x="2401124" y="4742708"/>
            <a:ext cx="3672086" cy="246221"/>
          </a:xfrm>
          <a:prstGeom prst="rect">
            <a:avLst/>
          </a:prstGeom>
          <a:noFill/>
        </p:spPr>
        <p:txBody>
          <a:bodyPr wrap="square" lIns="0" rIns="0" bIns="0" rtlCol="0" anchor="b" anchorCtr="0">
            <a:spAutoFit/>
          </a:bodyPr>
          <a:lstStyle/>
          <a:p>
            <a:pPr algn="l"/>
            <a:r>
              <a:rPr lang="fr-FR" sz="1300">
                <a:solidFill>
                  <a:schemeClr val="bg2"/>
                </a:solidFill>
                <a:latin typeface="Arial Narrow" charset="0"/>
                <a:ea typeface="Arial Narrow" charset="0"/>
                <a:cs typeface="Arial Narrow" charset="0"/>
              </a:rPr>
              <a:t>Francis Sarrazin, sous la supervision de Pr. Manuel Lafond</a:t>
            </a:r>
            <a:endParaRPr lang="fr-FR" sz="1300" dirty="0">
              <a:solidFill>
                <a:schemeClr val="bg2"/>
              </a:solidFill>
              <a:latin typeface="Arial Narrow" charset="0"/>
              <a:ea typeface="Arial Narrow" charset="0"/>
              <a:cs typeface="Arial Narrow" charset="0"/>
            </a:endParaRPr>
          </a:p>
        </p:txBody>
      </p:sp>
      <p:pic>
        <p:nvPicPr>
          <p:cNvPr id="7" name="Image 6">
            <a:extLst>
              <a:ext uri="{FF2B5EF4-FFF2-40B4-BE49-F238E27FC236}">
                <a16:creationId xmlns:a16="http://schemas.microsoft.com/office/drawing/2014/main" id="{83EECB73-2307-1D42-9A9F-74088CB831CC}"/>
              </a:ext>
            </a:extLst>
          </p:cNvPr>
          <p:cNvPicPr>
            <a:picLocks noChangeAspect="1"/>
          </p:cNvPicPr>
          <p:nvPr userDrawn="1"/>
        </p:nvPicPr>
        <p:blipFill>
          <a:blip r:embed="rId3"/>
          <a:srcRect/>
          <a:stretch/>
        </p:blipFill>
        <p:spPr>
          <a:xfrm>
            <a:off x="7668344" y="4657686"/>
            <a:ext cx="1320568" cy="303355"/>
          </a:xfrm>
          <a:prstGeom prst="rect">
            <a:avLst/>
          </a:prstGeom>
        </p:spPr>
      </p:pic>
    </p:spTree>
    <p:extLst>
      <p:ext uri="{BB962C8B-B14F-4D97-AF65-F5344CB8AC3E}">
        <p14:creationId xmlns:p14="http://schemas.microsoft.com/office/powerpoint/2010/main" val="3124674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po Titre 2">
    <p:spTree>
      <p:nvGrpSpPr>
        <p:cNvPr id="1" name=""/>
        <p:cNvGrpSpPr/>
        <p:nvPr/>
      </p:nvGrpSpPr>
      <p:grpSpPr>
        <a:xfrm>
          <a:off x="0" y="0"/>
          <a:ext cx="0" cy="0"/>
          <a:chOff x="0" y="0"/>
          <a:chExt cx="0" cy="0"/>
        </a:xfrm>
      </p:grpSpPr>
      <p:pic>
        <p:nvPicPr>
          <p:cNvPr id="3" name="Image 5"/>
          <p:cNvPicPr>
            <a:picLocks noChangeAspect="1"/>
          </p:cNvPicPr>
          <p:nvPr userDrawn="1"/>
        </p:nvPicPr>
        <p:blipFill>
          <a:blip r:embed="rId2"/>
          <a:srcRect/>
          <a:stretch/>
        </p:blipFill>
        <p:spPr bwMode="auto">
          <a:xfrm>
            <a:off x="1354" y="3043"/>
            <a:ext cx="9141290" cy="514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395536" y="483518"/>
            <a:ext cx="5760639" cy="1458162"/>
          </a:xfrm>
        </p:spPr>
        <p:txBody>
          <a:bodyPr/>
          <a:lstStyle>
            <a:lvl1pPr algn="l">
              <a:defRPr sz="4000" b="1" i="0">
                <a:solidFill>
                  <a:srgbClr val="FFFFFF"/>
                </a:solidFill>
                <a:latin typeface="Arial Narrow"/>
                <a:cs typeface="Arial Narrow"/>
              </a:defRPr>
            </a:lvl1pPr>
          </a:lstStyle>
          <a:p>
            <a:pPr lvl="0"/>
            <a:r>
              <a:rPr lang="fr-CA" noProof="0" dirty="0"/>
              <a:t>Modifier le style du titre</a:t>
            </a:r>
            <a:endParaRPr lang="fr-FR" noProof="0" dirty="0"/>
          </a:p>
        </p:txBody>
      </p:sp>
      <p:sp>
        <p:nvSpPr>
          <p:cNvPr id="4" name="Espace réservé du texte 3"/>
          <p:cNvSpPr>
            <a:spLocks noGrp="1"/>
          </p:cNvSpPr>
          <p:nvPr>
            <p:ph type="body" sz="quarter" idx="10"/>
          </p:nvPr>
        </p:nvSpPr>
        <p:spPr>
          <a:xfrm>
            <a:off x="396127" y="2571750"/>
            <a:ext cx="3671495" cy="1584176"/>
          </a:xfrm>
        </p:spPr>
        <p:txBody>
          <a:bodyPr/>
          <a:lstStyle>
            <a:lvl1pPr marL="0" indent="0">
              <a:spcBef>
                <a:spcPts val="500"/>
              </a:spcBef>
              <a:buNone/>
              <a:defRPr sz="1800">
                <a:solidFill>
                  <a:srgbClr val="FFFFFF"/>
                </a:solidFill>
                <a:latin typeface="Arial Narrow" charset="0"/>
                <a:ea typeface="Arial Narrow" charset="0"/>
                <a:cs typeface="Arial Narrow" charset="0"/>
              </a:defRPr>
            </a:lvl1pPr>
          </a:lstStyle>
          <a:p>
            <a:pPr lvl="0"/>
            <a:r>
              <a:rPr lang="fr-CA" dirty="0"/>
              <a:t>Cliquez pour modifier les styles du texte du masque</a:t>
            </a:r>
          </a:p>
        </p:txBody>
      </p:sp>
      <p:pic>
        <p:nvPicPr>
          <p:cNvPr id="7" name="Image 6">
            <a:extLst>
              <a:ext uri="{FF2B5EF4-FFF2-40B4-BE49-F238E27FC236}">
                <a16:creationId xmlns:a16="http://schemas.microsoft.com/office/drawing/2014/main" id="{D973A9C0-62B2-0F4C-9A64-D5CC63983E7E}"/>
              </a:ext>
            </a:extLst>
          </p:cNvPr>
          <p:cNvPicPr>
            <a:picLocks noChangeAspect="1"/>
          </p:cNvPicPr>
          <p:nvPr userDrawn="1"/>
        </p:nvPicPr>
        <p:blipFill>
          <a:blip r:embed="rId3"/>
          <a:srcRect/>
          <a:stretch/>
        </p:blipFill>
        <p:spPr>
          <a:xfrm>
            <a:off x="7668344" y="4657686"/>
            <a:ext cx="1320568" cy="303354"/>
          </a:xfrm>
          <a:prstGeom prst="rect">
            <a:avLst/>
          </a:prstGeom>
        </p:spPr>
      </p:pic>
      <p:sp>
        <p:nvSpPr>
          <p:cNvPr id="9" name="ZoneTexte 8">
            <a:extLst>
              <a:ext uri="{FF2B5EF4-FFF2-40B4-BE49-F238E27FC236}">
                <a16:creationId xmlns:a16="http://schemas.microsoft.com/office/drawing/2014/main" id="{B05405C9-E569-F445-BB88-1BB9AF3A1B78}"/>
              </a:ext>
            </a:extLst>
          </p:cNvPr>
          <p:cNvSpPr txBox="1"/>
          <p:nvPr userDrawn="1"/>
        </p:nvSpPr>
        <p:spPr>
          <a:xfrm>
            <a:off x="395536" y="4742708"/>
            <a:ext cx="3600400" cy="246221"/>
          </a:xfrm>
          <a:prstGeom prst="rect">
            <a:avLst/>
          </a:prstGeom>
          <a:noFill/>
        </p:spPr>
        <p:txBody>
          <a:bodyPr wrap="square" lIns="0" rIns="0" bIns="0" rtlCol="0" anchor="b" anchorCtr="0">
            <a:spAutoFit/>
          </a:bodyPr>
          <a:lstStyle/>
          <a:p>
            <a:pPr algn="l"/>
            <a:r>
              <a:rPr lang="fr-FR" sz="1300">
                <a:solidFill>
                  <a:schemeClr val="bg2"/>
                </a:solidFill>
                <a:latin typeface="Arial Narrow" charset="0"/>
                <a:ea typeface="Arial Narrow" charset="0"/>
                <a:cs typeface="Arial Narrow" charset="0"/>
              </a:rPr>
              <a:t>Francis Sarrazin, sous la supervision de Pr. Manuel Lafond</a:t>
            </a:r>
            <a:endParaRPr lang="fr-FR" sz="1300" dirty="0">
              <a:solidFill>
                <a:schemeClr val="bg2"/>
              </a:solidFill>
              <a:latin typeface="Arial Narrow" charset="0"/>
              <a:ea typeface="Arial Narrow" charset="0"/>
              <a:cs typeface="Arial Narrow" charset="0"/>
            </a:endParaRPr>
          </a:p>
        </p:txBody>
      </p:sp>
    </p:spTree>
    <p:extLst>
      <p:ext uri="{BB962C8B-B14F-4D97-AF65-F5344CB8AC3E}">
        <p14:creationId xmlns:p14="http://schemas.microsoft.com/office/powerpoint/2010/main" val="83412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 Titre 3">
    <p:spTree>
      <p:nvGrpSpPr>
        <p:cNvPr id="1" name=""/>
        <p:cNvGrpSpPr/>
        <p:nvPr/>
      </p:nvGrpSpPr>
      <p:grpSpPr>
        <a:xfrm>
          <a:off x="0" y="0"/>
          <a:ext cx="0" cy="0"/>
          <a:chOff x="0" y="0"/>
          <a:chExt cx="0" cy="0"/>
        </a:xfrm>
      </p:grpSpPr>
      <p:pic>
        <p:nvPicPr>
          <p:cNvPr id="3" name="Image 5"/>
          <p:cNvPicPr>
            <a:picLocks noChangeAspect="1"/>
          </p:cNvPicPr>
          <p:nvPr userDrawn="1"/>
        </p:nvPicPr>
        <p:blipFill>
          <a:blip r:embed="rId2"/>
          <a:srcRect/>
          <a:stretch/>
        </p:blipFill>
        <p:spPr bwMode="auto">
          <a:xfrm>
            <a:off x="1354" y="0"/>
            <a:ext cx="9141289" cy="448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4788024" y="195486"/>
            <a:ext cx="1872208" cy="1458162"/>
          </a:xfrm>
        </p:spPr>
        <p:txBody>
          <a:bodyPr/>
          <a:lstStyle>
            <a:lvl1pPr algn="l">
              <a:defRPr sz="2900" b="1" i="0">
                <a:solidFill>
                  <a:schemeClr val="tx2"/>
                </a:solidFill>
                <a:latin typeface="Arial Narrow"/>
                <a:cs typeface="Arial Narrow"/>
              </a:defRPr>
            </a:lvl1pPr>
          </a:lstStyle>
          <a:p>
            <a:pPr lvl="0"/>
            <a:r>
              <a:rPr lang="fr-CA" noProof="0" dirty="0"/>
              <a:t>Modifier le style du titre</a:t>
            </a:r>
            <a:endParaRPr lang="fr-FR" noProof="0" dirty="0"/>
          </a:p>
        </p:txBody>
      </p:sp>
      <p:sp>
        <p:nvSpPr>
          <p:cNvPr id="4" name="Espace réservé du texte 3"/>
          <p:cNvSpPr>
            <a:spLocks noGrp="1"/>
          </p:cNvSpPr>
          <p:nvPr>
            <p:ph type="body" sz="quarter" idx="10"/>
          </p:nvPr>
        </p:nvSpPr>
        <p:spPr>
          <a:xfrm>
            <a:off x="4788025" y="1578482"/>
            <a:ext cx="1994368" cy="633228"/>
          </a:xfrm>
        </p:spPr>
        <p:txBody>
          <a:bodyPr/>
          <a:lstStyle>
            <a:lvl1pPr marL="0" indent="0">
              <a:spcBef>
                <a:spcPts val="500"/>
              </a:spcBef>
              <a:buNone/>
              <a:defRPr sz="1800">
                <a:solidFill>
                  <a:schemeClr val="accent1"/>
                </a:solidFill>
                <a:latin typeface="Arial Narrow" charset="0"/>
                <a:ea typeface="Arial Narrow" charset="0"/>
                <a:cs typeface="Arial Narrow" charset="0"/>
              </a:defRPr>
            </a:lvl1pPr>
          </a:lstStyle>
          <a:p>
            <a:pPr lvl="0"/>
            <a:r>
              <a:rPr lang="fr-CA" dirty="0"/>
              <a:t>Cliquez pour modifier les styles du texte du masque</a:t>
            </a:r>
          </a:p>
        </p:txBody>
      </p:sp>
      <p:sp>
        <p:nvSpPr>
          <p:cNvPr id="12" name="ZoneTexte 11">
            <a:extLst>
              <a:ext uri="{FF2B5EF4-FFF2-40B4-BE49-F238E27FC236}">
                <a16:creationId xmlns:a16="http://schemas.microsoft.com/office/drawing/2014/main" id="{C3B30B36-9CFF-DC4F-A1AE-80F0EC6DAE15}"/>
              </a:ext>
            </a:extLst>
          </p:cNvPr>
          <p:cNvSpPr txBox="1"/>
          <p:nvPr userDrawn="1"/>
        </p:nvSpPr>
        <p:spPr>
          <a:xfrm>
            <a:off x="179512" y="4742708"/>
            <a:ext cx="3672086" cy="246221"/>
          </a:xfrm>
          <a:prstGeom prst="rect">
            <a:avLst/>
          </a:prstGeom>
          <a:noFill/>
        </p:spPr>
        <p:txBody>
          <a:bodyPr wrap="square" lIns="0" rIns="0" bIns="0" rtlCol="0" anchor="b" anchorCtr="0">
            <a:spAutoFit/>
          </a:bodyPr>
          <a:lstStyle/>
          <a:p>
            <a:pPr algn="l"/>
            <a:r>
              <a:rPr lang="fr-FR" sz="1300">
                <a:solidFill>
                  <a:schemeClr val="bg2"/>
                </a:solidFill>
                <a:latin typeface="Arial Narrow" charset="0"/>
                <a:ea typeface="Arial Narrow" charset="0"/>
                <a:cs typeface="Arial Narrow" charset="0"/>
              </a:rPr>
              <a:t>Francis Sarrazin, sous la supervision de Pr. Manuel Lafond</a:t>
            </a:r>
            <a:endParaRPr lang="fr-FR" sz="1300" dirty="0">
              <a:solidFill>
                <a:schemeClr val="bg2"/>
              </a:solidFill>
              <a:latin typeface="Arial Narrow" charset="0"/>
              <a:ea typeface="Arial Narrow" charset="0"/>
              <a:cs typeface="Arial Narrow" charset="0"/>
            </a:endParaRPr>
          </a:p>
        </p:txBody>
      </p:sp>
    </p:spTree>
    <p:extLst>
      <p:ext uri="{BB962C8B-B14F-4D97-AF65-F5344CB8AC3E}">
        <p14:creationId xmlns:p14="http://schemas.microsoft.com/office/powerpoint/2010/main" val="1442011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 Titre 4">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64B5F9D-4995-D744-8E89-0E8851C4DE0F}"/>
              </a:ext>
            </a:extLst>
          </p:cNvPr>
          <p:cNvPicPr>
            <a:picLocks noChangeAspect="1"/>
          </p:cNvPicPr>
          <p:nvPr userDrawn="1"/>
        </p:nvPicPr>
        <p:blipFill>
          <a:blip r:embed="rId2"/>
          <a:srcRect/>
          <a:stretch/>
        </p:blipFill>
        <p:spPr>
          <a:xfrm>
            <a:off x="-1" y="0"/>
            <a:ext cx="9144001" cy="4481512"/>
          </a:xfrm>
          <a:prstGeom prst="rect">
            <a:avLst/>
          </a:prstGeom>
        </p:spPr>
      </p:pic>
      <p:sp>
        <p:nvSpPr>
          <p:cNvPr id="4099" name="Rectangle 3"/>
          <p:cNvSpPr>
            <a:spLocks noGrp="1" noChangeArrowheads="1"/>
          </p:cNvSpPr>
          <p:nvPr>
            <p:ph type="ctrTitle"/>
          </p:nvPr>
        </p:nvSpPr>
        <p:spPr>
          <a:xfrm>
            <a:off x="1763688" y="897564"/>
            <a:ext cx="5184576" cy="954106"/>
          </a:xfrm>
        </p:spPr>
        <p:txBody>
          <a:bodyPr/>
          <a:lstStyle>
            <a:lvl1pPr algn="l">
              <a:defRPr sz="4000" b="1" i="0">
                <a:solidFill>
                  <a:srgbClr val="FFFFFF"/>
                </a:solidFill>
                <a:latin typeface="Arial Narrow"/>
                <a:cs typeface="Arial Narrow"/>
              </a:defRPr>
            </a:lvl1pPr>
          </a:lstStyle>
          <a:p>
            <a:pPr lvl="0"/>
            <a:r>
              <a:rPr lang="fr-CA" noProof="0" dirty="0"/>
              <a:t>Modifier le style du titre</a:t>
            </a:r>
            <a:endParaRPr lang="fr-FR" noProof="0" dirty="0"/>
          </a:p>
        </p:txBody>
      </p:sp>
      <p:sp>
        <p:nvSpPr>
          <p:cNvPr id="7" name="Espace réservé du texte 6"/>
          <p:cNvSpPr>
            <a:spLocks noGrp="1"/>
          </p:cNvSpPr>
          <p:nvPr>
            <p:ph type="body" sz="quarter" idx="11"/>
          </p:nvPr>
        </p:nvSpPr>
        <p:spPr>
          <a:xfrm>
            <a:off x="1763343" y="2355726"/>
            <a:ext cx="5184596" cy="1755028"/>
          </a:xfrm>
        </p:spPr>
        <p:txBody>
          <a:bodyPr/>
          <a:lstStyle>
            <a:lvl1pPr marL="0" indent="0">
              <a:spcBef>
                <a:spcPts val="500"/>
              </a:spcBef>
              <a:buNone/>
              <a:defRPr sz="1800">
                <a:solidFill>
                  <a:srgbClr val="FFFFFF"/>
                </a:solidFill>
                <a:latin typeface="Arial Narrow" charset="0"/>
                <a:ea typeface="Arial Narrow" charset="0"/>
                <a:cs typeface="Arial Narrow" charset="0"/>
              </a:defRPr>
            </a:lvl1pPr>
          </a:lstStyle>
          <a:p>
            <a:pPr lvl="0"/>
            <a:r>
              <a:rPr lang="fr-CA" dirty="0"/>
              <a:t>Cliquez pour modifier les styles du texte du masque</a:t>
            </a:r>
          </a:p>
        </p:txBody>
      </p:sp>
      <p:sp>
        <p:nvSpPr>
          <p:cNvPr id="9" name="ZoneTexte 8">
            <a:extLst>
              <a:ext uri="{FF2B5EF4-FFF2-40B4-BE49-F238E27FC236}">
                <a16:creationId xmlns:a16="http://schemas.microsoft.com/office/drawing/2014/main" id="{1DEB78B2-261C-4742-B0C5-237866FB399A}"/>
              </a:ext>
            </a:extLst>
          </p:cNvPr>
          <p:cNvSpPr txBox="1"/>
          <p:nvPr userDrawn="1"/>
        </p:nvSpPr>
        <p:spPr>
          <a:xfrm>
            <a:off x="179512" y="4742708"/>
            <a:ext cx="3672086" cy="246221"/>
          </a:xfrm>
          <a:prstGeom prst="rect">
            <a:avLst/>
          </a:prstGeom>
          <a:noFill/>
        </p:spPr>
        <p:txBody>
          <a:bodyPr wrap="square" lIns="0" rIns="0" bIns="0" rtlCol="0" anchor="b" anchorCtr="0">
            <a:spAutoFit/>
          </a:bodyPr>
          <a:lstStyle/>
          <a:p>
            <a:pPr algn="l"/>
            <a:r>
              <a:rPr lang="fr-FR" sz="1300">
                <a:solidFill>
                  <a:schemeClr val="bg2"/>
                </a:solidFill>
                <a:latin typeface="Arial Narrow" charset="0"/>
                <a:ea typeface="Arial Narrow" charset="0"/>
                <a:cs typeface="Arial Narrow" charset="0"/>
              </a:rPr>
              <a:t>Francis Sarrazin, sous la supervision de Pr. Manuel Lafond</a:t>
            </a:r>
            <a:endParaRPr lang="fr-FR" sz="1300" dirty="0">
              <a:solidFill>
                <a:schemeClr val="bg2"/>
              </a:solidFill>
              <a:latin typeface="Arial Narrow" charset="0"/>
              <a:ea typeface="Arial Narrow" charset="0"/>
              <a:cs typeface="Arial Narrow" charset="0"/>
            </a:endParaRPr>
          </a:p>
        </p:txBody>
      </p:sp>
    </p:spTree>
    <p:extLst>
      <p:ext uri="{BB962C8B-B14F-4D97-AF65-F5344CB8AC3E}">
        <p14:creationId xmlns:p14="http://schemas.microsoft.com/office/powerpoint/2010/main" val="3989131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 Titre 5">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64B5F9D-4995-D744-8E89-0E8851C4DE0F}"/>
              </a:ext>
            </a:extLst>
          </p:cNvPr>
          <p:cNvPicPr>
            <a:picLocks noChangeAspect="1"/>
          </p:cNvPicPr>
          <p:nvPr userDrawn="1"/>
        </p:nvPicPr>
        <p:blipFill>
          <a:blip r:embed="rId2"/>
          <a:srcRect/>
          <a:stretch/>
        </p:blipFill>
        <p:spPr>
          <a:xfrm>
            <a:off x="1" y="0"/>
            <a:ext cx="9143998" cy="4481512"/>
          </a:xfrm>
          <a:prstGeom prst="rect">
            <a:avLst/>
          </a:prstGeom>
        </p:spPr>
      </p:pic>
      <p:sp>
        <p:nvSpPr>
          <p:cNvPr id="4099" name="Rectangle 3"/>
          <p:cNvSpPr>
            <a:spLocks noGrp="1" noChangeArrowheads="1"/>
          </p:cNvSpPr>
          <p:nvPr>
            <p:ph type="ctrTitle"/>
          </p:nvPr>
        </p:nvSpPr>
        <p:spPr>
          <a:xfrm>
            <a:off x="1526971" y="573092"/>
            <a:ext cx="7293501" cy="810090"/>
          </a:xfrm>
        </p:spPr>
        <p:txBody>
          <a:bodyPr/>
          <a:lstStyle>
            <a:lvl1pPr algn="l">
              <a:defRPr sz="4000" b="1" i="0">
                <a:solidFill>
                  <a:srgbClr val="FFFFFF"/>
                </a:solidFill>
                <a:latin typeface="Arial Narrow"/>
                <a:cs typeface="Arial Narrow"/>
              </a:defRPr>
            </a:lvl1pPr>
          </a:lstStyle>
          <a:p>
            <a:pPr lvl="0"/>
            <a:r>
              <a:rPr lang="fr-CA" noProof="0" dirty="0"/>
              <a:t>Modifier le style du titre</a:t>
            </a:r>
            <a:endParaRPr lang="fr-FR" noProof="0" dirty="0"/>
          </a:p>
        </p:txBody>
      </p:sp>
      <p:sp>
        <p:nvSpPr>
          <p:cNvPr id="7" name="Espace réservé du texte 6"/>
          <p:cNvSpPr>
            <a:spLocks noGrp="1"/>
          </p:cNvSpPr>
          <p:nvPr>
            <p:ph type="body" sz="quarter" idx="11"/>
          </p:nvPr>
        </p:nvSpPr>
        <p:spPr>
          <a:xfrm>
            <a:off x="1526626" y="1464536"/>
            <a:ext cx="7293529" cy="540544"/>
          </a:xfrm>
        </p:spPr>
        <p:txBody>
          <a:bodyPr/>
          <a:lstStyle>
            <a:lvl1pPr marL="0" indent="0">
              <a:spcBef>
                <a:spcPts val="500"/>
              </a:spcBef>
              <a:buNone/>
              <a:defRPr sz="1800">
                <a:solidFill>
                  <a:srgbClr val="FFFFFF"/>
                </a:solidFill>
                <a:latin typeface="Arial Narrow" charset="0"/>
                <a:ea typeface="Arial Narrow" charset="0"/>
                <a:cs typeface="Arial Narrow" charset="0"/>
              </a:defRPr>
            </a:lvl1pPr>
          </a:lstStyle>
          <a:p>
            <a:pPr lvl="0"/>
            <a:r>
              <a:rPr lang="fr-CA" dirty="0"/>
              <a:t>Cliquez pour modifier les styles du texte du masque</a:t>
            </a:r>
          </a:p>
        </p:txBody>
      </p:sp>
      <p:sp>
        <p:nvSpPr>
          <p:cNvPr id="6" name="ZoneTexte 5"/>
          <p:cNvSpPr txBox="1"/>
          <p:nvPr/>
        </p:nvSpPr>
        <p:spPr>
          <a:xfrm>
            <a:off x="251520" y="4515966"/>
            <a:ext cx="1728192" cy="446276"/>
          </a:xfrm>
          <a:prstGeom prst="rect">
            <a:avLst/>
          </a:prstGeom>
          <a:noFill/>
        </p:spPr>
        <p:txBody>
          <a:bodyPr wrap="square" lIns="0" rIns="0" bIns="0" rtlCol="0">
            <a:spAutoFit/>
          </a:bodyPr>
          <a:lstStyle/>
          <a:p>
            <a:pPr algn="l"/>
            <a:r>
              <a:rPr lang="fr-FR" sz="1300" dirty="0">
                <a:solidFill>
                  <a:srgbClr val="FFFFFF"/>
                </a:solidFill>
                <a:latin typeface="Arial Narrow" charset="0"/>
                <a:ea typeface="Arial Narrow" charset="0"/>
                <a:cs typeface="Arial Narrow" charset="0"/>
              </a:rPr>
              <a:t>NOM DE</a:t>
            </a:r>
            <a:br>
              <a:rPr lang="fr-FR" sz="1300" dirty="0">
                <a:solidFill>
                  <a:srgbClr val="FFFFFF"/>
                </a:solidFill>
                <a:latin typeface="Arial Narrow" charset="0"/>
                <a:ea typeface="Arial Narrow" charset="0"/>
                <a:cs typeface="Arial Narrow" charset="0"/>
              </a:rPr>
            </a:br>
            <a:r>
              <a:rPr lang="fr-FR" sz="1300" dirty="0">
                <a:solidFill>
                  <a:srgbClr val="FFFFFF"/>
                </a:solidFill>
                <a:latin typeface="Arial Narrow" charset="0"/>
                <a:ea typeface="Arial Narrow" charset="0"/>
                <a:cs typeface="Arial Narrow" charset="0"/>
              </a:rPr>
              <a:t>LA FACULTÉ</a:t>
            </a:r>
          </a:p>
        </p:txBody>
      </p:sp>
      <p:sp>
        <p:nvSpPr>
          <p:cNvPr id="8" name="Espace réservé de l’image 15">
            <a:extLst>
              <a:ext uri="{FF2B5EF4-FFF2-40B4-BE49-F238E27FC236}">
                <a16:creationId xmlns:a16="http://schemas.microsoft.com/office/drawing/2014/main" id="{71D2EFEB-EA39-B045-A2BA-B94388967196}"/>
              </a:ext>
            </a:extLst>
          </p:cNvPr>
          <p:cNvSpPr>
            <a:spLocks noGrp="1"/>
          </p:cNvSpPr>
          <p:nvPr>
            <p:ph type="pic" sz="quarter" idx="13"/>
          </p:nvPr>
        </p:nvSpPr>
        <p:spPr>
          <a:xfrm>
            <a:off x="5595" y="3321701"/>
            <a:ext cx="1334523" cy="1159811"/>
          </a:xfrm>
          <a:noFill/>
        </p:spPr>
        <p:txBody>
          <a:bodyPr/>
          <a:lstStyle/>
          <a:p>
            <a:endParaRPr lang="fr-FR" dirty="0"/>
          </a:p>
        </p:txBody>
      </p:sp>
      <p:sp>
        <p:nvSpPr>
          <p:cNvPr id="10" name="Espace réservé de l’image 15">
            <a:extLst>
              <a:ext uri="{FF2B5EF4-FFF2-40B4-BE49-F238E27FC236}">
                <a16:creationId xmlns:a16="http://schemas.microsoft.com/office/drawing/2014/main" id="{F974A666-B062-D640-81E4-684D6C446BED}"/>
              </a:ext>
            </a:extLst>
          </p:cNvPr>
          <p:cNvSpPr>
            <a:spLocks noGrp="1"/>
          </p:cNvSpPr>
          <p:nvPr>
            <p:ph type="pic" sz="quarter" idx="14"/>
          </p:nvPr>
        </p:nvSpPr>
        <p:spPr>
          <a:xfrm>
            <a:off x="5595" y="2003914"/>
            <a:ext cx="1334523" cy="1159811"/>
          </a:xfrm>
          <a:noFill/>
        </p:spPr>
        <p:txBody>
          <a:bodyPr/>
          <a:lstStyle/>
          <a:p>
            <a:endParaRPr lang="fr-FR" dirty="0"/>
          </a:p>
        </p:txBody>
      </p:sp>
      <p:sp>
        <p:nvSpPr>
          <p:cNvPr id="11" name="Espace réservé de l’image 13">
            <a:extLst>
              <a:ext uri="{FF2B5EF4-FFF2-40B4-BE49-F238E27FC236}">
                <a16:creationId xmlns:a16="http://schemas.microsoft.com/office/drawing/2014/main" id="{06EC5FAE-DC26-2946-B49E-4B9AA2163FDC}"/>
              </a:ext>
            </a:extLst>
          </p:cNvPr>
          <p:cNvSpPr>
            <a:spLocks noGrp="1"/>
          </p:cNvSpPr>
          <p:nvPr>
            <p:ph type="pic" sz="quarter" idx="12"/>
          </p:nvPr>
        </p:nvSpPr>
        <p:spPr>
          <a:xfrm>
            <a:off x="1526971" y="2813948"/>
            <a:ext cx="2304256" cy="1667564"/>
          </a:xfrm>
          <a:noFill/>
        </p:spPr>
        <p:txBody>
          <a:bodyPr/>
          <a:lstStyle/>
          <a:p>
            <a:endParaRPr lang="fr-FR" dirty="0"/>
          </a:p>
        </p:txBody>
      </p:sp>
      <p:sp>
        <p:nvSpPr>
          <p:cNvPr id="13" name="ZoneTexte 12">
            <a:extLst>
              <a:ext uri="{FF2B5EF4-FFF2-40B4-BE49-F238E27FC236}">
                <a16:creationId xmlns:a16="http://schemas.microsoft.com/office/drawing/2014/main" id="{99C23E61-744B-0644-8B11-3FE08B60FED1}"/>
              </a:ext>
            </a:extLst>
          </p:cNvPr>
          <p:cNvSpPr txBox="1"/>
          <p:nvPr userDrawn="1"/>
        </p:nvSpPr>
        <p:spPr>
          <a:xfrm>
            <a:off x="179512" y="4742708"/>
            <a:ext cx="3672086" cy="246221"/>
          </a:xfrm>
          <a:prstGeom prst="rect">
            <a:avLst/>
          </a:prstGeom>
          <a:noFill/>
        </p:spPr>
        <p:txBody>
          <a:bodyPr wrap="square" lIns="0" rIns="0" bIns="0" rtlCol="0" anchor="b" anchorCtr="0">
            <a:spAutoFit/>
          </a:bodyPr>
          <a:lstStyle/>
          <a:p>
            <a:pPr algn="l"/>
            <a:r>
              <a:rPr lang="fr-FR" sz="1300">
                <a:solidFill>
                  <a:schemeClr val="bg2"/>
                </a:solidFill>
                <a:latin typeface="Arial Narrow" charset="0"/>
                <a:ea typeface="Arial Narrow" charset="0"/>
                <a:cs typeface="Arial Narrow" charset="0"/>
              </a:rPr>
              <a:t>Francis Sarrazin, sous la supervision de Pr. Manuel Lafond</a:t>
            </a:r>
            <a:endParaRPr lang="fr-FR" sz="1300" dirty="0">
              <a:solidFill>
                <a:schemeClr val="bg2"/>
              </a:solidFill>
              <a:latin typeface="Arial Narrow" charset="0"/>
              <a:ea typeface="Arial Narrow" charset="0"/>
              <a:cs typeface="Arial Narrow" charset="0"/>
            </a:endParaRPr>
          </a:p>
        </p:txBody>
      </p:sp>
    </p:spTree>
    <p:extLst>
      <p:ext uri="{BB962C8B-B14F-4D97-AF65-F5344CB8AC3E}">
        <p14:creationId xmlns:p14="http://schemas.microsoft.com/office/powerpoint/2010/main" val="2801722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 photo">
    <p:spTree>
      <p:nvGrpSpPr>
        <p:cNvPr id="1" name=""/>
        <p:cNvGrpSpPr/>
        <p:nvPr/>
      </p:nvGrpSpPr>
      <p:grpSpPr>
        <a:xfrm>
          <a:off x="0" y="0"/>
          <a:ext cx="0" cy="0"/>
          <a:chOff x="0" y="0"/>
          <a:chExt cx="0" cy="0"/>
        </a:xfrm>
      </p:grpSpPr>
      <p:sp>
        <p:nvSpPr>
          <p:cNvPr id="11" name="Espace réservé de l’image 13">
            <a:extLst>
              <a:ext uri="{FF2B5EF4-FFF2-40B4-BE49-F238E27FC236}">
                <a16:creationId xmlns:a16="http://schemas.microsoft.com/office/drawing/2014/main" id="{06EC5FAE-DC26-2946-B49E-4B9AA2163FDC}"/>
              </a:ext>
            </a:extLst>
          </p:cNvPr>
          <p:cNvSpPr>
            <a:spLocks noGrp="1"/>
          </p:cNvSpPr>
          <p:nvPr>
            <p:ph type="pic" sz="quarter" idx="12"/>
          </p:nvPr>
        </p:nvSpPr>
        <p:spPr>
          <a:xfrm>
            <a:off x="0" y="0"/>
            <a:ext cx="9144000" cy="5143500"/>
          </a:xfrm>
          <a:noFill/>
        </p:spPr>
        <p:txBody>
          <a:bodyPr/>
          <a:lstStyle/>
          <a:p>
            <a:endParaRPr lang="fr-FR" dirty="0"/>
          </a:p>
        </p:txBody>
      </p:sp>
      <p:sp>
        <p:nvSpPr>
          <p:cNvPr id="6" name="ZoneTexte 5"/>
          <p:cNvSpPr txBox="1"/>
          <p:nvPr/>
        </p:nvSpPr>
        <p:spPr>
          <a:xfrm>
            <a:off x="251520" y="4515966"/>
            <a:ext cx="1728192" cy="446276"/>
          </a:xfrm>
          <a:prstGeom prst="rect">
            <a:avLst/>
          </a:prstGeom>
          <a:noFill/>
        </p:spPr>
        <p:txBody>
          <a:bodyPr wrap="square" lIns="0" rIns="0" bIns="0" rtlCol="0">
            <a:spAutoFit/>
          </a:bodyPr>
          <a:lstStyle/>
          <a:p>
            <a:pPr algn="l"/>
            <a:r>
              <a:rPr lang="fr-FR" sz="1300" dirty="0">
                <a:solidFill>
                  <a:srgbClr val="FFFFFF"/>
                </a:solidFill>
                <a:latin typeface="Arial Narrow" charset="0"/>
                <a:ea typeface="Arial Narrow" charset="0"/>
                <a:cs typeface="Arial Narrow" charset="0"/>
              </a:rPr>
              <a:t>NOM DE</a:t>
            </a:r>
            <a:br>
              <a:rPr lang="fr-FR" sz="1300" dirty="0">
                <a:solidFill>
                  <a:srgbClr val="FFFFFF"/>
                </a:solidFill>
                <a:latin typeface="Arial Narrow" charset="0"/>
                <a:ea typeface="Arial Narrow" charset="0"/>
                <a:cs typeface="Arial Narrow" charset="0"/>
              </a:rPr>
            </a:br>
            <a:r>
              <a:rPr lang="fr-FR" sz="1300" dirty="0">
                <a:solidFill>
                  <a:srgbClr val="FFFFFF"/>
                </a:solidFill>
                <a:latin typeface="Arial Narrow" charset="0"/>
                <a:ea typeface="Arial Narrow" charset="0"/>
                <a:cs typeface="Arial Narrow" charset="0"/>
              </a:rPr>
              <a:t>LA FACULTÉ</a:t>
            </a:r>
          </a:p>
        </p:txBody>
      </p:sp>
      <p:sp>
        <p:nvSpPr>
          <p:cNvPr id="2" name="Rectangle 1">
            <a:extLst>
              <a:ext uri="{FF2B5EF4-FFF2-40B4-BE49-F238E27FC236}">
                <a16:creationId xmlns:a16="http://schemas.microsoft.com/office/drawing/2014/main" id="{1B25C298-0721-F847-BAFC-1EFC2F373F6D}"/>
              </a:ext>
            </a:extLst>
          </p:cNvPr>
          <p:cNvSpPr/>
          <p:nvPr userDrawn="1"/>
        </p:nvSpPr>
        <p:spPr bwMode="auto">
          <a:xfrm>
            <a:off x="7524328" y="4515966"/>
            <a:ext cx="1512168" cy="504056"/>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4099" name="Rectangle 3"/>
          <p:cNvSpPr>
            <a:spLocks noGrp="1" noChangeArrowheads="1"/>
          </p:cNvSpPr>
          <p:nvPr>
            <p:ph type="ctrTitle"/>
          </p:nvPr>
        </p:nvSpPr>
        <p:spPr>
          <a:xfrm>
            <a:off x="0" y="2166705"/>
            <a:ext cx="9143999" cy="810090"/>
          </a:xfrm>
        </p:spPr>
        <p:txBody>
          <a:bodyPr anchor="ctr" anchorCtr="0"/>
          <a:lstStyle>
            <a:lvl1pPr algn="ctr">
              <a:defRPr sz="4000" b="1" i="0">
                <a:solidFill>
                  <a:srgbClr val="FFFFFF"/>
                </a:solidFill>
                <a:latin typeface="Arial Narrow"/>
                <a:cs typeface="Arial Narrow"/>
              </a:defRPr>
            </a:lvl1pPr>
          </a:lstStyle>
          <a:p>
            <a:pPr lvl="0"/>
            <a:r>
              <a:rPr lang="fr-CA" noProof="0" dirty="0"/>
              <a:t>Modifier le style du titre</a:t>
            </a:r>
            <a:endParaRPr lang="fr-FR" noProof="0" dirty="0"/>
          </a:p>
        </p:txBody>
      </p:sp>
    </p:spTree>
    <p:extLst>
      <p:ext uri="{BB962C8B-B14F-4D97-AF65-F5344CB8AC3E}">
        <p14:creationId xmlns:p14="http://schemas.microsoft.com/office/powerpoint/2010/main" val="3580992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 Texture 1">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711A052E-39FD-D748-8BD2-0F8C49CC432C}"/>
              </a:ext>
            </a:extLst>
          </p:cNvPr>
          <p:cNvPicPr>
            <a:picLocks noChangeAspect="1"/>
          </p:cNvPicPr>
          <p:nvPr userDrawn="1"/>
        </p:nvPicPr>
        <p:blipFill>
          <a:blip r:embed="rId2"/>
          <a:srcRect/>
          <a:stretch/>
        </p:blipFill>
        <p:spPr>
          <a:xfrm>
            <a:off x="0" y="0"/>
            <a:ext cx="9144000" cy="5143500"/>
          </a:xfrm>
          <a:prstGeom prst="rect">
            <a:avLst/>
          </a:prstGeom>
        </p:spPr>
      </p:pic>
      <p:sp>
        <p:nvSpPr>
          <p:cNvPr id="3" name="Rectangle 3">
            <a:extLst>
              <a:ext uri="{FF2B5EF4-FFF2-40B4-BE49-F238E27FC236}">
                <a16:creationId xmlns:a16="http://schemas.microsoft.com/office/drawing/2014/main" id="{EB1F931D-EF30-3C46-AC7E-A2FC3396CB5D}"/>
              </a:ext>
            </a:extLst>
          </p:cNvPr>
          <p:cNvSpPr>
            <a:spLocks noGrp="1" noChangeArrowheads="1"/>
          </p:cNvSpPr>
          <p:nvPr>
            <p:ph type="ctrTitle"/>
          </p:nvPr>
        </p:nvSpPr>
        <p:spPr>
          <a:xfrm>
            <a:off x="827585" y="2166705"/>
            <a:ext cx="7488832" cy="810090"/>
          </a:xfrm>
        </p:spPr>
        <p:txBody>
          <a:bodyPr anchor="ctr" anchorCtr="0"/>
          <a:lstStyle>
            <a:lvl1pPr algn="ctr">
              <a:defRPr sz="4000" b="1" i="0">
                <a:solidFill>
                  <a:srgbClr val="FFFFFF"/>
                </a:solidFill>
                <a:latin typeface="Arial Narrow"/>
                <a:cs typeface="Arial Narrow"/>
              </a:defRPr>
            </a:lvl1pPr>
          </a:lstStyle>
          <a:p>
            <a:pPr lvl="0"/>
            <a:r>
              <a:rPr lang="fr-CA" noProof="0" dirty="0"/>
              <a:t>Modifier le style du titre</a:t>
            </a:r>
            <a:endParaRPr lang="fr-FR" noProof="0" dirty="0"/>
          </a:p>
        </p:txBody>
      </p:sp>
    </p:spTree>
    <p:extLst>
      <p:ext uri="{BB962C8B-B14F-4D97-AF65-F5344CB8AC3E}">
        <p14:creationId xmlns:p14="http://schemas.microsoft.com/office/powerpoint/2010/main" val="62534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 Texture 2">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711A052E-39FD-D748-8BD2-0F8C49CC432C}"/>
              </a:ext>
            </a:extLst>
          </p:cNvPr>
          <p:cNvPicPr>
            <a:picLocks noChangeAspect="1"/>
          </p:cNvPicPr>
          <p:nvPr userDrawn="1"/>
        </p:nvPicPr>
        <p:blipFill>
          <a:blip r:embed="rId2"/>
          <a:srcRect/>
          <a:stretch/>
        </p:blipFill>
        <p:spPr>
          <a:xfrm>
            <a:off x="0" y="0"/>
            <a:ext cx="9144000" cy="5143500"/>
          </a:xfrm>
          <a:prstGeom prst="rect">
            <a:avLst/>
          </a:prstGeom>
        </p:spPr>
      </p:pic>
      <p:sp>
        <p:nvSpPr>
          <p:cNvPr id="4" name="Rectangle 3">
            <a:extLst>
              <a:ext uri="{FF2B5EF4-FFF2-40B4-BE49-F238E27FC236}">
                <a16:creationId xmlns:a16="http://schemas.microsoft.com/office/drawing/2014/main" id="{CD5DA325-F112-BF4E-8D08-A779F395D6D5}"/>
              </a:ext>
            </a:extLst>
          </p:cNvPr>
          <p:cNvSpPr>
            <a:spLocks noGrp="1" noChangeArrowheads="1"/>
          </p:cNvSpPr>
          <p:nvPr>
            <p:ph type="ctrTitle"/>
          </p:nvPr>
        </p:nvSpPr>
        <p:spPr>
          <a:xfrm>
            <a:off x="3491879" y="2166705"/>
            <a:ext cx="4824537" cy="810090"/>
          </a:xfrm>
        </p:spPr>
        <p:txBody>
          <a:bodyPr anchor="ctr" anchorCtr="0"/>
          <a:lstStyle>
            <a:lvl1pPr algn="l">
              <a:defRPr sz="4000" b="1" i="0">
                <a:solidFill>
                  <a:schemeClr val="tx2"/>
                </a:solidFill>
                <a:latin typeface="Arial Narrow"/>
                <a:cs typeface="Arial Narrow"/>
              </a:defRPr>
            </a:lvl1pPr>
          </a:lstStyle>
          <a:p>
            <a:pPr lvl="0"/>
            <a:r>
              <a:rPr lang="fr-CA" noProof="0" dirty="0"/>
              <a:t>Modifier le style du titre</a:t>
            </a:r>
            <a:endParaRPr lang="fr-FR" noProof="0" dirty="0"/>
          </a:p>
        </p:txBody>
      </p:sp>
    </p:spTree>
    <p:extLst>
      <p:ext uri="{BB962C8B-B14F-4D97-AF65-F5344CB8AC3E}">
        <p14:creationId xmlns:p14="http://schemas.microsoft.com/office/powerpoint/2010/main" val="2851733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 Section">
    <p:spTree>
      <p:nvGrpSpPr>
        <p:cNvPr id="1" name=""/>
        <p:cNvGrpSpPr/>
        <p:nvPr/>
      </p:nvGrpSpPr>
      <p:grpSpPr>
        <a:xfrm>
          <a:off x="0" y="0"/>
          <a:ext cx="0" cy="0"/>
          <a:chOff x="0" y="0"/>
          <a:chExt cx="0" cy="0"/>
        </a:xfrm>
      </p:grpSpPr>
      <p:sp>
        <p:nvSpPr>
          <p:cNvPr id="9" name="Rectangle 8"/>
          <p:cNvSpPr/>
          <p:nvPr userDrawn="1"/>
        </p:nvSpPr>
        <p:spPr bwMode="auto">
          <a:xfrm>
            <a:off x="0" y="0"/>
            <a:ext cx="9144000" cy="627534"/>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4099" name="Rectangle 3"/>
          <p:cNvSpPr>
            <a:spLocks noGrp="1" noChangeArrowheads="1"/>
          </p:cNvSpPr>
          <p:nvPr>
            <p:ph type="ctrTitle"/>
          </p:nvPr>
        </p:nvSpPr>
        <p:spPr>
          <a:xfrm>
            <a:off x="2411760" y="555526"/>
            <a:ext cx="6408712" cy="1555702"/>
          </a:xfrm>
        </p:spPr>
        <p:txBody>
          <a:bodyPr/>
          <a:lstStyle>
            <a:lvl1pPr algn="l">
              <a:defRPr sz="4000" b="1" i="0">
                <a:solidFill>
                  <a:schemeClr val="tx2"/>
                </a:solidFill>
                <a:latin typeface="Arial Narrow"/>
                <a:cs typeface="Arial Narrow"/>
              </a:defRPr>
            </a:lvl1pPr>
          </a:lstStyle>
          <a:p>
            <a:pPr lvl="0"/>
            <a:r>
              <a:rPr lang="fr-CA" noProof="0" dirty="0"/>
              <a:t>Modifier le style du titre</a:t>
            </a:r>
            <a:endParaRPr lang="fr-FR" noProof="0" dirty="0"/>
          </a:p>
        </p:txBody>
      </p:sp>
      <p:sp>
        <p:nvSpPr>
          <p:cNvPr id="7" name="Espace réservé du texte 6"/>
          <p:cNvSpPr>
            <a:spLocks noGrp="1"/>
          </p:cNvSpPr>
          <p:nvPr>
            <p:ph type="body" sz="quarter" idx="11"/>
          </p:nvPr>
        </p:nvSpPr>
        <p:spPr>
          <a:xfrm>
            <a:off x="2411418" y="2301478"/>
            <a:ext cx="6408737" cy="540544"/>
          </a:xfrm>
        </p:spPr>
        <p:txBody>
          <a:bodyPr/>
          <a:lstStyle>
            <a:lvl1pPr marL="0" indent="0">
              <a:spcBef>
                <a:spcPts val="500"/>
              </a:spcBef>
              <a:buNone/>
              <a:defRPr sz="1800">
                <a:latin typeface="Arial Narrow" charset="0"/>
                <a:ea typeface="Arial Narrow" charset="0"/>
                <a:cs typeface="Arial Narrow" charset="0"/>
              </a:defRPr>
            </a:lvl1pPr>
          </a:lstStyle>
          <a:p>
            <a:pPr lvl="0"/>
            <a:r>
              <a:rPr lang="fr-CA" dirty="0"/>
              <a:t>Cliquez pour modifier les styles du texte du masque</a:t>
            </a:r>
          </a:p>
        </p:txBody>
      </p:sp>
      <p:sp>
        <p:nvSpPr>
          <p:cNvPr id="6" name="ZoneTexte 5"/>
          <p:cNvSpPr txBox="1"/>
          <p:nvPr/>
        </p:nvSpPr>
        <p:spPr>
          <a:xfrm>
            <a:off x="251520" y="4515966"/>
            <a:ext cx="1728192" cy="446276"/>
          </a:xfrm>
          <a:prstGeom prst="rect">
            <a:avLst/>
          </a:prstGeom>
          <a:noFill/>
        </p:spPr>
        <p:txBody>
          <a:bodyPr wrap="square" lIns="0" rIns="0" bIns="0" rtlCol="0">
            <a:spAutoFit/>
          </a:bodyPr>
          <a:lstStyle/>
          <a:p>
            <a:pPr algn="l"/>
            <a:r>
              <a:rPr lang="fr-FR" sz="1300" dirty="0">
                <a:solidFill>
                  <a:srgbClr val="FFFFFF"/>
                </a:solidFill>
                <a:latin typeface="Arial Narrow" charset="0"/>
                <a:ea typeface="Arial Narrow" charset="0"/>
                <a:cs typeface="Arial Narrow" charset="0"/>
              </a:rPr>
              <a:t>NOM DE</a:t>
            </a:r>
            <a:br>
              <a:rPr lang="fr-FR" sz="1300" dirty="0">
                <a:solidFill>
                  <a:srgbClr val="FFFFFF"/>
                </a:solidFill>
                <a:latin typeface="Arial Narrow" charset="0"/>
                <a:ea typeface="Arial Narrow" charset="0"/>
                <a:cs typeface="Arial Narrow" charset="0"/>
              </a:rPr>
            </a:br>
            <a:r>
              <a:rPr lang="fr-FR" sz="1300" dirty="0">
                <a:solidFill>
                  <a:srgbClr val="FFFFFF"/>
                </a:solidFill>
                <a:latin typeface="Arial Narrow" charset="0"/>
                <a:ea typeface="Arial Narrow" charset="0"/>
                <a:cs typeface="Arial Narrow" charset="0"/>
              </a:rPr>
              <a:t>LA FACULTÉ</a:t>
            </a:r>
          </a:p>
        </p:txBody>
      </p:sp>
      <p:pic>
        <p:nvPicPr>
          <p:cNvPr id="3" name="Image 2">
            <a:extLst>
              <a:ext uri="{FF2B5EF4-FFF2-40B4-BE49-F238E27FC236}">
                <a16:creationId xmlns:a16="http://schemas.microsoft.com/office/drawing/2014/main" id="{C64B5F9D-4995-D744-8E89-0E8851C4DE0F}"/>
              </a:ext>
            </a:extLst>
          </p:cNvPr>
          <p:cNvPicPr>
            <a:picLocks noChangeAspect="1"/>
          </p:cNvPicPr>
          <p:nvPr userDrawn="1"/>
        </p:nvPicPr>
        <p:blipFill>
          <a:blip r:embed="rId2"/>
          <a:srcRect/>
          <a:stretch/>
        </p:blipFill>
        <p:spPr>
          <a:xfrm>
            <a:off x="0" y="0"/>
            <a:ext cx="2119312" cy="5143500"/>
          </a:xfrm>
          <a:prstGeom prst="rect">
            <a:avLst/>
          </a:prstGeom>
        </p:spPr>
      </p:pic>
      <p:sp>
        <p:nvSpPr>
          <p:cNvPr id="10" name="Espace réservé de l’image 13">
            <a:extLst>
              <a:ext uri="{FF2B5EF4-FFF2-40B4-BE49-F238E27FC236}">
                <a16:creationId xmlns:a16="http://schemas.microsoft.com/office/drawing/2014/main" id="{9BA42078-9637-5940-AD93-D4F935A2E177}"/>
              </a:ext>
            </a:extLst>
          </p:cNvPr>
          <p:cNvSpPr>
            <a:spLocks noGrp="1"/>
          </p:cNvSpPr>
          <p:nvPr>
            <p:ph type="pic" sz="quarter" idx="12"/>
          </p:nvPr>
        </p:nvSpPr>
        <p:spPr>
          <a:xfrm>
            <a:off x="-1" y="0"/>
            <a:ext cx="2119313" cy="1555702"/>
          </a:xfrm>
          <a:noFill/>
        </p:spPr>
        <p:txBody>
          <a:bodyPr/>
          <a:lstStyle/>
          <a:p>
            <a:endParaRPr lang="fr-FR" dirty="0"/>
          </a:p>
        </p:txBody>
      </p:sp>
      <p:sp>
        <p:nvSpPr>
          <p:cNvPr id="11" name="ZoneTexte 10">
            <a:extLst>
              <a:ext uri="{FF2B5EF4-FFF2-40B4-BE49-F238E27FC236}">
                <a16:creationId xmlns:a16="http://schemas.microsoft.com/office/drawing/2014/main" id="{88F38AA4-658D-6C48-822D-83E9A44CBAE1}"/>
              </a:ext>
            </a:extLst>
          </p:cNvPr>
          <p:cNvSpPr txBox="1"/>
          <p:nvPr userDrawn="1"/>
        </p:nvSpPr>
        <p:spPr>
          <a:xfrm>
            <a:off x="179512" y="4342598"/>
            <a:ext cx="1296144" cy="646331"/>
          </a:xfrm>
          <a:prstGeom prst="rect">
            <a:avLst/>
          </a:prstGeom>
          <a:noFill/>
        </p:spPr>
        <p:txBody>
          <a:bodyPr wrap="square" lIns="0" rIns="0" bIns="0" rtlCol="0" anchor="b" anchorCtr="0">
            <a:spAutoFit/>
          </a:bodyPr>
          <a:lstStyle/>
          <a:p>
            <a:pPr algn="l"/>
            <a:r>
              <a:rPr lang="fr-FR" sz="1300">
                <a:solidFill>
                  <a:schemeClr val="bg2"/>
                </a:solidFill>
                <a:latin typeface="Arial Narrow" charset="0"/>
                <a:ea typeface="Arial Narrow" charset="0"/>
                <a:cs typeface="Arial Narrow" charset="0"/>
              </a:rPr>
              <a:t>Francis Sarrazin, sous la supervision de Pr. Manuel Lafond</a:t>
            </a:r>
            <a:endParaRPr lang="fr-FR" sz="1300" dirty="0">
              <a:solidFill>
                <a:schemeClr val="bg2"/>
              </a:solidFill>
              <a:latin typeface="Arial Narrow" charset="0"/>
              <a:ea typeface="Arial Narrow" charset="0"/>
              <a:cs typeface="Arial Narrow" charset="0"/>
            </a:endParaRPr>
          </a:p>
        </p:txBody>
      </p:sp>
    </p:spTree>
    <p:extLst>
      <p:ext uri="{BB962C8B-B14F-4D97-AF65-F5344CB8AC3E}">
        <p14:creationId xmlns:p14="http://schemas.microsoft.com/office/powerpoint/2010/main" val="834339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 avec puc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Cliquez et modifiez le titre</a:t>
            </a:r>
          </a:p>
        </p:txBody>
      </p:sp>
      <p:sp>
        <p:nvSpPr>
          <p:cNvPr id="6" name="Espace réservé du texte 1"/>
          <p:cNvSpPr>
            <a:spLocks noGrp="1"/>
          </p:cNvSpPr>
          <p:nvPr>
            <p:ph idx="1"/>
          </p:nvPr>
        </p:nvSpPr>
        <p:spPr>
          <a:xfrm>
            <a:off x="467544" y="1207717"/>
            <a:ext cx="8424614" cy="3236241"/>
          </a:xfrm>
          <a:prstGeom prst="rect">
            <a:avLst/>
          </a:prstGeom>
        </p:spPr>
        <p:txBody>
          <a:bodyPr rtlCol="0">
            <a:noAutofit/>
          </a:body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Tree>
    <p:extLst>
      <p:ext uri="{BB962C8B-B14F-4D97-AF65-F5344CB8AC3E}">
        <p14:creationId xmlns:p14="http://schemas.microsoft.com/office/powerpoint/2010/main" val="48942372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 tex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endParaRPr lang="fr-FR" dirty="0"/>
          </a:p>
        </p:txBody>
      </p:sp>
      <p:sp>
        <p:nvSpPr>
          <p:cNvPr id="6" name="Espace réservé du texte 1"/>
          <p:cNvSpPr>
            <a:spLocks noGrp="1"/>
          </p:cNvSpPr>
          <p:nvPr>
            <p:ph idx="1"/>
          </p:nvPr>
        </p:nvSpPr>
        <p:spPr>
          <a:xfrm>
            <a:off x="467544" y="1207717"/>
            <a:ext cx="8424614" cy="3236241"/>
          </a:xfrm>
          <a:prstGeom prst="rect">
            <a:avLst/>
          </a:prstGeom>
        </p:spPr>
        <p:txBody>
          <a:bodyPr rtlCol="0">
            <a:noAutofit/>
          </a:bodyPr>
          <a:lstStyle>
            <a:lvl1pPr marL="0" indent="0">
              <a:buNone/>
              <a:defRPr/>
            </a:lvl1p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Tree>
    <p:extLst>
      <p:ext uri="{BB962C8B-B14F-4D97-AF65-F5344CB8AC3E}">
        <p14:creationId xmlns:p14="http://schemas.microsoft.com/office/powerpoint/2010/main" val="8821780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 avec puce et photo">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endParaRPr lang="fr-FR" dirty="0"/>
          </a:p>
        </p:txBody>
      </p:sp>
      <p:sp>
        <p:nvSpPr>
          <p:cNvPr id="6" name="Espace réservé du texte 1"/>
          <p:cNvSpPr>
            <a:spLocks noGrp="1"/>
          </p:cNvSpPr>
          <p:nvPr>
            <p:ph idx="1"/>
          </p:nvPr>
        </p:nvSpPr>
        <p:spPr>
          <a:xfrm>
            <a:off x="467544" y="1207717"/>
            <a:ext cx="6984776" cy="3236241"/>
          </a:xfrm>
          <a:prstGeom prst="rect">
            <a:avLst/>
          </a:prstGeom>
        </p:spPr>
        <p:txBody>
          <a:bodyPr rtlCol="0">
            <a:noAutofit/>
          </a:body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
        <p:nvSpPr>
          <p:cNvPr id="4" name="Espace réservé de l’image 15">
            <a:extLst>
              <a:ext uri="{FF2B5EF4-FFF2-40B4-BE49-F238E27FC236}">
                <a16:creationId xmlns:a16="http://schemas.microsoft.com/office/drawing/2014/main" id="{5E4BDB22-F543-1B45-9776-CCBD5AA0BFD5}"/>
              </a:ext>
            </a:extLst>
          </p:cNvPr>
          <p:cNvSpPr>
            <a:spLocks noGrp="1"/>
          </p:cNvSpPr>
          <p:nvPr>
            <p:ph type="pic" sz="quarter" idx="13"/>
          </p:nvPr>
        </p:nvSpPr>
        <p:spPr>
          <a:xfrm>
            <a:off x="7668344" y="1207717"/>
            <a:ext cx="1475656" cy="1076001"/>
          </a:xfrm>
          <a:noFill/>
        </p:spPr>
        <p:txBody>
          <a:bodyPr/>
          <a:lstStyle/>
          <a:p>
            <a:endParaRPr lang="fr-FR" dirty="0"/>
          </a:p>
        </p:txBody>
      </p:sp>
    </p:spTree>
    <p:extLst>
      <p:ext uri="{BB962C8B-B14F-4D97-AF65-F5344CB8AC3E}">
        <p14:creationId xmlns:p14="http://schemas.microsoft.com/office/powerpoint/2010/main" val="108117451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 avec puce et encadr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6" name="Espace réservé du texte 1"/>
          <p:cNvSpPr>
            <a:spLocks noGrp="1"/>
          </p:cNvSpPr>
          <p:nvPr>
            <p:ph idx="1"/>
          </p:nvPr>
        </p:nvSpPr>
        <p:spPr>
          <a:xfrm>
            <a:off x="467544" y="1206178"/>
            <a:ext cx="5616624" cy="3237780"/>
          </a:xfrm>
          <a:prstGeom prst="rect">
            <a:avLst/>
          </a:prstGeom>
        </p:spPr>
        <p:txBody>
          <a:bodyPr rtlCol="0">
            <a:noAutofit/>
          </a:body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
        <p:nvSpPr>
          <p:cNvPr id="12" name="Espace réservé du contenu 2"/>
          <p:cNvSpPr>
            <a:spLocks noGrp="1"/>
          </p:cNvSpPr>
          <p:nvPr>
            <p:ph idx="10"/>
          </p:nvPr>
        </p:nvSpPr>
        <p:spPr>
          <a:xfrm>
            <a:off x="6557242" y="1421696"/>
            <a:ext cx="2119214" cy="1208615"/>
          </a:xfrm>
        </p:spPr>
        <p:txBody>
          <a:bodyPr>
            <a:noAutofit/>
          </a:bodyPr>
          <a:lstStyle>
            <a:lvl1pPr marL="0" indent="0">
              <a:spcBef>
                <a:spcPts val="800"/>
              </a:spcBef>
              <a:buNone/>
              <a:defRPr sz="2200">
                <a:solidFill>
                  <a:schemeClr val="tx1"/>
                </a:solidFill>
              </a:defRPr>
            </a:lvl1pPr>
          </a:lstStyle>
          <a:p>
            <a:pPr lvl="0"/>
            <a:r>
              <a:rPr lang="fr-FR" dirty="0"/>
              <a:t>Cliquez pour modifier les styles du texte du masque</a:t>
            </a:r>
          </a:p>
        </p:txBody>
      </p:sp>
    </p:spTree>
    <p:extLst>
      <p:ext uri="{BB962C8B-B14F-4D97-AF65-F5344CB8AC3E}">
        <p14:creationId xmlns:p14="http://schemas.microsoft.com/office/powerpoint/2010/main" val="191603477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467544" y="638040"/>
            <a:ext cx="8496944" cy="5143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fr-FR" dirty="0"/>
              <a:t>Cliquez et modifiez le titre</a:t>
            </a:r>
          </a:p>
        </p:txBody>
      </p:sp>
      <p:sp>
        <p:nvSpPr>
          <p:cNvPr id="1028" name="Espace réservé du texte 1"/>
          <p:cNvSpPr>
            <a:spLocks noGrp="1"/>
          </p:cNvSpPr>
          <p:nvPr>
            <p:ph type="body" idx="1"/>
          </p:nvPr>
        </p:nvSpPr>
        <p:spPr bwMode="auto">
          <a:xfrm>
            <a:off x="467544" y="1207717"/>
            <a:ext cx="8496944" cy="32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fr-FR" altLang="fr-FR" dirty="0"/>
              <a:t>Cliquez pour modifier les styles du texte du masque</a:t>
            </a:r>
          </a:p>
          <a:p>
            <a:pPr lvl="1"/>
            <a:r>
              <a:rPr lang="fr-FR" altLang="fr-FR" dirty="0"/>
              <a:t>Deuxième niveau</a:t>
            </a:r>
          </a:p>
          <a:p>
            <a:pPr lvl="2"/>
            <a:r>
              <a:rPr lang="fr-FR" altLang="fr-FR" dirty="0"/>
              <a:t>Troisième niveau</a:t>
            </a:r>
          </a:p>
          <a:p>
            <a:pPr lvl="3"/>
            <a:r>
              <a:rPr lang="fr-FR" altLang="fr-FR" dirty="0"/>
              <a:t>Quatrième niveau</a:t>
            </a:r>
          </a:p>
          <a:p>
            <a:pPr lvl="4"/>
            <a:r>
              <a:rPr lang="fr-FR" altLang="fr-FR" dirty="0"/>
              <a:t>Cinquième niveau</a:t>
            </a:r>
          </a:p>
        </p:txBody>
      </p:sp>
      <p:sp>
        <p:nvSpPr>
          <p:cNvPr id="9" name="ZoneTexte 8"/>
          <p:cNvSpPr txBox="1"/>
          <p:nvPr/>
        </p:nvSpPr>
        <p:spPr>
          <a:xfrm>
            <a:off x="5220072" y="143172"/>
            <a:ext cx="3672086" cy="292388"/>
          </a:xfrm>
          <a:prstGeom prst="rect">
            <a:avLst/>
          </a:prstGeom>
          <a:noFill/>
        </p:spPr>
        <p:txBody>
          <a:bodyPr wrap="square" lIns="0" rIns="0" rtlCol="0">
            <a:spAutoFit/>
          </a:bodyPr>
          <a:lstStyle/>
          <a:p>
            <a:pPr algn="r"/>
            <a:r>
              <a:rPr lang="fr-FR" sz="1300" dirty="0">
                <a:solidFill>
                  <a:srgbClr val="FFFFFF"/>
                </a:solidFill>
                <a:latin typeface="Arial Narrow" charset="0"/>
                <a:ea typeface="Arial Narrow" charset="0"/>
                <a:cs typeface="Arial Narrow" charset="0"/>
              </a:rPr>
              <a:t>NOM DE LA FACULTÉ</a:t>
            </a:r>
            <a:r>
              <a:rPr lang="fr-FR" sz="1300" baseline="0" dirty="0">
                <a:solidFill>
                  <a:srgbClr val="FFFFFF"/>
                </a:solidFill>
                <a:latin typeface="Arial Narrow" charset="0"/>
                <a:ea typeface="Arial Narrow" charset="0"/>
                <a:cs typeface="Arial Narrow" charset="0"/>
              </a:rPr>
              <a:t> ICI</a:t>
            </a:r>
            <a:endParaRPr lang="fr-FR" sz="1300" dirty="0">
              <a:solidFill>
                <a:srgbClr val="FFFFFF"/>
              </a:solidFill>
              <a:latin typeface="Arial Narrow" charset="0"/>
              <a:ea typeface="Arial Narrow" charset="0"/>
              <a:cs typeface="Arial Narrow" charset="0"/>
            </a:endParaRPr>
          </a:p>
        </p:txBody>
      </p:sp>
      <p:sp>
        <p:nvSpPr>
          <p:cNvPr id="11" name="ZoneTexte 10">
            <a:extLst>
              <a:ext uri="{FF2B5EF4-FFF2-40B4-BE49-F238E27FC236}">
                <a16:creationId xmlns:a16="http://schemas.microsoft.com/office/drawing/2014/main" id="{5F7562BE-E2F0-F749-B216-CBBC35892616}"/>
              </a:ext>
            </a:extLst>
          </p:cNvPr>
          <p:cNvSpPr txBox="1"/>
          <p:nvPr userDrawn="1"/>
        </p:nvSpPr>
        <p:spPr>
          <a:xfrm>
            <a:off x="5220072" y="143172"/>
            <a:ext cx="3672086" cy="292388"/>
          </a:xfrm>
          <a:prstGeom prst="rect">
            <a:avLst/>
          </a:prstGeom>
          <a:noFill/>
        </p:spPr>
        <p:txBody>
          <a:bodyPr wrap="square" lIns="0" rIns="0" rtlCol="0">
            <a:spAutoFit/>
          </a:bodyPr>
          <a:lstStyle/>
          <a:p>
            <a:pPr algn="r"/>
            <a:r>
              <a:rPr lang="fr-FR" sz="1300" dirty="0">
                <a:solidFill>
                  <a:srgbClr val="FFFFFF"/>
                </a:solidFill>
                <a:latin typeface="Arial Narrow" charset="0"/>
                <a:ea typeface="Arial Narrow" charset="0"/>
                <a:cs typeface="Arial Narrow" charset="0"/>
              </a:rPr>
              <a:t>NOM DE LA FACULTÉ</a:t>
            </a:r>
            <a:r>
              <a:rPr lang="fr-FR" sz="1300" baseline="0" dirty="0">
                <a:solidFill>
                  <a:srgbClr val="FFFFFF"/>
                </a:solidFill>
                <a:latin typeface="Arial Narrow" charset="0"/>
                <a:ea typeface="Arial Narrow" charset="0"/>
                <a:cs typeface="Arial Narrow" charset="0"/>
              </a:rPr>
              <a:t> ICI</a:t>
            </a:r>
            <a:endParaRPr lang="fr-FR" sz="1300" dirty="0">
              <a:solidFill>
                <a:srgbClr val="FFFFFF"/>
              </a:solidFill>
              <a:latin typeface="Arial Narrow" charset="0"/>
              <a:ea typeface="Arial Narrow" charset="0"/>
              <a:cs typeface="Arial Narrow" charset="0"/>
            </a:endParaRPr>
          </a:p>
        </p:txBody>
      </p:sp>
      <p:pic>
        <p:nvPicPr>
          <p:cNvPr id="12" name="Image 11">
            <a:extLst>
              <a:ext uri="{FF2B5EF4-FFF2-40B4-BE49-F238E27FC236}">
                <a16:creationId xmlns:a16="http://schemas.microsoft.com/office/drawing/2014/main" id="{9FCA06AE-901C-FF4C-83AF-128695F04997}"/>
              </a:ext>
            </a:extLst>
          </p:cNvPr>
          <p:cNvPicPr>
            <a:picLocks noChangeAspect="1"/>
          </p:cNvPicPr>
          <p:nvPr userDrawn="1"/>
        </p:nvPicPr>
        <p:blipFill>
          <a:blip r:embed="rId15"/>
          <a:srcRect/>
          <a:stretch/>
        </p:blipFill>
        <p:spPr>
          <a:xfrm>
            <a:off x="7668344" y="4657686"/>
            <a:ext cx="1320568" cy="303355"/>
          </a:xfrm>
          <a:prstGeom prst="rect">
            <a:avLst/>
          </a:prstGeom>
        </p:spPr>
      </p:pic>
      <p:pic>
        <p:nvPicPr>
          <p:cNvPr id="3" name="Image 2">
            <a:extLst>
              <a:ext uri="{FF2B5EF4-FFF2-40B4-BE49-F238E27FC236}">
                <a16:creationId xmlns:a16="http://schemas.microsoft.com/office/drawing/2014/main" id="{0378AC47-50F7-FB49-B5A2-3EE46B51E6F4}"/>
              </a:ext>
            </a:extLst>
          </p:cNvPr>
          <p:cNvPicPr>
            <a:picLocks noChangeAspect="1"/>
          </p:cNvPicPr>
          <p:nvPr userDrawn="1"/>
        </p:nvPicPr>
        <p:blipFill>
          <a:blip r:embed="rId16"/>
          <a:srcRect/>
          <a:stretch/>
        </p:blipFill>
        <p:spPr>
          <a:xfrm>
            <a:off x="4" y="0"/>
            <a:ext cx="9143989" cy="452437"/>
          </a:xfrm>
          <a:prstGeom prst="rect">
            <a:avLst/>
          </a:prstGeom>
        </p:spPr>
      </p:pic>
    </p:spTree>
    <p:extLst>
      <p:ext uri="{BB962C8B-B14F-4D97-AF65-F5344CB8AC3E}">
        <p14:creationId xmlns:p14="http://schemas.microsoft.com/office/powerpoint/2010/main" val="234934727"/>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4" r:id="rId3"/>
    <p:sldLayoutId id="2147483863" r:id="rId4"/>
    <p:sldLayoutId id="2147483867" r:id="rId5"/>
    <p:sldLayoutId id="2147483868" r:id="rId6"/>
    <p:sldLayoutId id="2147483869" r:id="rId7"/>
    <p:sldLayoutId id="2147483871" r:id="rId8"/>
    <p:sldLayoutId id="2147483865" r:id="rId9"/>
    <p:sldLayoutId id="2147483853" r:id="rId10"/>
    <p:sldLayoutId id="2147483854" r:id="rId11"/>
    <p:sldLayoutId id="2147483866" r:id="rId12"/>
    <p:sldLayoutId id="2147483858" r:id="rId13"/>
  </p:sldLayoutIdLst>
  <p:hf hdr="0" ftr="0" dt="0"/>
  <p:txStyles>
    <p:titleStyle>
      <a:lvl1pPr algn="l" rtl="0" eaLnBrk="1" fontAlgn="base" hangingPunct="1">
        <a:spcBef>
          <a:spcPct val="0"/>
        </a:spcBef>
        <a:spcAft>
          <a:spcPct val="0"/>
        </a:spcAft>
        <a:defRPr sz="2900" b="1" cap="all">
          <a:solidFill>
            <a:schemeClr val="tx2"/>
          </a:solidFill>
          <a:latin typeface="Arial Narrow"/>
          <a:ea typeface="+mj-ea"/>
          <a:cs typeface="Arial Narrow"/>
        </a:defRPr>
      </a:lvl1pPr>
      <a:lvl2pPr algn="l" rtl="0" eaLnBrk="1" fontAlgn="base" hangingPunct="1">
        <a:spcBef>
          <a:spcPct val="0"/>
        </a:spcBef>
        <a:spcAft>
          <a:spcPct val="0"/>
        </a:spcAft>
        <a:defRPr sz="2800" b="1">
          <a:solidFill>
            <a:srgbClr val="000000"/>
          </a:solidFill>
          <a:latin typeface="Arial Narrow" charset="0"/>
          <a:ea typeface="ＭＳ Ｐゴシック" charset="0"/>
          <a:cs typeface="Arial Narrow" charset="0"/>
        </a:defRPr>
      </a:lvl2pPr>
      <a:lvl3pPr algn="l" rtl="0" eaLnBrk="1" fontAlgn="base" hangingPunct="1">
        <a:spcBef>
          <a:spcPct val="0"/>
        </a:spcBef>
        <a:spcAft>
          <a:spcPct val="0"/>
        </a:spcAft>
        <a:defRPr sz="2800" b="1">
          <a:solidFill>
            <a:srgbClr val="000000"/>
          </a:solidFill>
          <a:latin typeface="Arial Narrow" charset="0"/>
          <a:ea typeface="ＭＳ Ｐゴシック" charset="0"/>
          <a:cs typeface="Arial Narrow" charset="0"/>
        </a:defRPr>
      </a:lvl3pPr>
      <a:lvl4pPr algn="l" rtl="0" eaLnBrk="1" fontAlgn="base" hangingPunct="1">
        <a:spcBef>
          <a:spcPct val="0"/>
        </a:spcBef>
        <a:spcAft>
          <a:spcPct val="0"/>
        </a:spcAft>
        <a:defRPr sz="2800" b="1">
          <a:solidFill>
            <a:srgbClr val="000000"/>
          </a:solidFill>
          <a:latin typeface="Arial Narrow" charset="0"/>
          <a:ea typeface="ＭＳ Ｐゴシック" charset="0"/>
          <a:cs typeface="Arial Narrow" charset="0"/>
        </a:defRPr>
      </a:lvl4pPr>
      <a:lvl5pPr algn="l" rtl="0" eaLnBrk="1" fontAlgn="base" hangingPunct="1">
        <a:spcBef>
          <a:spcPct val="0"/>
        </a:spcBef>
        <a:spcAft>
          <a:spcPct val="0"/>
        </a:spcAft>
        <a:defRPr sz="2800" b="1">
          <a:solidFill>
            <a:srgbClr val="000000"/>
          </a:solidFill>
          <a:latin typeface="Arial Narrow" charset="0"/>
          <a:ea typeface="ＭＳ Ｐゴシック" charset="0"/>
          <a:cs typeface="Arial Narrow" charset="0"/>
        </a:defRPr>
      </a:lvl5pPr>
      <a:lvl6pPr marL="457189" algn="ctr" rtl="0" eaLnBrk="1" fontAlgn="base" hangingPunct="1">
        <a:spcBef>
          <a:spcPct val="0"/>
        </a:spcBef>
        <a:spcAft>
          <a:spcPct val="0"/>
        </a:spcAft>
        <a:defRPr sz="4000" b="1">
          <a:solidFill>
            <a:srgbClr val="004925"/>
          </a:solidFill>
          <a:latin typeface="Arial" charset="0"/>
          <a:ea typeface="ＭＳ Ｐゴシック" charset="0"/>
          <a:cs typeface="ＭＳ Ｐゴシック" charset="0"/>
        </a:defRPr>
      </a:lvl6pPr>
      <a:lvl7pPr marL="914377" algn="ctr" rtl="0" eaLnBrk="1" fontAlgn="base" hangingPunct="1">
        <a:spcBef>
          <a:spcPct val="0"/>
        </a:spcBef>
        <a:spcAft>
          <a:spcPct val="0"/>
        </a:spcAft>
        <a:defRPr sz="4000" b="1">
          <a:solidFill>
            <a:srgbClr val="004925"/>
          </a:solidFill>
          <a:latin typeface="Arial" charset="0"/>
          <a:ea typeface="ＭＳ Ｐゴシック" charset="0"/>
          <a:cs typeface="ＭＳ Ｐゴシック" charset="0"/>
        </a:defRPr>
      </a:lvl7pPr>
      <a:lvl8pPr marL="1371566" algn="ctr" rtl="0" eaLnBrk="1" fontAlgn="base" hangingPunct="1">
        <a:spcBef>
          <a:spcPct val="0"/>
        </a:spcBef>
        <a:spcAft>
          <a:spcPct val="0"/>
        </a:spcAft>
        <a:defRPr sz="4000" b="1">
          <a:solidFill>
            <a:srgbClr val="004925"/>
          </a:solidFill>
          <a:latin typeface="Arial" charset="0"/>
          <a:ea typeface="ＭＳ Ｐゴシック" charset="0"/>
          <a:cs typeface="ＭＳ Ｐゴシック" charset="0"/>
        </a:defRPr>
      </a:lvl8pPr>
      <a:lvl9pPr marL="1828754" algn="ctr" rtl="0" eaLnBrk="1" fontAlgn="base" hangingPunct="1">
        <a:spcBef>
          <a:spcPct val="0"/>
        </a:spcBef>
        <a:spcAft>
          <a:spcPct val="0"/>
        </a:spcAft>
        <a:defRPr sz="4000" b="1">
          <a:solidFill>
            <a:srgbClr val="004925"/>
          </a:solidFill>
          <a:latin typeface="Arial" charset="0"/>
          <a:ea typeface="ＭＳ Ｐゴシック" charset="0"/>
          <a:cs typeface="ＭＳ Ｐゴシック" charset="0"/>
        </a:defRPr>
      </a:lvl9pPr>
    </p:titleStyle>
    <p:bodyStyle>
      <a:lvl1pPr marL="228594" indent="-228594" algn="l" rtl="0" eaLnBrk="1" fontAlgn="base" hangingPunct="1">
        <a:spcBef>
          <a:spcPts val="1000"/>
        </a:spcBef>
        <a:spcAft>
          <a:spcPct val="0"/>
        </a:spcAft>
        <a:buClr>
          <a:srgbClr val="00B050"/>
        </a:buClr>
        <a:buChar char="•"/>
        <a:defRPr sz="2500">
          <a:solidFill>
            <a:schemeClr val="tx1"/>
          </a:solidFill>
          <a:latin typeface="+mn-lt"/>
          <a:ea typeface="+mn-ea"/>
          <a:cs typeface="+mn-cs"/>
        </a:defRPr>
      </a:lvl1pPr>
      <a:lvl2pPr marL="501638" indent="-273044" algn="l" rtl="0" eaLnBrk="1" fontAlgn="base" hangingPunct="1">
        <a:spcBef>
          <a:spcPts val="400"/>
        </a:spcBef>
        <a:spcAft>
          <a:spcPct val="0"/>
        </a:spcAft>
        <a:buFont typeface="Lucida Grande" charset="0"/>
        <a:buChar char="-"/>
        <a:defRPr sz="2500">
          <a:solidFill>
            <a:schemeClr val="tx1"/>
          </a:solidFill>
          <a:latin typeface="+mn-lt"/>
          <a:ea typeface="+mn-ea"/>
        </a:defRPr>
      </a:lvl2pPr>
      <a:lvl3pPr marL="685783" indent="-182558" algn="l" rtl="0" eaLnBrk="1" fontAlgn="base" hangingPunct="1">
        <a:spcBef>
          <a:spcPts val="400"/>
        </a:spcBef>
        <a:spcAft>
          <a:spcPct val="0"/>
        </a:spcAft>
        <a:buFont typeface="Wingdings" charset="2"/>
        <a:buChar char="§"/>
        <a:defRPr sz="2200">
          <a:solidFill>
            <a:schemeClr val="tx1"/>
          </a:solidFill>
          <a:latin typeface="+mn-lt"/>
          <a:ea typeface="ヒラギノ角ゴ Pro W3" charset="-128"/>
          <a:cs typeface="ヒラギノ角ゴ Pro W3" charset="-128"/>
        </a:defRPr>
      </a:lvl3pPr>
      <a:lvl4pPr marL="914377" indent="-200020" algn="l" rtl="0" eaLnBrk="1" fontAlgn="base" hangingPunct="1">
        <a:spcBef>
          <a:spcPts val="400"/>
        </a:spcBef>
        <a:spcAft>
          <a:spcPct val="0"/>
        </a:spcAft>
        <a:buSzPct val="65000"/>
        <a:buFont typeface="Wingdings" charset="2"/>
        <a:buChar char="v"/>
        <a:defRPr sz="2200">
          <a:solidFill>
            <a:schemeClr val="tx1"/>
          </a:solidFill>
          <a:latin typeface="+mn-lt"/>
          <a:ea typeface="ヒラギノ角ゴ Pro W3" charset="-128"/>
        </a:defRPr>
      </a:lvl4pPr>
      <a:lvl5pPr marL="1142971" indent="-200020" algn="l" rtl="0" eaLnBrk="1" fontAlgn="base" hangingPunct="1">
        <a:spcBef>
          <a:spcPts val="400"/>
        </a:spcBef>
        <a:spcAft>
          <a:spcPct val="0"/>
        </a:spcAft>
        <a:buChar char="»"/>
        <a:defRPr sz="2200">
          <a:solidFill>
            <a:schemeClr val="tx1"/>
          </a:solidFill>
          <a:latin typeface="+mn-lt"/>
          <a:ea typeface="ヒラギノ角ゴ Pro W3" charset="-128"/>
        </a:defRPr>
      </a:lvl5pPr>
      <a:lvl6pPr marL="2514537" indent="-228594" algn="l" rtl="0" eaLnBrk="1" fontAlgn="base" hangingPunct="1">
        <a:spcBef>
          <a:spcPct val="20000"/>
        </a:spcBef>
        <a:spcAft>
          <a:spcPct val="0"/>
        </a:spcAft>
        <a:buChar char="»"/>
        <a:defRPr sz="2000">
          <a:solidFill>
            <a:schemeClr val="tx1"/>
          </a:solidFill>
          <a:latin typeface="+mn-lt"/>
          <a:ea typeface="+mn-ea"/>
        </a:defRPr>
      </a:lvl6pPr>
      <a:lvl7pPr marL="2971726" indent="-228594" algn="l" rtl="0" eaLnBrk="1" fontAlgn="base" hangingPunct="1">
        <a:spcBef>
          <a:spcPct val="20000"/>
        </a:spcBef>
        <a:spcAft>
          <a:spcPct val="0"/>
        </a:spcAft>
        <a:buChar char="»"/>
        <a:defRPr sz="2000">
          <a:solidFill>
            <a:schemeClr val="tx1"/>
          </a:solidFill>
          <a:latin typeface="+mn-lt"/>
          <a:ea typeface="+mn-ea"/>
        </a:defRPr>
      </a:lvl7pPr>
      <a:lvl8pPr marL="3428914" indent="-228594" algn="l" rtl="0" eaLnBrk="1" fontAlgn="base" hangingPunct="1">
        <a:spcBef>
          <a:spcPct val="20000"/>
        </a:spcBef>
        <a:spcAft>
          <a:spcPct val="0"/>
        </a:spcAft>
        <a:buChar char="»"/>
        <a:defRPr sz="2000">
          <a:solidFill>
            <a:schemeClr val="tx1"/>
          </a:solidFill>
          <a:latin typeface="+mn-lt"/>
          <a:ea typeface="+mn-ea"/>
        </a:defRPr>
      </a:lvl8pPr>
      <a:lvl9pPr marL="3886103" indent="-228594" algn="l" rtl="0" eaLnBrk="1" fontAlgn="base" hangingPunct="1">
        <a:spcBef>
          <a:spcPct val="20000"/>
        </a:spcBef>
        <a:spcAft>
          <a:spcPct val="0"/>
        </a:spcAft>
        <a:buChar char="»"/>
        <a:defRPr sz="2000">
          <a:solidFill>
            <a:schemeClr val="tx1"/>
          </a:solidFill>
          <a:latin typeface="+mn-lt"/>
          <a:ea typeface="+mn-ea"/>
        </a:defRPr>
      </a:lvl9pPr>
    </p:bodyStyle>
    <p:otherStyle>
      <a:defPPr>
        <a:defRPr lang="fr-FR"/>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hyperlink" Target="https://www.cs.usfca.edu/~galles/visualization/BST.html" TargetMode="External"/><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hyperlink" Target="https://www.cs.usfca.edu/~galles/visualization/AVLtree.html" TargetMode="External"/><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www.cs.usfca.edu/~galles/visualization/BTree.html" TargetMode="External"/><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hyperlink" Target="https://www.cs.usfca.edu/~galles/visualization/Heap.html" TargetMode="External"/><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5076056" y="915566"/>
            <a:ext cx="3816424" cy="1890210"/>
          </a:xfrm>
        </p:spPr>
        <p:txBody>
          <a:bodyPr/>
          <a:lstStyle/>
          <a:p>
            <a:r>
              <a:rPr lang="fr-FR" sz="3600"/>
              <a:t>IFT-339</a:t>
            </a:r>
            <a:br>
              <a:rPr lang="fr-FR" sz="3600"/>
            </a:br>
            <a:r>
              <a:rPr lang="fr-FR" sz="3600"/>
              <a:t>STRUCTURES DE DONNÉES</a:t>
            </a:r>
            <a:br>
              <a:rPr lang="fr-FR" sz="3600"/>
            </a:br>
            <a:br>
              <a:rPr lang="fr-FR" sz="3600"/>
            </a:br>
            <a:r>
              <a:rPr lang="fr-FR" sz="3600"/>
              <a:t>DERNIER COURS!</a:t>
            </a:r>
            <a:endParaRPr lang="fr-FR" sz="3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467544" y="483518"/>
                <a:ext cx="8424614" cy="4248472"/>
              </a:xfrm>
            </p:spPr>
            <p:txBody>
              <a:bodyPr/>
              <a:lstStyle/>
              <a:p>
                <a:r>
                  <a:rPr lang="en-CA" sz="1800">
                    <a:latin typeface="Cambria Math" panose="02040503050406030204" pitchFamily="18" charset="0"/>
                    <a:ea typeface="Cambria Math" panose="02040503050406030204" pitchFamily="18" charset="0"/>
                  </a:rPr>
                  <a:t>1) Dessiner les structures résultantes de l'insertion dans cet ordre des valeurs                  [4, 15, 9, 28, 17, 2] dans un ABR, un AVL, un B-TREE d'ordre 3 et un Monceau.</a:t>
                </a:r>
              </a:p>
              <a:p>
                <a:r>
                  <a:rPr lang="en-CA" sz="1800">
                    <a:latin typeface="Cambria Math" panose="02040503050406030204" pitchFamily="18" charset="0"/>
                    <a:ea typeface="Cambria Math" panose="02040503050406030204" pitchFamily="18" charset="0"/>
                  </a:rPr>
                  <a:t>2) Inventez une fonction jouet recevant en entrée un vecteur </a:t>
                </a:r>
                <a14:m>
                  <m:oMath xmlns:m="http://schemas.openxmlformats.org/officeDocument/2006/math">
                    <m:r>
                      <a:rPr lang="en-CA" sz="1800" i="1" smtClean="0">
                        <a:latin typeface="Cambria Math" panose="02040503050406030204" pitchFamily="18" charset="0"/>
                        <a:ea typeface="Cambria Math" panose="02040503050406030204" pitchFamily="18" charset="0"/>
                      </a:rPr>
                      <m:t>𝑣𝑒𝑐</m:t>
                    </m:r>
                  </m:oMath>
                </a14:m>
                <a:r>
                  <a:rPr lang="en-CA" sz="1800">
                    <a:latin typeface="Cambria Math" panose="02040503050406030204" pitchFamily="18" charset="0"/>
                    <a:ea typeface="Cambria Math" panose="02040503050406030204" pitchFamily="18" charset="0"/>
                  </a:rPr>
                  <a:t> de longueur </a:t>
                </a:r>
                <a14:m>
                  <m:oMath xmlns:m="http://schemas.openxmlformats.org/officeDocument/2006/math">
                    <m:r>
                      <a:rPr lang="en-CA" sz="1800" i="1" smtClean="0">
                        <a:latin typeface="Cambria Math" panose="02040503050406030204" pitchFamily="18" charset="0"/>
                        <a:ea typeface="Cambria Math" panose="02040503050406030204" pitchFamily="18" charset="0"/>
                      </a:rPr>
                      <m:t>𝑛</m:t>
                    </m:r>
                  </m:oMath>
                </a14:m>
                <a:r>
                  <a:rPr lang="en-CA" sz="1800">
                    <a:latin typeface="Cambria Math" panose="02040503050406030204" pitchFamily="18" charset="0"/>
                    <a:ea typeface="Cambria Math" panose="02040503050406030204" pitchFamily="18" charset="0"/>
                  </a:rPr>
                  <a:t> et une constante </a:t>
                </a:r>
                <a14:m>
                  <m:oMath xmlns:m="http://schemas.openxmlformats.org/officeDocument/2006/math">
                    <m:r>
                      <a:rPr lang="en-CA" sz="1800" i="1" smtClean="0">
                        <a:latin typeface="Cambria Math" panose="02040503050406030204" pitchFamily="18" charset="0"/>
                        <a:ea typeface="Cambria Math" panose="02040503050406030204" pitchFamily="18" charset="0"/>
                      </a:rPr>
                      <m:t>𝑘</m:t>
                    </m:r>
                  </m:oMath>
                </a14:m>
                <a:r>
                  <a:rPr lang="en-CA" sz="1800">
                    <a:latin typeface="Cambria Math" panose="02040503050406030204" pitchFamily="18" charset="0"/>
                    <a:ea typeface="Cambria Math" panose="02040503050406030204" pitchFamily="18" charset="0"/>
                  </a:rPr>
                  <a:t>. La complexité algorithmique de cette fonction sans valeur de retour ni utilité doit être </a:t>
                </a:r>
                <a14:m>
                  <m:oMath xmlns:m="http://schemas.openxmlformats.org/officeDocument/2006/math">
                    <m:r>
                      <a:rPr lang="en-CA" sz="1800" i="1" smtClean="0">
                        <a:latin typeface="Cambria Math" panose="02040503050406030204" pitchFamily="18" charset="0"/>
                        <a:ea typeface="Cambria Math" panose="02040503050406030204" pitchFamily="18" charset="0"/>
                      </a:rPr>
                      <m:t>𝑂</m:t>
                    </m:r>
                    <m:r>
                      <a:rPr lang="en-CA" sz="1800" i="1" smtClean="0">
                        <a:latin typeface="Cambria Math" panose="02040503050406030204" pitchFamily="18" charset="0"/>
                        <a:ea typeface="Cambria Math" panose="02040503050406030204" pitchFamily="18" charset="0"/>
                      </a:rPr>
                      <m:t>(</m:t>
                    </m:r>
                    <m:sSup>
                      <m:sSupPr>
                        <m:ctrlPr>
                          <a:rPr lang="fr-CA" sz="1800" b="0" i="1" smtClean="0">
                            <a:latin typeface="Cambria Math" panose="02040503050406030204" pitchFamily="18" charset="0"/>
                            <a:ea typeface="Cambria Math" panose="02040503050406030204" pitchFamily="18" charset="0"/>
                          </a:rPr>
                        </m:ctrlPr>
                      </m:sSupPr>
                      <m:e>
                        <m:r>
                          <a:rPr lang="fr-CA" sz="1800" b="0" i="1" smtClean="0">
                            <a:latin typeface="Cambria Math" panose="02040503050406030204" pitchFamily="18" charset="0"/>
                            <a:ea typeface="Cambria Math" panose="02040503050406030204" pitchFamily="18" charset="0"/>
                          </a:rPr>
                          <m:t>2</m:t>
                        </m:r>
                      </m:e>
                      <m:sup>
                        <m:sSup>
                          <m:sSupPr>
                            <m:ctrlPr>
                              <a:rPr lang="en-CA" sz="1800" i="1" smtClean="0">
                                <a:latin typeface="Cambria Math" panose="02040503050406030204" pitchFamily="18" charset="0"/>
                                <a:ea typeface="Cambria Math" panose="02040503050406030204" pitchFamily="18" charset="0"/>
                              </a:rPr>
                            </m:ctrlPr>
                          </m:sSupPr>
                          <m:e>
                            <m:r>
                              <a:rPr lang="fr-CA" sz="1800" b="0" i="1" smtClean="0">
                                <a:latin typeface="Cambria Math" panose="02040503050406030204" pitchFamily="18" charset="0"/>
                                <a:ea typeface="Cambria Math" panose="02040503050406030204" pitchFamily="18" charset="0"/>
                              </a:rPr>
                              <m:t>(</m:t>
                            </m:r>
                            <m:r>
                              <a:rPr lang="en-CA" sz="1800" i="1" smtClean="0">
                                <a:latin typeface="Cambria Math" panose="02040503050406030204" pitchFamily="18" charset="0"/>
                                <a:ea typeface="Cambria Math" panose="02040503050406030204" pitchFamily="18" charset="0"/>
                              </a:rPr>
                              <m:t>𝑛</m:t>
                            </m:r>
                          </m:e>
                          <m:sup>
                            <m:r>
                              <a:rPr lang="en-CA" sz="1800" i="1" smtClean="0">
                                <a:latin typeface="Cambria Math" panose="02040503050406030204" pitchFamily="18" charset="0"/>
                                <a:ea typeface="Cambria Math" panose="02040503050406030204" pitchFamily="18" charset="0"/>
                              </a:rPr>
                              <m:t>2</m:t>
                            </m:r>
                          </m:sup>
                        </m:sSup>
                        <m:r>
                          <a:rPr lang="en-CA" sz="1800" i="1" smtClean="0">
                            <a:latin typeface="Cambria Math" panose="02040503050406030204" pitchFamily="18" charset="0"/>
                            <a:ea typeface="Cambria Math" panose="02040503050406030204" pitchFamily="18" charset="0"/>
                          </a:rPr>
                          <m:t>+</m:t>
                        </m:r>
                        <m:r>
                          <a:rPr lang="en-CA" sz="1800" i="1" smtClean="0">
                            <a:latin typeface="Cambria Math" panose="02040503050406030204" pitchFamily="18" charset="0"/>
                            <a:ea typeface="Cambria Math" panose="02040503050406030204" pitchFamily="18" charset="0"/>
                          </a:rPr>
                          <m:t>𝑘</m:t>
                        </m:r>
                        <m:r>
                          <a:rPr lang="fr-CA" sz="1800" b="0" i="1" smtClean="0">
                            <a:latin typeface="Cambria Math" panose="02040503050406030204" pitchFamily="18" charset="0"/>
                            <a:ea typeface="Cambria Math" panose="02040503050406030204" pitchFamily="18" charset="0"/>
                          </a:rPr>
                          <m:t>)</m:t>
                        </m:r>
                      </m:sup>
                    </m:sSup>
                    <m:r>
                      <a:rPr lang="fr-CA" sz="1800" b="0" i="1" smtClean="0">
                        <a:latin typeface="Cambria Math" panose="02040503050406030204" pitchFamily="18" charset="0"/>
                        <a:ea typeface="Cambria Math" panose="02040503050406030204" pitchFamily="18" charset="0"/>
                      </a:rPr>
                      <m:t>+3</m:t>
                    </m:r>
                    <m:r>
                      <a:rPr lang="fr-CA" sz="1800" b="0" i="1" smtClean="0">
                        <a:latin typeface="Cambria Math" panose="02040503050406030204" pitchFamily="18" charset="0"/>
                        <a:ea typeface="Cambria Math" panose="02040503050406030204" pitchFamily="18" charset="0"/>
                      </a:rPr>
                      <m:t>𝑛</m:t>
                    </m:r>
                    <m:r>
                      <a:rPr lang="en-CA" sz="1800" i="1" smtClean="0">
                        <a:latin typeface="Cambria Math" panose="02040503050406030204" pitchFamily="18" charset="0"/>
                        <a:ea typeface="Cambria Math" panose="02040503050406030204" pitchFamily="18" charset="0"/>
                      </a:rPr>
                      <m:t>)</m:t>
                    </m:r>
                  </m:oMath>
                </a14:m>
                <a:r>
                  <a:rPr lang="en-CA" sz="1800">
                    <a:latin typeface="Cambria Math" panose="02040503050406030204" pitchFamily="18" charset="0"/>
                    <a:ea typeface="Cambria Math" panose="02040503050406030204" pitchFamily="18" charset="0"/>
                  </a:rPr>
                  <a:t>.</a:t>
                </a:r>
              </a:p>
              <a:p>
                <a:r>
                  <a:rPr lang="en-CA" sz="1800">
                    <a:latin typeface="Cambria Math" panose="02040503050406030204" pitchFamily="18" charset="0"/>
                    <a:ea typeface="Cambria Math" panose="02040503050406030204" pitchFamily="18" charset="0"/>
                  </a:rPr>
                  <a:t>3) Les noeuds d'une liste doublement chaînée </a:t>
                </a:r>
                <a14:m>
                  <m:oMath xmlns:m="http://schemas.openxmlformats.org/officeDocument/2006/math">
                    <m:r>
                      <a:rPr lang="fr-CA" sz="1800" i="1">
                        <a:latin typeface="Cambria Math" panose="02040503050406030204" pitchFamily="18" charset="0"/>
                        <a:ea typeface="Cambria Math" panose="02040503050406030204" pitchFamily="18" charset="0"/>
                      </a:rPr>
                      <m:t>𝑙𝑑𝑐</m:t>
                    </m:r>
                  </m:oMath>
                </a14:m>
                <a:r>
                  <a:rPr lang="en-CA" sz="1800">
                    <a:latin typeface="Cambria Math" panose="02040503050406030204" pitchFamily="18" charset="0"/>
                    <a:ea typeface="Cambria Math" panose="02040503050406030204" pitchFamily="18" charset="0"/>
                  </a:rPr>
                  <a:t> de longueur maximale </a:t>
                </a:r>
                <a:r>
                  <a:rPr lang="en-CA" sz="1800" i="1">
                    <a:latin typeface="Cambria Math" panose="02040503050406030204" pitchFamily="18" charset="0"/>
                    <a:ea typeface="Cambria Math" panose="02040503050406030204" pitchFamily="18" charset="0"/>
                  </a:rPr>
                  <a:t>max_length </a:t>
                </a:r>
                <a:r>
                  <a:rPr lang="en-CA" sz="1800">
                    <a:latin typeface="Cambria Math" panose="02040503050406030204" pitchFamily="18" charset="0"/>
                    <a:ea typeface="Cambria Math" panose="02040503050406030204" pitchFamily="18" charset="0"/>
                  </a:rPr>
                  <a:t>contiennent chacun une sous-liste doublement chaînée similaire et sa quantité de noeuds courante </a:t>
                </a:r>
                <a14:m>
                  <m:oMath xmlns:m="http://schemas.openxmlformats.org/officeDocument/2006/math">
                    <m:r>
                      <a:rPr lang="en-CA" sz="1800" i="1">
                        <a:latin typeface="Cambria Math" panose="02040503050406030204" pitchFamily="18" charset="0"/>
                        <a:ea typeface="Cambria Math" panose="02040503050406030204" pitchFamily="18" charset="0"/>
                      </a:rPr>
                      <m:t>𝑛𝑏</m:t>
                    </m:r>
                    <m:r>
                      <a:rPr lang="en-CA" sz="1800" i="1">
                        <a:latin typeface="Cambria Math" panose="02040503050406030204" pitchFamily="18" charset="0"/>
                        <a:ea typeface="Cambria Math" panose="02040503050406030204" pitchFamily="18" charset="0"/>
                      </a:rPr>
                      <m:t>_</m:t>
                    </m:r>
                    <m:r>
                      <a:rPr lang="en-CA" sz="1800" i="1">
                        <a:latin typeface="Cambria Math" panose="02040503050406030204" pitchFamily="18" charset="0"/>
                        <a:ea typeface="Cambria Math" panose="02040503050406030204" pitchFamily="18" charset="0"/>
                      </a:rPr>
                      <m:t>𝑛𝑜𝑒𝑢𝑑𝑠</m:t>
                    </m:r>
                    <m:r>
                      <a:rPr lang="en-CA" sz="1800" i="1">
                        <a:latin typeface="Cambria Math" panose="02040503050406030204" pitchFamily="18" charset="0"/>
                        <a:ea typeface="Cambria Math" panose="02040503050406030204" pitchFamily="18" charset="0"/>
                      </a:rPr>
                      <m:t>.</m:t>
                    </m:r>
                  </m:oMath>
                </a14:m>
                <a:r>
                  <a:rPr lang="en-CA" sz="1800">
                    <a:latin typeface="Cambria Math" panose="02040503050406030204" pitchFamily="18" charset="0"/>
                    <a:ea typeface="Cambria Math" panose="02040503050406030204" pitchFamily="18" charset="0"/>
                  </a:rPr>
                  <a:t> Ceci se répète jusqu'aux sous-listes de profondeur </a:t>
                </a:r>
                <a14:m>
                  <m:oMath xmlns:m="http://schemas.openxmlformats.org/officeDocument/2006/math">
                    <m:r>
                      <a:rPr lang="en-CA" sz="1800" i="1">
                        <a:latin typeface="Cambria Math" panose="02040503050406030204" pitchFamily="18" charset="0"/>
                        <a:ea typeface="Cambria Math" panose="02040503050406030204" pitchFamily="18" charset="0"/>
                      </a:rPr>
                      <m:t>𝑘</m:t>
                    </m:r>
                  </m:oMath>
                </a14:m>
                <a:r>
                  <a:rPr lang="en-CA" sz="1800">
                    <a:latin typeface="Cambria Math" panose="02040503050406030204" pitchFamily="18" charset="0"/>
                    <a:ea typeface="Cambria Math" panose="02040503050406030204" pitchFamily="18" charset="0"/>
                  </a:rPr>
                  <a:t> dont les noeuds contiennent les valeurs insérées. Écrivez une fonction d'insertion à la fin </a:t>
                </a:r>
                <a:r>
                  <a:rPr lang="en-CA" sz="1800" i="1">
                    <a:latin typeface="Cambria Math" panose="02040503050406030204" pitchFamily="18" charset="0"/>
                    <a:ea typeface="Cambria Math" panose="02040503050406030204" pitchFamily="18" charset="0"/>
                  </a:rPr>
                  <a:t>push_back</a:t>
                </a:r>
                <a:r>
                  <a:rPr lang="en-CA" sz="1800">
                    <a:latin typeface="Cambria Math" panose="02040503050406030204" pitchFamily="18" charset="0"/>
                    <a:ea typeface="Cambria Math" panose="02040503050406030204" pitchFamily="18" charset="0"/>
                  </a:rPr>
                  <a:t>  qui supporte cette structure particulière.</a:t>
                </a:r>
              </a:p>
              <a:p>
                <a:r>
                  <a:rPr lang="en-CA" sz="1800">
                    <a:latin typeface="Cambria Math" panose="02040503050406030204" pitchFamily="18" charset="0"/>
                    <a:ea typeface="Cambria Math" panose="02040503050406030204" pitchFamily="18" charset="0"/>
                  </a:rPr>
                  <a:t>4) Écrivez une fonction qui reçoit deux tables </a:t>
                </a:r>
                <a14:m>
                  <m:oMath xmlns:m="http://schemas.openxmlformats.org/officeDocument/2006/math">
                    <m:r>
                      <a:rPr lang="en-CA" sz="1800" i="1" smtClean="0">
                        <a:latin typeface="Cambria Math" panose="02040503050406030204" pitchFamily="18" charset="0"/>
                        <a:ea typeface="Cambria Math" panose="02040503050406030204" pitchFamily="18" charset="0"/>
                      </a:rPr>
                      <m:t>𝑡𝑎𝑏</m:t>
                    </m:r>
                    <m:r>
                      <a:rPr lang="en-CA" sz="1800" i="0" smtClean="0">
                        <a:latin typeface="Cambria Math" panose="02040503050406030204" pitchFamily="18" charset="0"/>
                        <a:ea typeface="Cambria Math" panose="02040503050406030204" pitchFamily="18" charset="0"/>
                      </a:rPr>
                      <m:t>_1</m:t>
                    </m:r>
                  </m:oMath>
                </a14:m>
                <a:r>
                  <a:rPr lang="en-CA" sz="1800">
                    <a:latin typeface="Cambria Math" panose="02040503050406030204" pitchFamily="18" charset="0"/>
                    <a:ea typeface="Cambria Math" panose="02040503050406030204" pitchFamily="18" charset="0"/>
                  </a:rPr>
                  <a:t> et </a:t>
                </a:r>
                <a14:m>
                  <m:oMath xmlns:m="http://schemas.openxmlformats.org/officeDocument/2006/math">
                    <m:r>
                      <a:rPr lang="en-CA" sz="1800" i="1" smtClean="0">
                        <a:latin typeface="Cambria Math" panose="02040503050406030204" pitchFamily="18" charset="0"/>
                        <a:ea typeface="Cambria Math" panose="02040503050406030204" pitchFamily="18" charset="0"/>
                      </a:rPr>
                      <m:t>𝑡𝑎𝑏</m:t>
                    </m:r>
                    <m:r>
                      <a:rPr lang="en-CA" sz="1800" i="1" smtClean="0">
                        <a:latin typeface="Cambria Math" panose="02040503050406030204" pitchFamily="18" charset="0"/>
                        <a:ea typeface="Cambria Math" panose="02040503050406030204" pitchFamily="18" charset="0"/>
                      </a:rPr>
                      <m:t>_2</m:t>
                    </m:r>
                  </m:oMath>
                </a14:m>
                <a:r>
                  <a:rPr lang="fr-FR" sz="1800" dirty="0">
                    <a:latin typeface="Cambria Math" panose="02040503050406030204" pitchFamily="18" charset="0"/>
                    <a:ea typeface="Cambria Math" panose="02040503050406030204" pitchFamily="18" charset="0"/>
                  </a:rPr>
                  <a:t> </a:t>
                </a:r>
                <a:r>
                  <a:rPr lang="fr-FR" sz="1800">
                    <a:latin typeface="Cambria Math" panose="02040503050406030204" pitchFamily="18" charset="0"/>
                    <a:ea typeface="Cambria Math" panose="02040503050406030204" pitchFamily="18" charset="0"/>
                  </a:rPr>
                  <a:t>non-ordonnancées contenant </a:t>
                </a:r>
                <a14:m>
                  <m:oMath xmlns:m="http://schemas.openxmlformats.org/officeDocument/2006/math">
                    <m:r>
                      <a:rPr lang="fr-FR" sz="1800" i="1" smtClean="0">
                        <a:latin typeface="Cambria Math" panose="02040503050406030204" pitchFamily="18" charset="0"/>
                        <a:ea typeface="Cambria Math" panose="02040503050406030204" pitchFamily="18" charset="0"/>
                      </a:rPr>
                      <m:t>𝑛</m:t>
                    </m:r>
                  </m:oMath>
                </a14:m>
                <a:r>
                  <a:rPr lang="fr-FR" sz="1800">
                    <a:latin typeface="Cambria Math" panose="02040503050406030204" pitchFamily="18" charset="0"/>
                    <a:ea typeface="Cambria Math" panose="02040503050406030204" pitchFamily="18" charset="0"/>
                  </a:rPr>
                  <a:t> valeurs de type </a:t>
                </a:r>
                <a:r>
                  <a:rPr lang="fr-FR" sz="1800" i="1">
                    <a:latin typeface="Cambria Math" panose="02040503050406030204" pitchFamily="18" charset="0"/>
                    <a:ea typeface="Cambria Math" panose="02040503050406030204" pitchFamily="18" charset="0"/>
                  </a:rPr>
                  <a:t>comparables</a:t>
                </a:r>
                <a:r>
                  <a:rPr lang="fr-FR" sz="1800">
                    <a:latin typeface="Cambria Math" panose="02040503050406030204" pitchFamily="18" charset="0"/>
                    <a:ea typeface="Cambria Math" panose="02040503050406030204" pitchFamily="18" charset="0"/>
                  </a:rPr>
                  <a:t>, et retourne </a:t>
                </a:r>
                <a14:m>
                  <m:oMath xmlns:m="http://schemas.openxmlformats.org/officeDocument/2006/math">
                    <m:r>
                      <a:rPr lang="fr-FR" sz="1800" i="1" smtClean="0">
                        <a:latin typeface="Cambria Math" panose="02040503050406030204" pitchFamily="18" charset="0"/>
                        <a:ea typeface="Cambria Math" panose="02040503050406030204" pitchFamily="18" charset="0"/>
                      </a:rPr>
                      <m:t>𝑡𝑎𝑏</m:t>
                    </m:r>
                    <m:r>
                      <a:rPr lang="fr-FR" sz="1800" i="1" smtClean="0">
                        <a:latin typeface="Cambria Math" panose="02040503050406030204" pitchFamily="18" charset="0"/>
                        <a:ea typeface="Cambria Math" panose="02040503050406030204" pitchFamily="18" charset="0"/>
                      </a:rPr>
                      <m:t>_1</m:t>
                    </m:r>
                  </m:oMath>
                </a14:m>
                <a:r>
                  <a:rPr lang="fr-FR" sz="1800" i="1" dirty="0">
                    <a:latin typeface="Cambria Math" panose="02040503050406030204" pitchFamily="18" charset="0"/>
                    <a:ea typeface="Cambria Math" panose="02040503050406030204" pitchFamily="18" charset="0"/>
                  </a:rPr>
                  <a:t> </a:t>
                </a:r>
                <a:r>
                  <a:rPr lang="fr-FR" sz="1800">
                    <a:latin typeface="Cambria Math" panose="02040503050406030204" pitchFamily="18" charset="0"/>
                    <a:ea typeface="Cambria Math" panose="02040503050406030204" pitchFamily="18" charset="0"/>
                  </a:rPr>
                  <a:t>contenant les </a:t>
                </a:r>
                <a14:m>
                  <m:oMath xmlns:m="http://schemas.openxmlformats.org/officeDocument/2006/math">
                    <m:r>
                      <a:rPr lang="fr-FR" sz="1800" i="1" smtClean="0">
                        <a:latin typeface="Cambria Math" panose="02040503050406030204" pitchFamily="18" charset="0"/>
                        <a:ea typeface="Cambria Math" panose="02040503050406030204" pitchFamily="18" charset="0"/>
                      </a:rPr>
                      <m:t>𝑛</m:t>
                    </m:r>
                  </m:oMath>
                </a14:m>
                <a:r>
                  <a:rPr lang="fr-FR" sz="1800">
                    <a:latin typeface="Cambria Math" panose="02040503050406030204" pitchFamily="18" charset="0"/>
                    <a:ea typeface="Cambria Math" panose="02040503050406030204" pitchFamily="18" charset="0"/>
                  </a:rPr>
                  <a:t> première valeurs en ordre croissant de </a:t>
                </a:r>
                <a14:m>
                  <m:oMath xmlns:m="http://schemas.openxmlformats.org/officeDocument/2006/math">
                    <m:r>
                      <a:rPr lang="en-CA" sz="1800" i="1">
                        <a:latin typeface="Cambria Math" panose="02040503050406030204" pitchFamily="18" charset="0"/>
                        <a:ea typeface="Cambria Math" panose="02040503050406030204" pitchFamily="18" charset="0"/>
                      </a:rPr>
                      <m:t>𝑡𝑎𝑏</m:t>
                    </m:r>
                    <m:r>
                      <a:rPr lang="en-CA" sz="1800">
                        <a:latin typeface="Cambria Math" panose="02040503050406030204" pitchFamily="18" charset="0"/>
                        <a:ea typeface="Cambria Math" panose="02040503050406030204" pitchFamily="18" charset="0"/>
                      </a:rPr>
                      <m:t>_1</m:t>
                    </m:r>
                  </m:oMath>
                </a14:m>
                <a:r>
                  <a:rPr lang="en-CA" sz="1800">
                    <a:latin typeface="Cambria Math" panose="02040503050406030204" pitchFamily="18" charset="0"/>
                    <a:ea typeface="Cambria Math" panose="02040503050406030204" pitchFamily="18" charset="0"/>
                  </a:rPr>
                  <a:t> et </a:t>
                </a:r>
                <a14:m>
                  <m:oMath xmlns:m="http://schemas.openxmlformats.org/officeDocument/2006/math">
                    <m:r>
                      <a:rPr lang="en-CA" sz="1800" i="1">
                        <a:latin typeface="Cambria Math" panose="02040503050406030204" pitchFamily="18" charset="0"/>
                        <a:ea typeface="Cambria Math" panose="02040503050406030204" pitchFamily="18" charset="0"/>
                      </a:rPr>
                      <m:t>𝑡𝑎𝑏</m:t>
                    </m:r>
                    <m:r>
                      <a:rPr lang="en-CA" sz="1800" i="1">
                        <a:latin typeface="Cambria Math" panose="02040503050406030204" pitchFamily="18" charset="0"/>
                        <a:ea typeface="Cambria Math" panose="02040503050406030204" pitchFamily="18" charset="0"/>
                      </a:rPr>
                      <m:t>_2</m:t>
                    </m:r>
                  </m:oMath>
                </a14:m>
                <a:r>
                  <a:rPr lang="fr-FR" sz="1800" i="1" dirty="0">
                    <a:latin typeface="Cambria Math" panose="02040503050406030204" pitchFamily="18" charset="0"/>
                    <a:ea typeface="Cambria Math" panose="02040503050406030204" pitchFamily="18" charset="0"/>
                  </a:rPr>
                  <a:t> </a:t>
                </a:r>
                <a:r>
                  <a:rPr lang="fr-FR" sz="1800">
                    <a:latin typeface="Cambria Math" panose="02040503050406030204" pitchFamily="18" charset="0"/>
                    <a:ea typeface="Cambria Math" panose="02040503050406030204" pitchFamily="18" charset="0"/>
                  </a:rPr>
                  <a:t>combinées. Vous ne pouvez pas instancier de nouvelles structures pour ce faire (</a:t>
                </a:r>
                <a:r>
                  <a:rPr lang="fr-FR" sz="1800" i="1">
                    <a:latin typeface="Cambria Math" panose="02040503050406030204" pitchFamily="18" charset="0"/>
                    <a:ea typeface="Cambria Math" panose="02040503050406030204" pitchFamily="18" charset="0"/>
                  </a:rPr>
                  <a:t>en place </a:t>
                </a:r>
                <a:r>
                  <a:rPr lang="fr-FR" sz="1800">
                    <a:latin typeface="Cambria Math" panose="02040503050406030204" pitchFamily="18" charset="0"/>
                    <a:ea typeface="Cambria Math" panose="02040503050406030204" pitchFamily="18" charset="0"/>
                  </a:rPr>
                  <a:t>).</a:t>
                </a:r>
                <a:endParaRPr lang="fr-FR" sz="1800" dirty="0">
                  <a:latin typeface="Cambria Math" panose="02040503050406030204" pitchFamily="18" charset="0"/>
                  <a:ea typeface="Cambria Math"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9F58966-C77C-C84E-8B54-9262F41E8C33}"/>
                  </a:ext>
                </a:extLst>
              </p:cNvPr>
              <p:cNvSpPr>
                <a:spLocks noGrp="1" noRot="1" noChangeAspect="1" noMove="1" noResize="1" noEditPoints="1" noAdjustHandles="1" noChangeArrowheads="1" noChangeShapeType="1" noTextEdit="1"/>
              </p:cNvSpPr>
              <p:nvPr>
                <p:ph idx="1"/>
              </p:nvPr>
            </p:nvSpPr>
            <p:spPr>
              <a:xfrm>
                <a:off x="467544" y="483518"/>
                <a:ext cx="8424614" cy="4248472"/>
              </a:xfrm>
              <a:blipFill>
                <a:blip r:embed="rId2"/>
                <a:stretch>
                  <a:fillRect l="-1664" t="-2009" r="-5572" b="-3587"/>
                </a:stretch>
              </a:blipFill>
            </p:spPr>
            <p:txBody>
              <a:bodyPr/>
              <a:lstStyle/>
              <a:p>
                <a:r>
                  <a:rPr lang="fr-CA">
                    <a:noFill/>
                  </a:rPr>
                  <a:t> </a:t>
                </a:r>
              </a:p>
            </p:txBody>
          </p:sp>
        </mc:Fallback>
      </mc:AlternateContent>
    </p:spTree>
    <p:extLst>
      <p:ext uri="{BB962C8B-B14F-4D97-AF65-F5344CB8AC3E}">
        <p14:creationId xmlns:p14="http://schemas.microsoft.com/office/powerpoint/2010/main" val="481531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1) Dessiner les structures résultantes de l'insertion dans cet ordre des valeurs                  [4, 15, 9, 28, 17, 2] dans un ABR, un AVL, un B-TREE d'ordre 3 et un Monceau.</a:t>
            </a:r>
          </a:p>
          <a:p>
            <a:pPr marL="0" indent="0">
              <a:buNone/>
            </a:pPr>
            <a:r>
              <a:rPr lang="en-CA" sz="1800">
                <a:latin typeface="Cambria Math" panose="02040503050406030204" pitchFamily="18" charset="0"/>
                <a:ea typeface="Cambria Math" panose="02040503050406030204" pitchFamily="18" charset="0"/>
              </a:rPr>
              <a:t>L'arbre ABR requiert uniquement que la valeur insérée soit l'enfant, ou sous l'enfant, de gauche d'un noeud interne ou d'une feuille si sa valeur est plus petite, ou de droite si elle est plus grande. Il n'a pas à être rééquilibré.</a:t>
            </a:r>
          </a:p>
        </p:txBody>
      </p:sp>
      <p:pic>
        <p:nvPicPr>
          <p:cNvPr id="8" name="Picture 7" descr="A black background with white circles and numbers&#10;&#10;Description automatically generated">
            <a:extLst>
              <a:ext uri="{FF2B5EF4-FFF2-40B4-BE49-F238E27FC236}">
                <a16:creationId xmlns:a16="http://schemas.microsoft.com/office/drawing/2014/main" id="{D34255A0-1AE0-EAD7-D0E7-5433EDBB36F1}"/>
              </a:ext>
            </a:extLst>
          </p:cNvPr>
          <p:cNvPicPr>
            <a:picLocks noChangeAspect="1"/>
          </p:cNvPicPr>
          <p:nvPr/>
        </p:nvPicPr>
        <p:blipFill>
          <a:blip r:embed="rId2"/>
          <a:stretch>
            <a:fillRect/>
          </a:stretch>
        </p:blipFill>
        <p:spPr>
          <a:xfrm>
            <a:off x="3136974" y="2067694"/>
            <a:ext cx="2870051" cy="2870051"/>
          </a:xfrm>
          <a:prstGeom prst="rect">
            <a:avLst/>
          </a:prstGeom>
        </p:spPr>
      </p:pic>
      <p:sp>
        <p:nvSpPr>
          <p:cNvPr id="2" name="ZoneTexte 1">
            <a:extLst>
              <a:ext uri="{FF2B5EF4-FFF2-40B4-BE49-F238E27FC236}">
                <a16:creationId xmlns:a16="http://schemas.microsoft.com/office/drawing/2014/main" id="{EF61D7E8-87AF-7E29-C60B-1F1F56839F6E}"/>
              </a:ext>
            </a:extLst>
          </p:cNvPr>
          <p:cNvSpPr txBox="1"/>
          <p:nvPr/>
        </p:nvSpPr>
        <p:spPr>
          <a:xfrm>
            <a:off x="2286405" y="4803998"/>
            <a:ext cx="4571188" cy="307777"/>
          </a:xfrm>
          <a:prstGeom prst="rect">
            <a:avLst/>
          </a:prstGeom>
          <a:noFill/>
        </p:spPr>
        <p:txBody>
          <a:bodyPr wrap="none" rtlCol="0">
            <a:spAutoFit/>
          </a:bodyPr>
          <a:lstStyle/>
          <a:p>
            <a:r>
              <a:rPr lang="fr-CA" sz="1400" dirty="0">
                <a:solidFill>
                  <a:srgbClr val="00B0F0"/>
                </a:solidFill>
                <a:hlinkClick r:id="rId3">
                  <a:extLst>
                    <a:ext uri="{A12FA001-AC4F-418D-AE19-62706E023703}">
                      <ahyp:hlinkClr xmlns:ahyp="http://schemas.microsoft.com/office/drawing/2018/hyperlinkcolor" val="tx"/>
                    </a:ext>
                  </a:extLst>
                </a:hlinkClick>
              </a:rPr>
              <a:t>https://www.cs.usfca.edu/~galles/visualization/BST.html</a:t>
            </a:r>
            <a:endParaRPr lang="fr-CA" sz="1400" dirty="0">
              <a:solidFill>
                <a:srgbClr val="00B0F0"/>
              </a:solidFill>
            </a:endParaRPr>
          </a:p>
        </p:txBody>
      </p:sp>
    </p:spTree>
    <p:extLst>
      <p:ext uri="{BB962C8B-B14F-4D97-AF65-F5344CB8AC3E}">
        <p14:creationId xmlns:p14="http://schemas.microsoft.com/office/powerpoint/2010/main" val="3276094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1) Dessiner les structures résultantes de l'insertion dans cet ordre des valeurs                  [4, 15, 9, 28, 17, 2] dans un ABR, un AVL, un B-TREE d'ordre 3 et un Monceau.</a:t>
            </a:r>
          </a:p>
          <a:p>
            <a:pPr marL="0" indent="0">
              <a:buNone/>
            </a:pPr>
            <a:r>
              <a:rPr lang="en-CA" sz="1800">
                <a:latin typeface="Cambria Math" panose="02040503050406030204" pitchFamily="18" charset="0"/>
                <a:ea typeface="Cambria Math" panose="02040503050406030204" pitchFamily="18" charset="0"/>
              </a:rPr>
              <a:t>L'arbre AVL requiert de plus que la différence de hauteur entre deux feuilles soit d'au plus 1. Il faut donc réaliser les rotations nécessaires au fil des insertions pour le rééquilibrer.</a:t>
            </a:r>
          </a:p>
        </p:txBody>
      </p:sp>
      <p:pic>
        <p:nvPicPr>
          <p:cNvPr id="8" name="Picture 7">
            <a:extLst>
              <a:ext uri="{FF2B5EF4-FFF2-40B4-BE49-F238E27FC236}">
                <a16:creationId xmlns:a16="http://schemas.microsoft.com/office/drawing/2014/main" id="{D34255A0-1AE0-EAD7-D0E7-5433EDBB36F1}"/>
              </a:ext>
            </a:extLst>
          </p:cNvPr>
          <p:cNvPicPr>
            <a:picLocks noChangeAspect="1"/>
          </p:cNvPicPr>
          <p:nvPr/>
        </p:nvPicPr>
        <p:blipFill>
          <a:blip r:embed="rId2"/>
          <a:srcRect/>
          <a:stretch/>
        </p:blipFill>
        <p:spPr>
          <a:xfrm>
            <a:off x="2538619" y="1923678"/>
            <a:ext cx="4066761" cy="2440056"/>
          </a:xfrm>
          <a:prstGeom prst="rect">
            <a:avLst/>
          </a:prstGeom>
        </p:spPr>
      </p:pic>
      <p:sp>
        <p:nvSpPr>
          <p:cNvPr id="2" name="ZoneTexte 1">
            <a:extLst>
              <a:ext uri="{FF2B5EF4-FFF2-40B4-BE49-F238E27FC236}">
                <a16:creationId xmlns:a16="http://schemas.microsoft.com/office/drawing/2014/main" id="{165DA197-8921-ABD3-F7AB-25E1C9E73CB7}"/>
              </a:ext>
            </a:extLst>
          </p:cNvPr>
          <p:cNvSpPr txBox="1"/>
          <p:nvPr/>
        </p:nvSpPr>
        <p:spPr>
          <a:xfrm>
            <a:off x="2286405" y="4803998"/>
            <a:ext cx="4875887" cy="307777"/>
          </a:xfrm>
          <a:prstGeom prst="rect">
            <a:avLst/>
          </a:prstGeom>
          <a:noFill/>
        </p:spPr>
        <p:txBody>
          <a:bodyPr wrap="none" rtlCol="0">
            <a:spAutoFit/>
          </a:bodyPr>
          <a:lstStyle/>
          <a:p>
            <a:r>
              <a:rPr lang="fr-CA" sz="1400" dirty="0">
                <a:solidFill>
                  <a:srgbClr val="00B0F0"/>
                </a:solidFill>
                <a:hlinkClick r:id="rId3">
                  <a:extLst>
                    <a:ext uri="{A12FA001-AC4F-418D-AE19-62706E023703}">
                      <ahyp:hlinkClr xmlns:ahyp="http://schemas.microsoft.com/office/drawing/2018/hyperlinkcolor" val="tx"/>
                    </a:ext>
                  </a:extLst>
                </a:hlinkClick>
              </a:rPr>
              <a:t>https://www.cs.usfca.edu/~galles/visualization/AVLtree.html</a:t>
            </a:r>
            <a:endParaRPr lang="fr-CA" sz="1400" dirty="0">
              <a:solidFill>
                <a:srgbClr val="00B0F0"/>
              </a:solidFill>
            </a:endParaRPr>
          </a:p>
        </p:txBody>
      </p:sp>
    </p:spTree>
    <p:extLst>
      <p:ext uri="{BB962C8B-B14F-4D97-AF65-F5344CB8AC3E}">
        <p14:creationId xmlns:p14="http://schemas.microsoft.com/office/powerpoint/2010/main" val="281473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1) Dessiner les structures résultantes de l'insertion dans cet ordre des valeurs                  [4, 15, 9, 28, 17, 2] dans un ABR, un AVL, un B-TREE d'ordre 3 et un Monceau.</a:t>
            </a:r>
          </a:p>
          <a:p>
            <a:pPr marL="0" indent="0">
              <a:buNone/>
            </a:pPr>
            <a:r>
              <a:rPr lang="en-CA" sz="1800">
                <a:latin typeface="Cambria Math" panose="02040503050406030204" pitchFamily="18" charset="0"/>
                <a:ea typeface="Cambria Math" panose="02040503050406030204" pitchFamily="18" charset="0"/>
              </a:rPr>
              <a:t>Le B-TREE d'ordre 3 requiert qu'aucun noeud interne n'ait plus de trois enfants. En conséquence, un noeud ne peut pas contenir plus de deux valeurs. Chaque insertion doit adjuster le B-TREE afin de conserver la structure.</a:t>
            </a:r>
          </a:p>
        </p:txBody>
      </p:sp>
      <p:pic>
        <p:nvPicPr>
          <p:cNvPr id="8" name="Picture 7">
            <a:extLst>
              <a:ext uri="{FF2B5EF4-FFF2-40B4-BE49-F238E27FC236}">
                <a16:creationId xmlns:a16="http://schemas.microsoft.com/office/drawing/2014/main" id="{D34255A0-1AE0-EAD7-D0E7-5433EDBB36F1}"/>
              </a:ext>
            </a:extLst>
          </p:cNvPr>
          <p:cNvPicPr>
            <a:picLocks noChangeAspect="1"/>
          </p:cNvPicPr>
          <p:nvPr/>
        </p:nvPicPr>
        <p:blipFill>
          <a:blip r:embed="rId2"/>
          <a:srcRect/>
          <a:stretch/>
        </p:blipFill>
        <p:spPr>
          <a:xfrm>
            <a:off x="2538619" y="2283718"/>
            <a:ext cx="4066761" cy="1913769"/>
          </a:xfrm>
          <a:prstGeom prst="rect">
            <a:avLst/>
          </a:prstGeom>
        </p:spPr>
      </p:pic>
      <p:sp>
        <p:nvSpPr>
          <p:cNvPr id="2" name="ZoneTexte 1">
            <a:extLst>
              <a:ext uri="{FF2B5EF4-FFF2-40B4-BE49-F238E27FC236}">
                <a16:creationId xmlns:a16="http://schemas.microsoft.com/office/drawing/2014/main" id="{0825D6A7-D839-469A-7A82-D42E76072160}"/>
              </a:ext>
            </a:extLst>
          </p:cNvPr>
          <p:cNvSpPr txBox="1"/>
          <p:nvPr/>
        </p:nvSpPr>
        <p:spPr>
          <a:xfrm>
            <a:off x="2286405" y="4803998"/>
            <a:ext cx="4722255" cy="307777"/>
          </a:xfrm>
          <a:prstGeom prst="rect">
            <a:avLst/>
          </a:prstGeom>
          <a:noFill/>
        </p:spPr>
        <p:txBody>
          <a:bodyPr wrap="none" rtlCol="0">
            <a:spAutoFit/>
          </a:bodyPr>
          <a:lstStyle/>
          <a:p>
            <a:r>
              <a:rPr lang="fr-CA" sz="1400" dirty="0">
                <a:solidFill>
                  <a:srgbClr val="00B0F0"/>
                </a:solidFill>
                <a:hlinkClick r:id="rId3">
                  <a:extLst>
                    <a:ext uri="{A12FA001-AC4F-418D-AE19-62706E023703}">
                      <ahyp:hlinkClr xmlns:ahyp="http://schemas.microsoft.com/office/drawing/2018/hyperlinkcolor" val="tx"/>
                    </a:ext>
                  </a:extLst>
                </a:hlinkClick>
              </a:rPr>
              <a:t>https://www.cs.usfca.edu/~galles/visualization/BTree.html</a:t>
            </a:r>
            <a:endParaRPr lang="fr-CA" sz="1400" dirty="0">
              <a:solidFill>
                <a:srgbClr val="00B0F0"/>
              </a:solidFill>
            </a:endParaRPr>
          </a:p>
        </p:txBody>
      </p:sp>
    </p:spTree>
    <p:extLst>
      <p:ext uri="{BB962C8B-B14F-4D97-AF65-F5344CB8AC3E}">
        <p14:creationId xmlns:p14="http://schemas.microsoft.com/office/powerpoint/2010/main" val="1746371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1) Dessiner les structures résultantes de l'insertion dans cet ordre des valeurs                  [4, 15, 9, 28, 17, 2] dans un ABR, un AVL, un B-TREE d'ordre 3 et un Monceau.</a:t>
            </a:r>
          </a:p>
          <a:p>
            <a:pPr marL="0" indent="0">
              <a:buNone/>
            </a:pPr>
            <a:r>
              <a:rPr lang="en-CA" sz="1800">
                <a:latin typeface="Cambria Math" panose="02040503050406030204" pitchFamily="18" charset="0"/>
                <a:ea typeface="Cambria Math" panose="02040503050406030204" pitchFamily="18" charset="0"/>
              </a:rPr>
              <a:t>Le Monceau requiert que tous ses noeuds soient insérés le plus à gauche possible. Il doit également assurer que la valeur de chaque enfant est supérieure à son parent. La seule operation ainsi autorisée pour rectifier cet arbre est l'inversion entre une valeur d'un enfant et celle de son parent.</a:t>
            </a:r>
          </a:p>
        </p:txBody>
      </p:sp>
      <p:pic>
        <p:nvPicPr>
          <p:cNvPr id="8" name="Picture 7">
            <a:extLst>
              <a:ext uri="{FF2B5EF4-FFF2-40B4-BE49-F238E27FC236}">
                <a16:creationId xmlns:a16="http://schemas.microsoft.com/office/drawing/2014/main" id="{D34255A0-1AE0-EAD7-D0E7-5433EDBB36F1}"/>
              </a:ext>
            </a:extLst>
          </p:cNvPr>
          <p:cNvPicPr>
            <a:picLocks noChangeAspect="1"/>
          </p:cNvPicPr>
          <p:nvPr/>
        </p:nvPicPr>
        <p:blipFill>
          <a:blip r:embed="rId2"/>
          <a:srcRect/>
          <a:stretch/>
        </p:blipFill>
        <p:spPr>
          <a:xfrm>
            <a:off x="2210959" y="2283718"/>
            <a:ext cx="4722081" cy="2361041"/>
          </a:xfrm>
          <a:prstGeom prst="rect">
            <a:avLst/>
          </a:prstGeom>
        </p:spPr>
      </p:pic>
      <p:sp>
        <p:nvSpPr>
          <p:cNvPr id="2" name="ZoneTexte 1">
            <a:extLst>
              <a:ext uri="{FF2B5EF4-FFF2-40B4-BE49-F238E27FC236}">
                <a16:creationId xmlns:a16="http://schemas.microsoft.com/office/drawing/2014/main" id="{53D2152A-80FD-298E-5842-C3065B412E2A}"/>
              </a:ext>
            </a:extLst>
          </p:cNvPr>
          <p:cNvSpPr txBox="1"/>
          <p:nvPr/>
        </p:nvSpPr>
        <p:spPr>
          <a:xfrm>
            <a:off x="2286405" y="4803998"/>
            <a:ext cx="4669612" cy="307777"/>
          </a:xfrm>
          <a:prstGeom prst="rect">
            <a:avLst/>
          </a:prstGeom>
          <a:noFill/>
        </p:spPr>
        <p:txBody>
          <a:bodyPr wrap="none" rtlCol="0">
            <a:spAutoFit/>
          </a:bodyPr>
          <a:lstStyle/>
          <a:p>
            <a:r>
              <a:rPr lang="fr-CA" sz="1400" dirty="0">
                <a:solidFill>
                  <a:srgbClr val="00B0F0"/>
                </a:solidFill>
                <a:hlinkClick r:id="rId3">
                  <a:extLst>
                    <a:ext uri="{A12FA001-AC4F-418D-AE19-62706E023703}">
                      <ahyp:hlinkClr xmlns:ahyp="http://schemas.microsoft.com/office/drawing/2018/hyperlinkcolor" val="tx"/>
                    </a:ext>
                  </a:extLst>
                </a:hlinkClick>
              </a:rPr>
              <a:t>https://www.cs.usfca.edu/~galles/visualization/Heap.html</a:t>
            </a:r>
            <a:endParaRPr lang="fr-CA" sz="1400" dirty="0">
              <a:solidFill>
                <a:srgbClr val="00B0F0"/>
              </a:solidFill>
            </a:endParaRPr>
          </a:p>
        </p:txBody>
      </p:sp>
    </p:spTree>
    <p:extLst>
      <p:ext uri="{BB962C8B-B14F-4D97-AF65-F5344CB8AC3E}">
        <p14:creationId xmlns:p14="http://schemas.microsoft.com/office/powerpoint/2010/main" val="1398834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2) Inventez une fonction jouet recevant en entrée un vecteur </a:t>
                </a:r>
                <a14:m>
                  <m:oMath xmlns:m="http://schemas.openxmlformats.org/officeDocument/2006/math">
                    <m:r>
                      <a:rPr lang="en-CA" sz="1800" i="1" smtClean="0">
                        <a:latin typeface="Cambria Math" panose="02040503050406030204" pitchFamily="18" charset="0"/>
                        <a:ea typeface="Cambria Math" panose="02040503050406030204" pitchFamily="18" charset="0"/>
                      </a:rPr>
                      <m:t>𝑣𝑒𝑐</m:t>
                    </m:r>
                  </m:oMath>
                </a14:m>
                <a:r>
                  <a:rPr lang="en-CA" sz="1800">
                    <a:latin typeface="Cambria Math" panose="02040503050406030204" pitchFamily="18" charset="0"/>
                    <a:ea typeface="Cambria Math" panose="02040503050406030204" pitchFamily="18" charset="0"/>
                  </a:rPr>
                  <a:t> de longueur </a:t>
                </a:r>
                <a14:m>
                  <m:oMath xmlns:m="http://schemas.openxmlformats.org/officeDocument/2006/math">
                    <m:r>
                      <a:rPr lang="en-CA" sz="1800" i="1" smtClean="0">
                        <a:latin typeface="Cambria Math" panose="02040503050406030204" pitchFamily="18" charset="0"/>
                        <a:ea typeface="Cambria Math" panose="02040503050406030204" pitchFamily="18" charset="0"/>
                      </a:rPr>
                      <m:t>𝑛</m:t>
                    </m:r>
                  </m:oMath>
                </a14:m>
                <a:r>
                  <a:rPr lang="en-CA" sz="1800">
                    <a:latin typeface="Cambria Math" panose="02040503050406030204" pitchFamily="18" charset="0"/>
                    <a:ea typeface="Cambria Math" panose="02040503050406030204" pitchFamily="18" charset="0"/>
                  </a:rPr>
                  <a:t> et une constante </a:t>
                </a:r>
                <a14:m>
                  <m:oMath xmlns:m="http://schemas.openxmlformats.org/officeDocument/2006/math">
                    <m:r>
                      <a:rPr lang="en-CA" sz="1800" i="1" smtClean="0">
                        <a:latin typeface="Cambria Math" panose="02040503050406030204" pitchFamily="18" charset="0"/>
                        <a:ea typeface="Cambria Math" panose="02040503050406030204" pitchFamily="18" charset="0"/>
                      </a:rPr>
                      <m:t>𝑘</m:t>
                    </m:r>
                  </m:oMath>
                </a14:m>
                <a:r>
                  <a:rPr lang="en-CA" sz="1800">
                    <a:latin typeface="Cambria Math" panose="02040503050406030204" pitchFamily="18" charset="0"/>
                    <a:ea typeface="Cambria Math" panose="02040503050406030204" pitchFamily="18" charset="0"/>
                  </a:rPr>
                  <a:t>. La complexité algorithmique de cette fonction sans valeur de retour ni utilité doit être </a:t>
                </a:r>
                <a14:m>
                  <m:oMath xmlns:m="http://schemas.openxmlformats.org/officeDocument/2006/math">
                    <m:r>
                      <a:rPr lang="en-CA" sz="1800" i="1" smtClean="0">
                        <a:latin typeface="Cambria Math" panose="02040503050406030204" pitchFamily="18" charset="0"/>
                        <a:ea typeface="Cambria Math" panose="02040503050406030204" pitchFamily="18" charset="0"/>
                      </a:rPr>
                      <m:t>𝑂</m:t>
                    </m:r>
                    <m:r>
                      <a:rPr lang="en-CA" sz="1800" i="1" smtClean="0">
                        <a:latin typeface="Cambria Math" panose="02040503050406030204" pitchFamily="18" charset="0"/>
                        <a:ea typeface="Cambria Math" panose="02040503050406030204" pitchFamily="18" charset="0"/>
                      </a:rPr>
                      <m:t>(</m:t>
                    </m:r>
                    <m:sSup>
                      <m:sSupPr>
                        <m:ctrlPr>
                          <a:rPr lang="fr-CA" sz="1800" b="0" i="1" smtClean="0">
                            <a:latin typeface="Cambria Math" panose="02040503050406030204" pitchFamily="18" charset="0"/>
                            <a:ea typeface="Cambria Math" panose="02040503050406030204" pitchFamily="18" charset="0"/>
                          </a:rPr>
                        </m:ctrlPr>
                      </m:sSupPr>
                      <m:e>
                        <m:r>
                          <a:rPr lang="fr-CA" sz="1800" b="0" i="1" smtClean="0">
                            <a:latin typeface="Cambria Math" panose="02040503050406030204" pitchFamily="18" charset="0"/>
                            <a:ea typeface="Cambria Math" panose="02040503050406030204" pitchFamily="18" charset="0"/>
                          </a:rPr>
                          <m:t>2</m:t>
                        </m:r>
                      </m:e>
                      <m:sup>
                        <m:sSup>
                          <m:sSupPr>
                            <m:ctrlPr>
                              <a:rPr lang="en-CA" sz="1800" i="1" smtClean="0">
                                <a:latin typeface="Cambria Math" panose="02040503050406030204" pitchFamily="18" charset="0"/>
                                <a:ea typeface="Cambria Math" panose="02040503050406030204" pitchFamily="18" charset="0"/>
                              </a:rPr>
                            </m:ctrlPr>
                          </m:sSupPr>
                          <m:e>
                            <m:r>
                              <a:rPr lang="fr-CA" sz="1800" b="0" i="1" smtClean="0">
                                <a:latin typeface="Cambria Math" panose="02040503050406030204" pitchFamily="18" charset="0"/>
                                <a:ea typeface="Cambria Math" panose="02040503050406030204" pitchFamily="18" charset="0"/>
                              </a:rPr>
                              <m:t>(</m:t>
                            </m:r>
                            <m:r>
                              <a:rPr lang="en-CA" sz="1800" i="1" smtClean="0">
                                <a:latin typeface="Cambria Math" panose="02040503050406030204" pitchFamily="18" charset="0"/>
                                <a:ea typeface="Cambria Math" panose="02040503050406030204" pitchFamily="18" charset="0"/>
                              </a:rPr>
                              <m:t>𝑛</m:t>
                            </m:r>
                          </m:e>
                          <m:sup>
                            <m:r>
                              <a:rPr lang="en-CA" sz="1800" i="1" smtClean="0">
                                <a:latin typeface="Cambria Math" panose="02040503050406030204" pitchFamily="18" charset="0"/>
                                <a:ea typeface="Cambria Math" panose="02040503050406030204" pitchFamily="18" charset="0"/>
                              </a:rPr>
                              <m:t>2</m:t>
                            </m:r>
                          </m:sup>
                        </m:sSup>
                        <m:r>
                          <a:rPr lang="en-CA" sz="1800" i="1" smtClean="0">
                            <a:latin typeface="Cambria Math" panose="02040503050406030204" pitchFamily="18" charset="0"/>
                            <a:ea typeface="Cambria Math" panose="02040503050406030204" pitchFamily="18" charset="0"/>
                          </a:rPr>
                          <m:t>+</m:t>
                        </m:r>
                        <m:r>
                          <a:rPr lang="en-CA" sz="1800" i="1" smtClean="0">
                            <a:latin typeface="Cambria Math" panose="02040503050406030204" pitchFamily="18" charset="0"/>
                            <a:ea typeface="Cambria Math" panose="02040503050406030204" pitchFamily="18" charset="0"/>
                          </a:rPr>
                          <m:t>𝑘</m:t>
                        </m:r>
                        <m:r>
                          <a:rPr lang="fr-CA" sz="1800" b="0" i="1" smtClean="0">
                            <a:latin typeface="Cambria Math" panose="02040503050406030204" pitchFamily="18" charset="0"/>
                            <a:ea typeface="Cambria Math" panose="02040503050406030204" pitchFamily="18" charset="0"/>
                          </a:rPr>
                          <m:t>)</m:t>
                        </m:r>
                      </m:sup>
                    </m:sSup>
                    <m:r>
                      <a:rPr lang="fr-CA" sz="1800" b="0" i="1" smtClean="0">
                        <a:latin typeface="Cambria Math" panose="02040503050406030204" pitchFamily="18" charset="0"/>
                        <a:ea typeface="Cambria Math" panose="02040503050406030204" pitchFamily="18" charset="0"/>
                      </a:rPr>
                      <m:t>+3</m:t>
                    </m:r>
                    <m:r>
                      <a:rPr lang="fr-CA" sz="1800" b="0" i="1" smtClean="0">
                        <a:latin typeface="Cambria Math" panose="02040503050406030204" pitchFamily="18" charset="0"/>
                        <a:ea typeface="Cambria Math" panose="02040503050406030204" pitchFamily="18" charset="0"/>
                      </a:rPr>
                      <m:t>𝑛</m:t>
                    </m:r>
                    <m:r>
                      <a:rPr lang="en-CA" sz="1800" i="1" smtClean="0">
                        <a:latin typeface="Cambria Math" panose="02040503050406030204" pitchFamily="18" charset="0"/>
                        <a:ea typeface="Cambria Math" panose="02040503050406030204" pitchFamily="18" charset="0"/>
                      </a:rPr>
                      <m:t>)</m:t>
                    </m:r>
                  </m:oMath>
                </a14:m>
                <a:r>
                  <a:rPr lang="en-CA" sz="1800">
                    <a:latin typeface="Cambria Math" panose="02040503050406030204" pitchFamily="18" charset="0"/>
                    <a:ea typeface="Cambria Math" panose="02040503050406030204" pitchFamily="18" charset="0"/>
                  </a:rPr>
                  <a:t>.</a:t>
                </a:r>
              </a:p>
              <a:p>
                <a:endParaRPr lang="en-CA" sz="400">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toyFunction(vec, k)</a:t>
                </a:r>
                <a:r>
                  <a:rPr lang="en-US" sz="1800" i="0">
                    <a:latin typeface="Cambria Math" panose="02040503050406030204" pitchFamily="18" charset="0"/>
                    <a:ea typeface="Cambria Math" panose="02040503050406030204" pitchFamily="18" charset="0"/>
                  </a:rPr>
                  <a:t> </a:t>
                </a:r>
                <a:r>
                  <a:rPr lang="fr-CA" sz="1800" i="0">
                    <a:latin typeface="Cambria Math" panose="02040503050406030204" pitchFamily="18" charset="0"/>
                    <a:ea typeface="Cambria Math" panose="02040503050406030204" pitchFamily="18" charset="0"/>
                  </a:rPr>
                  <a:t>{</a:t>
                </a:r>
              </a:p>
              <a:p>
                <a:pPr marL="0" indent="0">
                  <a:spcBef>
                    <a:spcPts val="300"/>
                  </a:spcBef>
                  <a:buNone/>
                </a:pPr>
                <a:r>
                  <a:rPr lang="fr-CA" sz="1800" i="0">
                    <a:latin typeface="Cambria Math" panose="02040503050406030204" pitchFamily="18" charset="0"/>
                    <a:ea typeface="Cambria Math" panose="02040503050406030204" pitchFamily="18" charset="0"/>
                  </a:rPr>
                  <a:t>	toyFunction</a:t>
                </a:r>
                <a:r>
                  <a:rPr lang="en-US" sz="1800" i="0">
                    <a:latin typeface="Cambria Math" panose="02040503050406030204" pitchFamily="18" charset="0"/>
                    <a:ea typeface="Cambria Math" panose="02040503050406030204" pitchFamily="18" charset="0"/>
                  </a:rPr>
                  <a:t>2</a:t>
                </a:r>
                <a:r>
                  <a:rPr lang="fr-CA" sz="1800" i="0">
                    <a:latin typeface="Cambria Math" panose="02040503050406030204" pitchFamily="18" charset="0"/>
                    <a:ea typeface="Cambria Math" panose="02040503050406030204" pitchFamily="18" charset="0"/>
                  </a:rPr>
                  <a:t>(vec</a:t>
                </a:r>
                <a:r>
                  <a:rPr lang="en-US" sz="1800" i="0">
                    <a:latin typeface="Cambria Math" panose="02040503050406030204" pitchFamily="18" charset="0"/>
                    <a:ea typeface="Cambria Math" panose="02040503050406030204" pitchFamily="18" charset="0"/>
                  </a:rPr>
                  <a:t>.length </a:t>
                </a:r>
                <a:r>
                  <a:rPr lang="en-CA" sz="1800" i="0">
                    <a:latin typeface="Cambria Math" panose="02040503050406030204" pitchFamily="18" charset="0"/>
                    <a:ea typeface="Cambria Math" panose="02040503050406030204" pitchFamily="18" charset="0"/>
                  </a:rPr>
                  <a:t>⋅ vec.length + </a:t>
                </a:r>
                <a:r>
                  <a:rPr lang="fr-CA" sz="1800" i="0">
                    <a:latin typeface="Cambria Math" panose="02040503050406030204" pitchFamily="18" charset="0"/>
                    <a:ea typeface="Cambria Math" panose="02040503050406030204" pitchFamily="18" charset="0"/>
                  </a:rPr>
                  <a:t>k); </a:t>
                </a:r>
                <a:endParaRPr lang="fr-CA" sz="1800" i="1">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	for(i = 0; i ≤ 3 ⋅ vec.length; i</a:t>
                </a:r>
                <a:r>
                  <a:rPr lang="en-US" sz="1800" i="0">
                    <a:latin typeface="Cambria Math" panose="02040503050406030204" pitchFamily="18" charset="0"/>
                    <a:ea typeface="Cambria Math" panose="02040503050406030204" pitchFamily="18" charset="0"/>
                  </a:rPr>
                  <a:t>++</a:t>
                </a:r>
                <a:r>
                  <a:rPr lang="fr-CA" sz="1800" i="0">
                    <a:latin typeface="Cambria Math" panose="02040503050406030204" pitchFamily="18" charset="0"/>
                    <a:ea typeface="Cambria Math" panose="02040503050406030204" pitchFamily="18" charset="0"/>
                  </a:rPr>
                  <a:t>) </a:t>
                </a:r>
                <a:r>
                  <a:rPr lang="en-US" sz="1800" i="0">
                    <a:latin typeface="Cambria Math" panose="02040503050406030204" pitchFamily="18" charset="0"/>
                    <a:ea typeface="Cambria Math" panose="02040503050406030204" pitchFamily="18" charset="0"/>
                  </a:rPr>
                  <a:t>{ }</a:t>
                </a:r>
                <a:endParaRPr lang="fr-CA" sz="1800" i="1">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a:t>
                </a:r>
                <a:endParaRPr lang="en-CA" sz="1800" i="1">
                  <a:latin typeface="Cambria Math" panose="02040503050406030204" pitchFamily="18" charset="0"/>
                  <a:ea typeface="Cambria Math" panose="02040503050406030204" pitchFamily="18" charset="0"/>
                </a:endParaRPr>
              </a:p>
              <a:p>
                <a:pPr marL="0" indent="0">
                  <a:spcBef>
                    <a:spcPts val="300"/>
                  </a:spcBef>
                  <a:buNone/>
                </a:pPr>
                <a:endParaRPr lang="en-CA" sz="800" i="1">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toyFunction</a:t>
                </a:r>
                <a:r>
                  <a:rPr lang="en-CA" sz="1800" i="0">
                    <a:latin typeface="Cambria Math" panose="02040503050406030204" pitchFamily="18" charset="0"/>
                    <a:ea typeface="Cambria Math" panose="02040503050406030204" pitchFamily="18" charset="0"/>
                  </a:rPr>
                  <a:t>2</a:t>
                </a:r>
                <a:r>
                  <a:rPr lang="fr-CA" sz="1800" i="0">
                    <a:latin typeface="Cambria Math" panose="02040503050406030204" pitchFamily="18" charset="0"/>
                    <a:ea typeface="Cambria Math" panose="02040503050406030204" pitchFamily="18" charset="0"/>
                  </a:rPr>
                  <a:t>(</a:t>
                </a:r>
                <a:r>
                  <a:rPr lang="en-CA" sz="1800" i="0">
                    <a:latin typeface="Cambria Math" panose="02040503050406030204" pitchFamily="18" charset="0"/>
                    <a:ea typeface="Cambria Math" panose="02040503050406030204" pitchFamily="18" charset="0"/>
                  </a:rPr>
                  <a:t>x</a:t>
                </a:r>
                <a:r>
                  <a:rPr lang="fr-CA" sz="1800" i="0">
                    <a:latin typeface="Cambria Math" panose="02040503050406030204" pitchFamily="18" charset="0"/>
                    <a:ea typeface="Cambria Math" panose="02040503050406030204" pitchFamily="18" charset="0"/>
                  </a:rPr>
                  <a:t>)</a:t>
                </a:r>
                <a:r>
                  <a:rPr lang="en-US" sz="1800" i="0">
                    <a:latin typeface="Cambria Math" panose="02040503050406030204" pitchFamily="18" charset="0"/>
                    <a:ea typeface="Cambria Math" panose="02040503050406030204" pitchFamily="18" charset="0"/>
                  </a:rPr>
                  <a:t> </a:t>
                </a:r>
                <a:r>
                  <a:rPr lang="fr-CA" sz="1800" i="0">
                    <a:latin typeface="Cambria Math" panose="02040503050406030204" pitchFamily="18" charset="0"/>
                    <a:ea typeface="Cambria Math" panose="02040503050406030204" pitchFamily="18" charset="0"/>
                  </a:rPr>
                  <a:t>{</a:t>
                </a:r>
              </a:p>
              <a:p>
                <a:pPr marL="0" indent="0">
                  <a:spcBef>
                    <a:spcPts val="300"/>
                  </a:spcBef>
                  <a:buNone/>
                </a:pPr>
                <a:r>
                  <a:rPr lang="fr-CA" sz="1800">
                    <a:latin typeface="Cambria Math" panose="02040503050406030204" pitchFamily="18" charset="0"/>
                    <a:ea typeface="Cambria Math" panose="02040503050406030204" pitchFamily="18" charset="0"/>
                  </a:rPr>
                  <a:t>	if (x </a:t>
                </a:r>
                <a:r>
                  <a:rPr lang="fr-CA" sz="1800" i="0">
                    <a:latin typeface="Cambria Math" panose="02040503050406030204" pitchFamily="18" charset="0"/>
                    <a:ea typeface="Cambria Math" panose="02040503050406030204" pitchFamily="18" charset="0"/>
                  </a:rPr>
                  <a:t>≥</a:t>
                </a:r>
                <a:r>
                  <a:rPr lang="fr-CA" sz="1800">
                    <a:latin typeface="Cambria Math" panose="02040503050406030204" pitchFamily="18" charset="0"/>
                    <a:ea typeface="Cambria Math" panose="02040503050406030204" pitchFamily="18" charset="0"/>
                  </a:rPr>
                  <a:t> 1) </a:t>
                </a:r>
                <a:r>
                  <a:rPr lang="fr-CA" sz="1800" i="0">
                    <a:latin typeface="Cambria Math" panose="02040503050406030204" pitchFamily="18" charset="0"/>
                    <a:ea typeface="Cambria Math" panose="02040503050406030204" pitchFamily="18" charset="0"/>
                  </a:rPr>
                  <a:t>{</a:t>
                </a:r>
                <a:endParaRPr lang="fr-CA" sz="1800" i="1">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		toyFunction</a:t>
                </a:r>
                <a:r>
                  <a:rPr lang="en-US" sz="1800" i="0">
                    <a:latin typeface="Cambria Math" panose="02040503050406030204" pitchFamily="18" charset="0"/>
                    <a:ea typeface="Cambria Math" panose="02040503050406030204" pitchFamily="18" charset="0"/>
                  </a:rPr>
                  <a:t>2</a:t>
                </a:r>
                <a:r>
                  <a:rPr lang="fr-CA" sz="1800" i="0">
                    <a:latin typeface="Cambria Math" panose="02040503050406030204" pitchFamily="18" charset="0"/>
                    <a:ea typeface="Cambria Math" panose="02040503050406030204" pitchFamily="18" charset="0"/>
                  </a:rPr>
                  <a:t>(</a:t>
                </a:r>
                <a:r>
                  <a:rPr lang="en-CA" sz="1800" i="0">
                    <a:latin typeface="Cambria Math" panose="02040503050406030204" pitchFamily="18" charset="0"/>
                    <a:ea typeface="Cambria Math" panose="02040503050406030204" pitchFamily="18" charset="0"/>
                  </a:rPr>
                  <a:t>x-1</a:t>
                </a:r>
                <a:r>
                  <a:rPr lang="fr-CA" sz="1800" i="0">
                    <a:latin typeface="Cambria Math" panose="02040503050406030204" pitchFamily="18" charset="0"/>
                    <a:ea typeface="Cambria Math" panose="02040503050406030204" pitchFamily="18" charset="0"/>
                  </a:rPr>
                  <a:t>);                                          </a:t>
                </a:r>
                <a:endParaRPr lang="fr-CA" sz="1800" i="1">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		toyFunction</a:t>
                </a:r>
                <a:r>
                  <a:rPr lang="en-US" sz="1800" i="0">
                    <a:latin typeface="Cambria Math" panose="02040503050406030204" pitchFamily="18" charset="0"/>
                    <a:ea typeface="Cambria Math" panose="02040503050406030204" pitchFamily="18" charset="0"/>
                  </a:rPr>
                  <a:t>2</a:t>
                </a:r>
                <a:r>
                  <a:rPr lang="fr-CA" sz="1800" i="0">
                    <a:latin typeface="Cambria Math" panose="02040503050406030204" pitchFamily="18" charset="0"/>
                    <a:ea typeface="Cambria Math" panose="02040503050406030204" pitchFamily="18" charset="0"/>
                  </a:rPr>
                  <a:t>(</a:t>
                </a:r>
                <a:r>
                  <a:rPr lang="en-CA" sz="1800" i="0">
                    <a:latin typeface="Cambria Math" panose="02040503050406030204" pitchFamily="18" charset="0"/>
                    <a:ea typeface="Cambria Math" panose="02040503050406030204" pitchFamily="18" charset="0"/>
                  </a:rPr>
                  <a:t>x-1</a:t>
                </a:r>
                <a:r>
                  <a:rPr lang="fr-CA" sz="1800" i="0">
                    <a:latin typeface="Cambria Math" panose="02040503050406030204" pitchFamily="18" charset="0"/>
                    <a:ea typeface="Cambria Math" panose="02040503050406030204" pitchFamily="18" charset="0"/>
                  </a:rPr>
                  <a:t>);</a:t>
                </a:r>
              </a:p>
              <a:p>
                <a:pPr marL="0" indent="0">
                  <a:spcBef>
                    <a:spcPts val="300"/>
                  </a:spcBef>
                  <a:buNone/>
                </a:pPr>
                <a:r>
                  <a:rPr lang="fr-CA" sz="1800">
                    <a:latin typeface="Cambria Math" panose="02040503050406030204" pitchFamily="18" charset="0"/>
                    <a:ea typeface="Cambria Math" panose="02040503050406030204" pitchFamily="18" charset="0"/>
                  </a:rPr>
                  <a:t>	</a:t>
                </a:r>
                <a:r>
                  <a:rPr lang="fr-CA" sz="1800" i="0">
                    <a:latin typeface="Cambria Math" panose="02040503050406030204" pitchFamily="18" charset="0"/>
                    <a:ea typeface="Cambria Math" panose="02040503050406030204" pitchFamily="18" charset="0"/>
                  </a:rPr>
                  <a:t>}</a:t>
                </a:r>
                <a:r>
                  <a:rPr lang="en-CA" sz="1800" i="0">
                    <a:latin typeface="Cambria Math" panose="02040503050406030204" pitchFamily="18" charset="0"/>
                    <a:ea typeface="Cambria Math" panose="02040503050406030204" pitchFamily="18" charset="0"/>
                  </a:rPr>
                  <a:t> </a:t>
                </a:r>
                <a:endParaRPr lang="fr-CA" sz="1800" i="1">
                  <a:latin typeface="Cambria Math" panose="02040503050406030204" pitchFamily="18" charset="0"/>
                  <a:ea typeface="Cambria Math" panose="02040503050406030204" pitchFamily="18" charset="0"/>
                </a:endParaRPr>
              </a:p>
              <a:p>
                <a:pPr marL="0" indent="0">
                  <a:spcBef>
                    <a:spcPts val="300"/>
                  </a:spcBef>
                  <a:buNone/>
                </a:pPr>
                <a:r>
                  <a:rPr lang="fr-CA" sz="1800" i="0">
                    <a:latin typeface="Cambria Math" panose="02040503050406030204" pitchFamily="18" charset="0"/>
                    <a:ea typeface="Cambria Math" panose="02040503050406030204" pitchFamily="18" charset="0"/>
                  </a:rPr>
                  <a:t>}</a:t>
                </a:r>
                <a:r>
                  <a:rPr lang="en-CA" sz="1800" i="0">
                    <a:latin typeface="Cambria Math" panose="02040503050406030204" pitchFamily="18" charset="0"/>
                    <a:ea typeface="Cambria Math" panose="02040503050406030204" pitchFamily="18" charset="0"/>
                  </a:rPr>
                  <a:t> </a:t>
                </a:r>
                <a:endParaRPr lang="fr-CA" sz="180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CA" sz="1800" b="0" i="1" smtClean="0">
                          <a:latin typeface="Cambria Math" panose="02040503050406030204" pitchFamily="18" charset="0"/>
                          <a:ea typeface="Cambria Math" panose="02040503050406030204" pitchFamily="18" charset="0"/>
                        </a:rPr>
                        <m:t> </m:t>
                      </m:r>
                    </m:oMath>
                  </m:oMathPara>
                </a14:m>
                <a:endParaRPr lang="fr-CA" sz="1800" b="0">
                  <a:latin typeface="Cambria Math" panose="02040503050406030204" pitchFamily="18" charset="0"/>
                  <a:ea typeface="Cambria Math"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9F58966-C77C-C84E-8B54-9262F41E8C33}"/>
                  </a:ext>
                </a:extLst>
              </p:cNvPr>
              <p:cNvSpPr>
                <a:spLocks noGrp="1" noRot="1" noChangeAspect="1" noMove="1" noResize="1" noEditPoints="1" noAdjustHandles="1" noChangeArrowheads="1" noChangeShapeType="1" noTextEdit="1"/>
              </p:cNvSpPr>
              <p:nvPr>
                <p:ph idx="1"/>
              </p:nvPr>
            </p:nvSpPr>
            <p:spPr>
              <a:xfrm>
                <a:off x="359693" y="627534"/>
                <a:ext cx="8424614" cy="4176464"/>
              </a:xfrm>
              <a:blipFill>
                <a:blip r:embed="rId2"/>
                <a:stretch>
                  <a:fillRect l="-1664" t="-2044" b="-9343"/>
                </a:stretch>
              </a:blipFill>
            </p:spPr>
            <p:txBody>
              <a:bodyPr/>
              <a:lstStyle/>
              <a:p>
                <a:r>
                  <a:rPr lang="fr-CA">
                    <a:noFill/>
                  </a:rPr>
                  <a:t> </a:t>
                </a:r>
              </a:p>
            </p:txBody>
          </p:sp>
        </mc:Fallback>
      </mc:AlternateContent>
    </p:spTree>
    <p:extLst>
      <p:ext uri="{BB962C8B-B14F-4D97-AF65-F5344CB8AC3E}">
        <p14:creationId xmlns:p14="http://schemas.microsoft.com/office/powerpoint/2010/main" val="2406278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3) Les noeuds d'une liste doublement chaînée </a:t>
                </a:r>
                <a14:m>
                  <m:oMath xmlns:m="http://schemas.openxmlformats.org/officeDocument/2006/math">
                    <m:r>
                      <a:rPr lang="fr-CA" sz="1800" i="1">
                        <a:latin typeface="Cambria Math" panose="02040503050406030204" pitchFamily="18" charset="0"/>
                        <a:ea typeface="Cambria Math" panose="02040503050406030204" pitchFamily="18" charset="0"/>
                      </a:rPr>
                      <m:t>𝑙𝑑𝑐</m:t>
                    </m:r>
                  </m:oMath>
                </a14:m>
                <a:r>
                  <a:rPr lang="en-CA" sz="1800">
                    <a:latin typeface="Cambria Math" panose="02040503050406030204" pitchFamily="18" charset="0"/>
                    <a:ea typeface="Cambria Math" panose="02040503050406030204" pitchFamily="18" charset="0"/>
                  </a:rPr>
                  <a:t> de longueur maximale </a:t>
                </a:r>
                <a:r>
                  <a:rPr lang="en-CA" sz="1800" i="1">
                    <a:latin typeface="Cambria Math" panose="02040503050406030204" pitchFamily="18" charset="0"/>
                    <a:ea typeface="Cambria Math" panose="02040503050406030204" pitchFamily="18" charset="0"/>
                  </a:rPr>
                  <a:t>max_length </a:t>
                </a:r>
                <a:r>
                  <a:rPr lang="en-CA" sz="1800">
                    <a:latin typeface="Cambria Math" panose="02040503050406030204" pitchFamily="18" charset="0"/>
                    <a:ea typeface="Cambria Math" panose="02040503050406030204" pitchFamily="18" charset="0"/>
                  </a:rPr>
                  <a:t>contiennent chacun une sous-liste doublement chaînée similaire et sa quantité de noeuds courante </a:t>
                </a:r>
                <a14:m>
                  <m:oMath xmlns:m="http://schemas.openxmlformats.org/officeDocument/2006/math">
                    <m:r>
                      <a:rPr lang="en-CA" sz="1800" i="1">
                        <a:latin typeface="Cambria Math" panose="02040503050406030204" pitchFamily="18" charset="0"/>
                        <a:ea typeface="Cambria Math" panose="02040503050406030204" pitchFamily="18" charset="0"/>
                      </a:rPr>
                      <m:t>𝑛𝑏</m:t>
                    </m:r>
                    <m:r>
                      <a:rPr lang="en-CA" sz="1800" i="1">
                        <a:latin typeface="Cambria Math" panose="02040503050406030204" pitchFamily="18" charset="0"/>
                        <a:ea typeface="Cambria Math" panose="02040503050406030204" pitchFamily="18" charset="0"/>
                      </a:rPr>
                      <m:t>_</m:t>
                    </m:r>
                    <m:r>
                      <a:rPr lang="en-CA" sz="1800" i="1">
                        <a:latin typeface="Cambria Math" panose="02040503050406030204" pitchFamily="18" charset="0"/>
                        <a:ea typeface="Cambria Math" panose="02040503050406030204" pitchFamily="18" charset="0"/>
                      </a:rPr>
                      <m:t>𝑛𝑜𝑒𝑢𝑑𝑠</m:t>
                    </m:r>
                    <m:r>
                      <a:rPr lang="en-CA" sz="1800" i="1">
                        <a:latin typeface="Cambria Math" panose="02040503050406030204" pitchFamily="18" charset="0"/>
                        <a:ea typeface="Cambria Math" panose="02040503050406030204" pitchFamily="18" charset="0"/>
                      </a:rPr>
                      <m:t>.</m:t>
                    </m:r>
                  </m:oMath>
                </a14:m>
                <a:r>
                  <a:rPr lang="en-CA" sz="1800">
                    <a:latin typeface="Cambria Math" panose="02040503050406030204" pitchFamily="18" charset="0"/>
                    <a:ea typeface="Cambria Math" panose="02040503050406030204" pitchFamily="18" charset="0"/>
                  </a:rPr>
                  <a:t> Ceci se répète jusqu'aux sous-listes de profondeur </a:t>
                </a:r>
                <a14:m>
                  <m:oMath xmlns:m="http://schemas.openxmlformats.org/officeDocument/2006/math">
                    <m:r>
                      <a:rPr lang="en-CA" sz="1800" i="1">
                        <a:latin typeface="Cambria Math" panose="02040503050406030204" pitchFamily="18" charset="0"/>
                        <a:ea typeface="Cambria Math" panose="02040503050406030204" pitchFamily="18" charset="0"/>
                      </a:rPr>
                      <m:t>𝑘</m:t>
                    </m:r>
                  </m:oMath>
                </a14:m>
                <a:r>
                  <a:rPr lang="en-CA" sz="1800">
                    <a:latin typeface="Cambria Math" panose="02040503050406030204" pitchFamily="18" charset="0"/>
                    <a:ea typeface="Cambria Math" panose="02040503050406030204" pitchFamily="18" charset="0"/>
                  </a:rPr>
                  <a:t> dont les noeuds contiennent les valeurs insérées. Écrivez une fonction d'insertion à la fin </a:t>
                </a:r>
                <a:r>
                  <a:rPr lang="en-CA" sz="1800" i="1">
                    <a:latin typeface="Cambria Math" panose="02040503050406030204" pitchFamily="18" charset="0"/>
                    <a:ea typeface="Cambria Math" panose="02040503050406030204" pitchFamily="18" charset="0"/>
                  </a:rPr>
                  <a:t>push_back</a:t>
                </a:r>
                <a:r>
                  <a:rPr lang="en-CA" sz="1800">
                    <a:latin typeface="Cambria Math" panose="02040503050406030204" pitchFamily="18" charset="0"/>
                    <a:ea typeface="Cambria Math" panose="02040503050406030204" pitchFamily="18" charset="0"/>
                  </a:rPr>
                  <a:t>  qui supporte cette structure particulière.</a:t>
                </a:r>
              </a:p>
              <a:p>
                <a:pPr marL="0" indent="0">
                  <a:spcBef>
                    <a:spcPts val="300"/>
                  </a:spcBef>
                  <a:buNone/>
                </a:pPr>
                <a:endParaRPr lang="en-CA" sz="1800">
                  <a:latin typeface="Cambria Math" panose="02040503050406030204" pitchFamily="18" charset="0"/>
                  <a:ea typeface="Cambria Math" panose="02040503050406030204" pitchFamily="18" charset="0"/>
                </a:endParaRPr>
              </a:p>
              <a:p>
                <a:pPr marL="0" indent="0">
                  <a:spcBef>
                    <a:spcPts val="300"/>
                  </a:spcBef>
                  <a:buNone/>
                </a:pPr>
                <a:r>
                  <a:rPr lang="en-CA" sz="1800">
                    <a:latin typeface="Cambria Math" panose="02040503050406030204" pitchFamily="18" charset="0"/>
                    <a:ea typeface="Cambria Math" panose="02040503050406030204" pitchFamily="18" charset="0"/>
                  </a:rPr>
                  <a:t>L'objectif de cette question était d'explorer une dernière fois les fonctions récursives dans un context où elles sont réellement bénéfiques. Nous appellerons tout d'abord la function avec en paramètres la liste racine, la valeur à insérer et le paramètre </a:t>
                </a:r>
                <a14:m>
                  <m:oMath xmlns:m="http://schemas.openxmlformats.org/officeDocument/2006/math">
                    <m:r>
                      <a:rPr lang="en-CA" sz="1800" i="1" smtClean="0">
                        <a:latin typeface="Cambria Math" panose="02040503050406030204" pitchFamily="18" charset="0"/>
                        <a:ea typeface="Cambria Math" panose="02040503050406030204" pitchFamily="18" charset="0"/>
                      </a:rPr>
                      <m:t>𝑘</m:t>
                    </m:r>
                  </m:oMath>
                </a14:m>
                <a:r>
                  <a:rPr lang="en-CA" sz="1800">
                    <a:latin typeface="Cambria Math" panose="02040503050406030204" pitchFamily="18" charset="0"/>
                    <a:ea typeface="Cambria Math" panose="02040503050406030204" pitchFamily="18" charset="0"/>
                  </a:rPr>
                  <a:t> qui nous permettra de controller la profondeur de récursion.</a:t>
                </a:r>
              </a:p>
              <a:p>
                <a:pPr marL="0" indent="0">
                  <a:spcBef>
                    <a:spcPts val="300"/>
                  </a:spcBef>
                  <a:buNone/>
                </a:pPr>
                <a:endParaRPr lang="en-CA" sz="1800">
                  <a:latin typeface="Cambria Math" panose="02040503050406030204" pitchFamily="18" charset="0"/>
                  <a:ea typeface="Cambria Math" panose="02040503050406030204" pitchFamily="18" charset="0"/>
                </a:endParaRPr>
              </a:p>
              <a:p>
                <a:pPr marL="0" indent="0">
                  <a:spcBef>
                    <a:spcPts val="300"/>
                  </a:spcBef>
                  <a:buNone/>
                </a:pPr>
                <a:r>
                  <a:rPr lang="en-CA" sz="1800">
                    <a:latin typeface="Cambria Math" panose="02040503050406030204" pitchFamily="18" charset="0"/>
                    <a:ea typeface="Cambria Math" panose="02040503050406030204" pitchFamily="18" charset="0"/>
                  </a:rPr>
                  <a:t>push_back(ldc, val, k);</a:t>
                </a:r>
              </a:p>
            </p:txBody>
          </p:sp>
        </mc:Choice>
        <mc:Fallback xmlns="">
          <p:sp>
            <p:nvSpPr>
              <p:cNvPr id="3" name="Espace réservé du contenu 2">
                <a:extLst>
                  <a:ext uri="{FF2B5EF4-FFF2-40B4-BE49-F238E27FC236}">
                    <a16:creationId xmlns:a16="http://schemas.microsoft.com/office/drawing/2014/main" id="{D9F58966-C77C-C84E-8B54-9262F41E8C33}"/>
                  </a:ext>
                </a:extLst>
              </p:cNvPr>
              <p:cNvSpPr>
                <a:spLocks noGrp="1" noRot="1" noChangeAspect="1" noMove="1" noResize="1" noEditPoints="1" noAdjustHandles="1" noChangeArrowheads="1" noChangeShapeType="1" noTextEdit="1"/>
              </p:cNvSpPr>
              <p:nvPr>
                <p:ph idx="1"/>
              </p:nvPr>
            </p:nvSpPr>
            <p:spPr>
              <a:xfrm>
                <a:off x="359693" y="627534"/>
                <a:ext cx="8424614" cy="4176464"/>
              </a:xfrm>
              <a:blipFill>
                <a:blip r:embed="rId2"/>
                <a:stretch>
                  <a:fillRect l="-1664" t="-2044" r="-2026"/>
                </a:stretch>
              </a:blipFill>
            </p:spPr>
            <p:txBody>
              <a:bodyPr/>
              <a:lstStyle/>
              <a:p>
                <a:r>
                  <a:rPr lang="fr-CA">
                    <a:noFill/>
                  </a:rPr>
                  <a:t> </a:t>
                </a:r>
              </a:p>
            </p:txBody>
          </p:sp>
        </mc:Fallback>
      </mc:AlternateContent>
    </p:spTree>
    <p:extLst>
      <p:ext uri="{BB962C8B-B14F-4D97-AF65-F5344CB8AC3E}">
        <p14:creationId xmlns:p14="http://schemas.microsoft.com/office/powerpoint/2010/main" val="1589539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pPr marL="0" indent="0">
              <a:spcBef>
                <a:spcPts val="300"/>
              </a:spcBef>
              <a:buNone/>
            </a:pPr>
            <a:r>
              <a:rPr lang="en-CA" sz="1600">
                <a:latin typeface="Cambria Math" panose="02040503050406030204" pitchFamily="18" charset="0"/>
                <a:ea typeface="Cambria Math" panose="02040503050406030204" pitchFamily="18" charset="0"/>
              </a:rPr>
              <a:t>bool push_back(liste, val, k) {</a:t>
            </a:r>
          </a:p>
          <a:p>
            <a:pPr marL="0" indent="0">
              <a:spcBef>
                <a:spcPts val="300"/>
              </a:spcBef>
              <a:buNone/>
            </a:pPr>
            <a:r>
              <a:rPr lang="en-CA" sz="1600">
                <a:latin typeface="Cambria Math" panose="02040503050406030204" pitchFamily="18" charset="0"/>
                <a:ea typeface="Cambria Math" panose="02040503050406030204" pitchFamily="18" charset="0"/>
              </a:rPr>
              <a:t>	if (k &gt; 1) {</a:t>
            </a:r>
          </a:p>
          <a:p>
            <a:pPr marL="0" indent="0">
              <a:spcBef>
                <a:spcPts val="300"/>
              </a:spcBef>
              <a:buNone/>
            </a:pPr>
            <a:r>
              <a:rPr lang="en-CA" sz="1600">
                <a:latin typeface="Cambria Math" panose="02040503050406030204" pitchFamily="18" charset="0"/>
                <a:ea typeface="Cambria Math" panose="02040503050406030204" pitchFamily="18" charset="0"/>
              </a:rPr>
              <a:t>		if (push_back(liste.back, val, k-1)) {     </a:t>
            </a:r>
            <a:r>
              <a:rPr lang="en-CA" sz="1600">
                <a:solidFill>
                  <a:schemeClr val="accent1"/>
                </a:solidFill>
                <a:latin typeface="Cambria Math" panose="02040503050406030204" pitchFamily="18" charset="0"/>
                <a:ea typeface="Cambria Math" panose="02040503050406030204" pitchFamily="18" charset="0"/>
              </a:rPr>
              <a:t>//rappel récursif de la fonction</a:t>
            </a:r>
          </a:p>
          <a:p>
            <a:pPr marL="0" indent="0">
              <a:spcBef>
                <a:spcPts val="300"/>
              </a:spcBef>
              <a:buNone/>
            </a:pPr>
            <a:r>
              <a:rPr lang="en-CA" sz="1600">
                <a:latin typeface="Cambria Math" panose="02040503050406030204" pitchFamily="18" charset="0"/>
                <a:ea typeface="Cambria Math" panose="02040503050406030204" pitchFamily="18" charset="0"/>
              </a:rPr>
              <a:t>			return true;</a:t>
            </a:r>
          </a:p>
          <a:p>
            <a:pPr marL="0" indent="0">
              <a:spcBef>
                <a:spcPts val="300"/>
              </a:spcBef>
              <a:buNone/>
            </a:pPr>
            <a:r>
              <a:rPr lang="en-CA" sz="1600">
                <a:latin typeface="Cambria Math" panose="02040503050406030204" pitchFamily="18" charset="0"/>
                <a:ea typeface="Cambria Math" panose="02040503050406030204" pitchFamily="18" charset="0"/>
              </a:rPr>
              <a:t>		} else if (liste.nb_noeuds &lt; max_length) {</a:t>
            </a:r>
          </a:p>
          <a:p>
            <a:pPr marL="0" indent="0">
              <a:spcBef>
                <a:spcPts val="300"/>
              </a:spcBef>
              <a:buNone/>
            </a:pPr>
            <a:r>
              <a:rPr lang="en-CA" sz="1600">
                <a:latin typeface="Cambria Math" panose="02040503050406030204" pitchFamily="18" charset="0"/>
                <a:ea typeface="Cambria Math" panose="02040503050406030204" pitchFamily="18" charset="0"/>
              </a:rPr>
              <a:t>			push_back_liste(liste, val, k);     </a:t>
            </a:r>
            <a:r>
              <a:rPr lang="en-CA" sz="1600">
                <a:solidFill>
                  <a:schemeClr val="accent1"/>
                </a:solidFill>
                <a:latin typeface="Cambria Math" panose="02040503050406030204" pitchFamily="18" charset="0"/>
                <a:ea typeface="Cambria Math" panose="02040503050406030204" pitchFamily="18" charset="0"/>
              </a:rPr>
              <a:t>//créé k listes et le noeud val </a:t>
            </a:r>
            <a:r>
              <a:rPr lang="en-CA" sz="1600">
                <a:latin typeface="Cambria Math" panose="02040503050406030204" pitchFamily="18" charset="0"/>
                <a:ea typeface="Cambria Math" panose="02040503050406030204" pitchFamily="18" charset="0"/>
              </a:rPr>
              <a:t>				return true;	</a:t>
            </a:r>
          </a:p>
          <a:p>
            <a:pPr marL="0" indent="0">
              <a:spcBef>
                <a:spcPts val="300"/>
              </a:spcBef>
              <a:buNone/>
            </a:pPr>
            <a:r>
              <a:rPr lang="en-CA" sz="1600">
                <a:latin typeface="Cambria Math" panose="02040503050406030204" pitchFamily="18" charset="0"/>
                <a:ea typeface="Cambria Math" panose="02040503050406030204" pitchFamily="18" charset="0"/>
              </a:rPr>
              <a:t>		}</a:t>
            </a:r>
          </a:p>
          <a:p>
            <a:pPr marL="0" indent="0">
              <a:spcBef>
                <a:spcPts val="300"/>
              </a:spcBef>
              <a:buNone/>
            </a:pPr>
            <a:r>
              <a:rPr lang="en-CA" sz="1600">
                <a:latin typeface="Cambria Math" panose="02040503050406030204" pitchFamily="18" charset="0"/>
                <a:ea typeface="Cambria Math" panose="02040503050406030204" pitchFamily="18" charset="0"/>
              </a:rPr>
              <a:t>	} else if (liste.nb_noeuds &lt; max_length) {</a:t>
            </a:r>
          </a:p>
          <a:p>
            <a:pPr marL="0" indent="0">
              <a:spcBef>
                <a:spcPts val="300"/>
              </a:spcBef>
              <a:buNone/>
            </a:pPr>
            <a:r>
              <a:rPr lang="en-CA" sz="1600">
                <a:latin typeface="Cambria Math" panose="02040503050406030204" pitchFamily="18" charset="0"/>
                <a:ea typeface="Cambria Math" panose="02040503050406030204" pitchFamily="18" charset="0"/>
              </a:rPr>
              <a:t>		liste.push_back(val);    </a:t>
            </a:r>
            <a:r>
              <a:rPr lang="en-CA" sz="1600">
                <a:solidFill>
                  <a:schemeClr val="accent1"/>
                </a:solidFill>
                <a:latin typeface="Cambria Math" panose="02040503050406030204" pitchFamily="18" charset="0"/>
                <a:ea typeface="Cambria Math" panose="02040503050406030204" pitchFamily="18" charset="0"/>
              </a:rPr>
              <a:t>//créé le noeud val</a:t>
            </a:r>
          </a:p>
          <a:p>
            <a:pPr marL="0" indent="0">
              <a:spcBef>
                <a:spcPts val="300"/>
              </a:spcBef>
              <a:buNone/>
            </a:pPr>
            <a:r>
              <a:rPr lang="en-CA" sz="1600">
                <a:latin typeface="Cambria Math" panose="02040503050406030204" pitchFamily="18" charset="0"/>
                <a:ea typeface="Cambria Math" panose="02040503050406030204" pitchFamily="18" charset="0"/>
              </a:rPr>
              <a:t>		return true;	</a:t>
            </a:r>
          </a:p>
          <a:p>
            <a:pPr marL="0" indent="0">
              <a:spcBef>
                <a:spcPts val="300"/>
              </a:spcBef>
              <a:buNone/>
            </a:pPr>
            <a:r>
              <a:rPr lang="en-CA" sz="1600">
                <a:latin typeface="Cambria Math" panose="02040503050406030204" pitchFamily="18" charset="0"/>
                <a:ea typeface="Cambria Math" panose="02040503050406030204" pitchFamily="18" charset="0"/>
              </a:rPr>
              <a:t>	} </a:t>
            </a:r>
          </a:p>
          <a:p>
            <a:pPr marL="0" indent="0">
              <a:spcBef>
                <a:spcPts val="300"/>
              </a:spcBef>
              <a:buNone/>
            </a:pPr>
            <a:r>
              <a:rPr lang="en-CA" sz="1600">
                <a:latin typeface="Cambria Math" panose="02040503050406030204" pitchFamily="18" charset="0"/>
                <a:ea typeface="Cambria Math" panose="02040503050406030204" pitchFamily="18" charset="0"/>
              </a:rPr>
              <a:t>	return false;</a:t>
            </a:r>
          </a:p>
          <a:p>
            <a:pPr marL="0" indent="0">
              <a:spcBef>
                <a:spcPts val="300"/>
              </a:spcBef>
              <a:buNone/>
            </a:pPr>
            <a:r>
              <a:rPr lang="en-CA" sz="1600">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2222063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9F58966-C77C-C84E-8B54-9262F41E8C33}"/>
                  </a:ext>
                </a:extLst>
              </p:cNvPr>
              <p:cNvSpPr>
                <a:spLocks noGrp="1"/>
              </p:cNvSpPr>
              <p:nvPr>
                <p:ph idx="1"/>
              </p:nvPr>
            </p:nvSpPr>
            <p:spPr>
              <a:xfrm>
                <a:off x="359693" y="627534"/>
                <a:ext cx="8424614" cy="4176464"/>
              </a:xfrm>
            </p:spPr>
            <p:txBody>
              <a:bodyPr/>
              <a:lstStyle/>
              <a:p>
                <a:r>
                  <a:rPr lang="en-CA" sz="1800">
                    <a:latin typeface="Cambria Math" panose="02040503050406030204" pitchFamily="18" charset="0"/>
                    <a:ea typeface="Cambria Math" panose="02040503050406030204" pitchFamily="18" charset="0"/>
                  </a:rPr>
                  <a:t>4) Écrivez une fonction qui reçoit deux tables </a:t>
                </a:r>
                <a14:m>
                  <m:oMath xmlns:m="http://schemas.openxmlformats.org/officeDocument/2006/math">
                    <m:r>
                      <a:rPr lang="en-CA" sz="1800" i="1" smtClean="0">
                        <a:latin typeface="Cambria Math" panose="02040503050406030204" pitchFamily="18" charset="0"/>
                        <a:ea typeface="Cambria Math" panose="02040503050406030204" pitchFamily="18" charset="0"/>
                      </a:rPr>
                      <m:t>𝑡𝑎𝑏</m:t>
                    </m:r>
                    <m:r>
                      <a:rPr lang="en-CA" sz="1800" i="0" smtClean="0">
                        <a:latin typeface="Cambria Math" panose="02040503050406030204" pitchFamily="18" charset="0"/>
                        <a:ea typeface="Cambria Math" panose="02040503050406030204" pitchFamily="18" charset="0"/>
                      </a:rPr>
                      <m:t>_1</m:t>
                    </m:r>
                  </m:oMath>
                </a14:m>
                <a:r>
                  <a:rPr lang="en-CA" sz="1800">
                    <a:latin typeface="Cambria Math" panose="02040503050406030204" pitchFamily="18" charset="0"/>
                    <a:ea typeface="Cambria Math" panose="02040503050406030204" pitchFamily="18" charset="0"/>
                  </a:rPr>
                  <a:t> et </a:t>
                </a:r>
                <a14:m>
                  <m:oMath xmlns:m="http://schemas.openxmlformats.org/officeDocument/2006/math">
                    <m:r>
                      <a:rPr lang="en-CA" sz="1800" i="1" smtClean="0">
                        <a:latin typeface="Cambria Math" panose="02040503050406030204" pitchFamily="18" charset="0"/>
                        <a:ea typeface="Cambria Math" panose="02040503050406030204" pitchFamily="18" charset="0"/>
                      </a:rPr>
                      <m:t>𝑡𝑎𝑏</m:t>
                    </m:r>
                    <m:r>
                      <a:rPr lang="en-CA" sz="1800" i="1" smtClean="0">
                        <a:latin typeface="Cambria Math" panose="02040503050406030204" pitchFamily="18" charset="0"/>
                        <a:ea typeface="Cambria Math" panose="02040503050406030204" pitchFamily="18" charset="0"/>
                      </a:rPr>
                      <m:t>_2</m:t>
                    </m:r>
                  </m:oMath>
                </a14:m>
                <a:r>
                  <a:rPr lang="fr-FR" sz="1800" dirty="0">
                    <a:latin typeface="Cambria Math" panose="02040503050406030204" pitchFamily="18" charset="0"/>
                    <a:ea typeface="Cambria Math" panose="02040503050406030204" pitchFamily="18" charset="0"/>
                  </a:rPr>
                  <a:t> </a:t>
                </a:r>
                <a:r>
                  <a:rPr lang="fr-FR" sz="1800">
                    <a:latin typeface="Cambria Math" panose="02040503050406030204" pitchFamily="18" charset="0"/>
                    <a:ea typeface="Cambria Math" panose="02040503050406030204" pitchFamily="18" charset="0"/>
                  </a:rPr>
                  <a:t>non-ordonnancées contenant </a:t>
                </a:r>
                <a14:m>
                  <m:oMath xmlns:m="http://schemas.openxmlformats.org/officeDocument/2006/math">
                    <m:r>
                      <a:rPr lang="fr-FR" sz="1800" i="1" smtClean="0">
                        <a:latin typeface="Cambria Math" panose="02040503050406030204" pitchFamily="18" charset="0"/>
                        <a:ea typeface="Cambria Math" panose="02040503050406030204" pitchFamily="18" charset="0"/>
                      </a:rPr>
                      <m:t>𝑛</m:t>
                    </m:r>
                  </m:oMath>
                </a14:m>
                <a:r>
                  <a:rPr lang="fr-FR" sz="1800">
                    <a:latin typeface="Cambria Math" panose="02040503050406030204" pitchFamily="18" charset="0"/>
                    <a:ea typeface="Cambria Math" panose="02040503050406030204" pitchFamily="18" charset="0"/>
                  </a:rPr>
                  <a:t> valeurs de type </a:t>
                </a:r>
                <a:r>
                  <a:rPr lang="fr-FR" sz="1800" i="1">
                    <a:latin typeface="Cambria Math" panose="02040503050406030204" pitchFamily="18" charset="0"/>
                    <a:ea typeface="Cambria Math" panose="02040503050406030204" pitchFamily="18" charset="0"/>
                  </a:rPr>
                  <a:t>comparables</a:t>
                </a:r>
                <a:r>
                  <a:rPr lang="fr-FR" sz="1800">
                    <a:latin typeface="Cambria Math" panose="02040503050406030204" pitchFamily="18" charset="0"/>
                    <a:ea typeface="Cambria Math" panose="02040503050406030204" pitchFamily="18" charset="0"/>
                  </a:rPr>
                  <a:t>, et retourne </a:t>
                </a:r>
                <a14:m>
                  <m:oMath xmlns:m="http://schemas.openxmlformats.org/officeDocument/2006/math">
                    <m:r>
                      <a:rPr lang="fr-FR" sz="1800" i="1" smtClean="0">
                        <a:latin typeface="Cambria Math" panose="02040503050406030204" pitchFamily="18" charset="0"/>
                        <a:ea typeface="Cambria Math" panose="02040503050406030204" pitchFamily="18" charset="0"/>
                      </a:rPr>
                      <m:t>𝑡𝑎𝑏</m:t>
                    </m:r>
                    <m:r>
                      <a:rPr lang="fr-FR" sz="1800" i="1" smtClean="0">
                        <a:latin typeface="Cambria Math" panose="02040503050406030204" pitchFamily="18" charset="0"/>
                        <a:ea typeface="Cambria Math" panose="02040503050406030204" pitchFamily="18" charset="0"/>
                      </a:rPr>
                      <m:t>_1</m:t>
                    </m:r>
                  </m:oMath>
                </a14:m>
                <a:r>
                  <a:rPr lang="fr-FR" sz="1800" i="1" dirty="0">
                    <a:latin typeface="Cambria Math" panose="02040503050406030204" pitchFamily="18" charset="0"/>
                    <a:ea typeface="Cambria Math" panose="02040503050406030204" pitchFamily="18" charset="0"/>
                  </a:rPr>
                  <a:t> </a:t>
                </a:r>
                <a:r>
                  <a:rPr lang="fr-FR" sz="1800">
                    <a:latin typeface="Cambria Math" panose="02040503050406030204" pitchFamily="18" charset="0"/>
                    <a:ea typeface="Cambria Math" panose="02040503050406030204" pitchFamily="18" charset="0"/>
                  </a:rPr>
                  <a:t>contenant les </a:t>
                </a:r>
                <a14:m>
                  <m:oMath xmlns:m="http://schemas.openxmlformats.org/officeDocument/2006/math">
                    <m:r>
                      <a:rPr lang="fr-FR" sz="1800" i="1" smtClean="0">
                        <a:latin typeface="Cambria Math" panose="02040503050406030204" pitchFamily="18" charset="0"/>
                        <a:ea typeface="Cambria Math" panose="02040503050406030204" pitchFamily="18" charset="0"/>
                      </a:rPr>
                      <m:t>𝑛</m:t>
                    </m:r>
                  </m:oMath>
                </a14:m>
                <a:r>
                  <a:rPr lang="fr-FR" sz="1800">
                    <a:latin typeface="Cambria Math" panose="02040503050406030204" pitchFamily="18" charset="0"/>
                    <a:ea typeface="Cambria Math" panose="02040503050406030204" pitchFamily="18" charset="0"/>
                  </a:rPr>
                  <a:t> première valeurs en ordre croissant de </a:t>
                </a:r>
                <a14:m>
                  <m:oMath xmlns:m="http://schemas.openxmlformats.org/officeDocument/2006/math">
                    <m:r>
                      <a:rPr lang="en-CA" sz="1800" i="1">
                        <a:latin typeface="Cambria Math" panose="02040503050406030204" pitchFamily="18" charset="0"/>
                        <a:ea typeface="Cambria Math" panose="02040503050406030204" pitchFamily="18" charset="0"/>
                      </a:rPr>
                      <m:t>𝑡𝑎𝑏</m:t>
                    </m:r>
                    <m:r>
                      <a:rPr lang="en-CA" sz="1800">
                        <a:latin typeface="Cambria Math" panose="02040503050406030204" pitchFamily="18" charset="0"/>
                        <a:ea typeface="Cambria Math" panose="02040503050406030204" pitchFamily="18" charset="0"/>
                      </a:rPr>
                      <m:t>_1</m:t>
                    </m:r>
                  </m:oMath>
                </a14:m>
                <a:r>
                  <a:rPr lang="en-CA" sz="1800">
                    <a:latin typeface="Cambria Math" panose="02040503050406030204" pitchFamily="18" charset="0"/>
                    <a:ea typeface="Cambria Math" panose="02040503050406030204" pitchFamily="18" charset="0"/>
                  </a:rPr>
                  <a:t> et </a:t>
                </a:r>
                <a14:m>
                  <m:oMath xmlns:m="http://schemas.openxmlformats.org/officeDocument/2006/math">
                    <m:r>
                      <a:rPr lang="en-CA" sz="1800" i="1">
                        <a:latin typeface="Cambria Math" panose="02040503050406030204" pitchFamily="18" charset="0"/>
                        <a:ea typeface="Cambria Math" panose="02040503050406030204" pitchFamily="18" charset="0"/>
                      </a:rPr>
                      <m:t>𝑡𝑎𝑏</m:t>
                    </m:r>
                    <m:r>
                      <a:rPr lang="en-CA" sz="1800" i="1">
                        <a:latin typeface="Cambria Math" panose="02040503050406030204" pitchFamily="18" charset="0"/>
                        <a:ea typeface="Cambria Math" panose="02040503050406030204" pitchFamily="18" charset="0"/>
                      </a:rPr>
                      <m:t>_2</m:t>
                    </m:r>
                  </m:oMath>
                </a14:m>
                <a:r>
                  <a:rPr lang="fr-FR" sz="1800" i="1" dirty="0">
                    <a:latin typeface="Cambria Math" panose="02040503050406030204" pitchFamily="18" charset="0"/>
                    <a:ea typeface="Cambria Math" panose="02040503050406030204" pitchFamily="18" charset="0"/>
                  </a:rPr>
                  <a:t> </a:t>
                </a:r>
                <a:r>
                  <a:rPr lang="fr-FR" sz="1800">
                    <a:latin typeface="Cambria Math" panose="02040503050406030204" pitchFamily="18" charset="0"/>
                    <a:ea typeface="Cambria Math" panose="02040503050406030204" pitchFamily="18" charset="0"/>
                  </a:rPr>
                  <a:t>combinées. Vous ne pouvez pas instancier de nouvelles structures pour ce faire (</a:t>
                </a:r>
                <a:r>
                  <a:rPr lang="fr-FR" sz="1800" i="1">
                    <a:latin typeface="Cambria Math" panose="02040503050406030204" pitchFamily="18" charset="0"/>
                    <a:ea typeface="Cambria Math" panose="02040503050406030204" pitchFamily="18" charset="0"/>
                  </a:rPr>
                  <a:t>en place </a:t>
                </a:r>
                <a:r>
                  <a:rPr lang="fr-FR" sz="1800">
                    <a:latin typeface="Cambria Math" panose="02040503050406030204" pitchFamily="18" charset="0"/>
                    <a:ea typeface="Cambria Math" panose="02040503050406030204" pitchFamily="18" charset="0"/>
                  </a:rPr>
                  <a:t>).</a:t>
                </a:r>
              </a:p>
              <a:p>
                <a:pPr marL="0" indent="0">
                  <a:buNone/>
                </a:pPr>
                <a:endParaRPr lang="fr-FR" sz="1800">
                  <a:latin typeface="Cambria Math" panose="02040503050406030204" pitchFamily="18" charset="0"/>
                  <a:ea typeface="Cambria Math" panose="02040503050406030204" pitchFamily="18" charset="0"/>
                </a:endParaRPr>
              </a:p>
              <a:p>
                <a:pPr marL="0" indent="0">
                  <a:buNone/>
                </a:pPr>
                <a:r>
                  <a:rPr lang="fr-FR" sz="1800">
                    <a:latin typeface="Cambria Math" panose="02040503050406030204" pitchFamily="18" charset="0"/>
                    <a:ea typeface="Cambria Math" panose="02040503050406030204" pitchFamily="18" charset="0"/>
                  </a:rPr>
                  <a:t>Quicksort tab_1 (O(log n))</a:t>
                </a:r>
              </a:p>
              <a:p>
                <a:pPr marL="0" indent="0">
                  <a:buNone/>
                </a:pPr>
                <a:r>
                  <a:rPr lang="fr-FR" sz="1800">
                    <a:latin typeface="Cambria Math" panose="02040503050406030204" pitchFamily="18" charset="0"/>
                    <a:ea typeface="Cambria Math" panose="02040503050406030204" pitchFamily="18" charset="0"/>
                  </a:rPr>
                  <a:t>Quicksort tab_2 (O(log n))</a:t>
                </a:r>
              </a:p>
              <a:p>
                <a:pPr marL="0" indent="0">
                  <a:buNone/>
                </a:pPr>
                <a:r>
                  <a:rPr lang="fr-FR" sz="1800">
                    <a:latin typeface="Cambria Math" panose="02040503050406030204" pitchFamily="18" charset="0"/>
                    <a:ea typeface="Cambria Math" panose="02040503050406030204" pitchFamily="18" charset="0"/>
                  </a:rPr>
                  <a:t>Conserver ensuite une variable d'index i=0 pour tab_1. Si tab_1[i] &lt; tab_2[0], incrémenter i. Sinon, inverser tab_1[i] et tab_2[0] et si suivant cela                           tab_2[1] &lt; tab_2[0], alors Quicksort tab_2 (O(log n)).</a:t>
                </a:r>
              </a:p>
              <a:p>
                <a:pPr marL="0" indent="0">
                  <a:buNone/>
                </a:pPr>
                <a:r>
                  <a:rPr lang="fr-FR" sz="1800">
                    <a:latin typeface="Cambria Math" panose="02040503050406030204" pitchFamily="18" charset="0"/>
                    <a:ea typeface="Cambria Math" panose="02040503050406030204" pitchFamily="18" charset="0"/>
                  </a:rPr>
                  <a:t>La complexité totale de cette solution est O(n log n).</a:t>
                </a:r>
              </a:p>
              <a:p>
                <a:pPr marL="0" indent="0">
                  <a:buNone/>
                </a:pPr>
                <a:endParaRPr lang="fr-FR" sz="1800">
                  <a:latin typeface="Cambria Math" panose="02040503050406030204" pitchFamily="18" charset="0"/>
                  <a:ea typeface="Cambria Math" panose="02040503050406030204" pitchFamily="18" charset="0"/>
                </a:endParaRPr>
              </a:p>
              <a:p>
                <a:pPr marL="0" indent="0">
                  <a:buNone/>
                </a:pPr>
                <a:endParaRPr lang="fr-FR" sz="1800">
                  <a:latin typeface="Cambria Math" panose="02040503050406030204" pitchFamily="18" charset="0"/>
                  <a:ea typeface="Cambria Math" panose="02040503050406030204" pitchFamily="18" charset="0"/>
                </a:endParaRPr>
              </a:p>
              <a:p>
                <a:pPr marL="0" indent="0">
                  <a:buNone/>
                </a:pPr>
                <a:endParaRPr lang="fr-FR" sz="1800">
                  <a:latin typeface="Cambria Math" panose="02040503050406030204" pitchFamily="18" charset="0"/>
                  <a:ea typeface="Cambria Math" panose="02040503050406030204" pitchFamily="18" charset="0"/>
                </a:endParaRPr>
              </a:p>
              <a:p>
                <a:endParaRPr lang="fr-FR" sz="1800">
                  <a:latin typeface="Cambria Math" panose="02040503050406030204" pitchFamily="18" charset="0"/>
                  <a:ea typeface="Cambria Math" panose="02040503050406030204" pitchFamily="18" charset="0"/>
                </a:endParaRPr>
              </a:p>
              <a:p>
                <a:pPr marL="0" indent="0">
                  <a:buNone/>
                </a:pPr>
                <a:endParaRPr lang="fr-FR" sz="1800" dirty="0">
                  <a:latin typeface="Cambria Math" panose="02040503050406030204" pitchFamily="18" charset="0"/>
                  <a:ea typeface="Cambria Math"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9F58966-C77C-C84E-8B54-9262F41E8C33}"/>
                  </a:ext>
                </a:extLst>
              </p:cNvPr>
              <p:cNvSpPr>
                <a:spLocks noGrp="1" noRot="1" noChangeAspect="1" noMove="1" noResize="1" noEditPoints="1" noAdjustHandles="1" noChangeArrowheads="1" noChangeShapeType="1" noTextEdit="1"/>
              </p:cNvSpPr>
              <p:nvPr>
                <p:ph idx="1"/>
              </p:nvPr>
            </p:nvSpPr>
            <p:spPr>
              <a:xfrm>
                <a:off x="359693" y="627534"/>
                <a:ext cx="8424614" cy="4176464"/>
              </a:xfrm>
              <a:blipFill>
                <a:blip r:embed="rId2"/>
                <a:stretch>
                  <a:fillRect l="-1664" t="-2044"/>
                </a:stretch>
              </a:blipFill>
            </p:spPr>
            <p:txBody>
              <a:bodyPr/>
              <a:lstStyle/>
              <a:p>
                <a:r>
                  <a:rPr lang="fr-CA">
                    <a:noFill/>
                  </a:rPr>
                  <a:t> </a:t>
                </a:r>
              </a:p>
            </p:txBody>
          </p:sp>
        </mc:Fallback>
      </mc:AlternateContent>
    </p:spTree>
    <p:extLst>
      <p:ext uri="{BB962C8B-B14F-4D97-AF65-F5344CB8AC3E}">
        <p14:creationId xmlns:p14="http://schemas.microsoft.com/office/powerpoint/2010/main" val="304780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E8E8BC7-1F91-D24C-6E88-CF488231D41E}"/>
              </a:ext>
            </a:extLst>
          </p:cNvPr>
          <p:cNvSpPr>
            <a:spLocks noChangeArrowheads="1"/>
          </p:cNvSpPr>
          <p:nvPr/>
        </p:nvSpPr>
        <p:spPr bwMode="auto">
          <a:xfrm>
            <a:off x="0" y="1635646"/>
            <a:ext cx="9143999" cy="1944216"/>
          </a:xfrm>
          <a:prstGeom prst="rect">
            <a:avLst/>
          </a:prstGeom>
          <a:solidFill>
            <a:schemeClr val="bg2">
              <a:alpha val="75000"/>
            </a:schemeClr>
          </a:solidFill>
          <a:ln>
            <a:noFill/>
          </a:ln>
        </p:spPr>
        <p:txBody>
          <a:bodyPr wrap="none" lIns="0" tIns="0" rIns="0" bIns="0"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defRPr/>
            </a:pPr>
            <a:endParaRPr lang="fr-FR" altLang="fr-FR">
              <a:solidFill>
                <a:srgbClr val="000000"/>
              </a:solidFill>
            </a:endParaRPr>
          </a:p>
        </p:txBody>
      </p:sp>
      <p:sp>
        <p:nvSpPr>
          <p:cNvPr id="15" name="Titre 1">
            <a:extLst>
              <a:ext uri="{FF2B5EF4-FFF2-40B4-BE49-F238E27FC236}">
                <a16:creationId xmlns:a16="http://schemas.microsoft.com/office/drawing/2014/main" id="{5C4CAD75-7163-66FC-CDEB-89F487273CB3}"/>
              </a:ext>
            </a:extLst>
          </p:cNvPr>
          <p:cNvSpPr>
            <a:spLocks noGrp="1"/>
          </p:cNvSpPr>
          <p:nvPr>
            <p:ph type="ctrTitle"/>
          </p:nvPr>
        </p:nvSpPr>
        <p:spPr>
          <a:xfrm>
            <a:off x="827585" y="2166705"/>
            <a:ext cx="7488832" cy="810090"/>
          </a:xfrm>
        </p:spPr>
        <p:txBody>
          <a:bodyPr anchor="ctr"/>
          <a:lstStyle/>
          <a:p>
            <a:pPr algn="ctr"/>
            <a:r>
              <a:rPr lang="fr-FR" sz="3600">
                <a:solidFill>
                  <a:srgbClr val="FFFFFF"/>
                </a:solidFill>
              </a:rPr>
              <a:t>EXCELLENTE FIN DE SESSION ET UN JOYEUX TEMPS DES FÊTES                                À TOUS ET À TOUTES</a:t>
            </a:r>
            <a:endParaRPr lang="fr-FR" sz="3600" dirty="0">
              <a:solidFill>
                <a:srgbClr val="FFFFFF"/>
              </a:solidFill>
            </a:endParaRPr>
          </a:p>
        </p:txBody>
      </p:sp>
    </p:spTree>
    <p:extLst>
      <p:ext uri="{BB962C8B-B14F-4D97-AF65-F5344CB8AC3E}">
        <p14:creationId xmlns:p14="http://schemas.microsoft.com/office/powerpoint/2010/main" val="1795931876"/>
      </p:ext>
    </p:extLst>
  </p:cSld>
  <p:clrMapOvr>
    <a:masterClrMapping/>
  </p:clrMapOvr>
</p:sld>
</file>

<file path=ppt/theme/theme1.xml><?xml version="1.0" encoding="utf-8"?>
<a:theme xmlns:a="http://schemas.openxmlformats.org/drawingml/2006/main" name="ThèmeUdeS">
  <a:themeElements>
    <a:clrScheme name="ThemeUdeS_2021">
      <a:dk1>
        <a:srgbClr val="000000"/>
      </a:dk1>
      <a:lt1>
        <a:srgbClr val="00A955"/>
      </a:lt1>
      <a:dk2>
        <a:srgbClr val="48695C"/>
      </a:dk2>
      <a:lt2>
        <a:srgbClr val="447C59"/>
      </a:lt2>
      <a:accent1>
        <a:srgbClr val="3C8F58"/>
      </a:accent1>
      <a:accent2>
        <a:srgbClr val="59AD55"/>
      </a:accent2>
      <a:accent3>
        <a:srgbClr val="79B551"/>
      </a:accent3>
      <a:accent4>
        <a:srgbClr val="95C14E"/>
      </a:accent4>
      <a:accent5>
        <a:srgbClr val="717868"/>
      </a:accent5>
      <a:accent6>
        <a:srgbClr val="E5A938"/>
      </a:accent6>
      <a:hlink>
        <a:srgbClr val="1D1D1D"/>
      </a:hlink>
      <a:folHlink>
        <a:srgbClr val="9DAF8A"/>
      </a:folHlink>
    </a:clrScheme>
    <a:fontScheme name="pale">
      <a:majorFont>
        <a:latin typeface="Arial"/>
        <a:ea typeface="ＭＳ Ｐゴシック"/>
        <a:cs typeface="ＭＳ Ｐゴシック"/>
      </a:majorFont>
      <a:minorFont>
        <a:latin typeface="Arial"/>
        <a:ea typeface="ＭＳ Ｐゴシック"/>
        <a:cs typeface="ＭＳ Ｐゴシック"/>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pa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al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al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al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al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al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al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al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al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al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al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al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UdeS" id="{21D65A03-64AD-0F4D-A473-D500D424A07F}" vid="{E3B1D666-46DF-864A-9622-C0FA368154B9}"/>
    </a:ext>
  </a:ext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9230</TotalTime>
  <Words>1183</Words>
  <Application>Microsoft Office PowerPoint</Application>
  <PresentationFormat>Affichage à l'écran (16:9)</PresentationFormat>
  <Paragraphs>59</Paragraphs>
  <Slides>11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Arial</vt:lpstr>
      <vt:lpstr>Arial Narrow</vt:lpstr>
      <vt:lpstr>Cambria Math</vt:lpstr>
      <vt:lpstr>Lucida Grande</vt:lpstr>
      <vt:lpstr>Wingdings</vt:lpstr>
      <vt:lpstr>ThèmeUdeS</vt:lpstr>
      <vt:lpstr>IFT-339 STRUCTURES DE DONNÉES  DERNIER COURS!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EXCELLENTE FIN DE SESSION ET UN JOYEUX TEMPS DES FÊTES                                À TOUS ET À TOUTES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 créatif : pour travailler autrement dans votre organisation</dc:title>
  <dc:creator>Utilisateur de Microsoft Office</dc:creator>
  <cp:lastModifiedBy>Francis Sarrazin</cp:lastModifiedBy>
  <cp:revision>84</cp:revision>
  <cp:lastPrinted>2017-10-30T18:08:19Z</cp:lastPrinted>
  <dcterms:created xsi:type="dcterms:W3CDTF">2017-10-17T15:18:22Z</dcterms:created>
  <dcterms:modified xsi:type="dcterms:W3CDTF">2024-12-04T20:48:24Z</dcterms:modified>
</cp:coreProperties>
</file>