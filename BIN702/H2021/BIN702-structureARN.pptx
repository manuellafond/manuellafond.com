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94" r:id="rId2"/>
  </p:sldMasterIdLst>
  <p:notesMasterIdLst>
    <p:notesMasterId r:id="rId38"/>
  </p:notesMasterIdLst>
  <p:handoutMasterIdLst>
    <p:handoutMasterId r:id="rId39"/>
  </p:handoutMasterIdLst>
  <p:sldIdLst>
    <p:sldId id="376" r:id="rId3"/>
    <p:sldId id="381" r:id="rId4"/>
    <p:sldId id="382" r:id="rId5"/>
    <p:sldId id="384" r:id="rId6"/>
    <p:sldId id="383" r:id="rId7"/>
    <p:sldId id="385" r:id="rId8"/>
    <p:sldId id="386" r:id="rId9"/>
    <p:sldId id="387" r:id="rId10"/>
    <p:sldId id="388" r:id="rId11"/>
    <p:sldId id="378" r:id="rId12"/>
    <p:sldId id="379" r:id="rId13"/>
    <p:sldId id="380" r:id="rId14"/>
    <p:sldId id="389" r:id="rId15"/>
    <p:sldId id="390" r:id="rId16"/>
    <p:sldId id="394" r:id="rId17"/>
    <p:sldId id="395" r:id="rId18"/>
    <p:sldId id="396" r:id="rId19"/>
    <p:sldId id="392" r:id="rId20"/>
    <p:sldId id="397" r:id="rId21"/>
    <p:sldId id="398" r:id="rId22"/>
    <p:sldId id="399" r:id="rId23"/>
    <p:sldId id="400" r:id="rId24"/>
    <p:sldId id="408" r:id="rId25"/>
    <p:sldId id="401" r:id="rId26"/>
    <p:sldId id="403" r:id="rId27"/>
    <p:sldId id="404" r:id="rId28"/>
    <p:sldId id="415" r:id="rId29"/>
    <p:sldId id="405" r:id="rId30"/>
    <p:sldId id="406" r:id="rId31"/>
    <p:sldId id="410" r:id="rId32"/>
    <p:sldId id="413" r:id="rId33"/>
    <p:sldId id="412" r:id="rId34"/>
    <p:sldId id="411" r:id="rId35"/>
    <p:sldId id="409" r:id="rId36"/>
    <p:sldId id="407" r:id="rId37"/>
  </p:sldIdLst>
  <p:sldSz cx="9144000" cy="6858000" type="screen4x3"/>
  <p:notesSz cx="6858000" cy="9144000"/>
  <p:defaultTextStyle>
    <a:defPPr>
      <a:defRPr lang="en-US"/>
    </a:defPPr>
    <a:lvl1pPr marL="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603" autoAdjust="0"/>
    <p:restoredTop sz="94434" autoAdjust="0"/>
  </p:normalViewPr>
  <p:slideViewPr>
    <p:cSldViewPr>
      <p:cViewPr varScale="1">
        <p:scale>
          <a:sx n="107" d="100"/>
          <a:sy n="107" d="100"/>
        </p:scale>
        <p:origin x="1482" y="1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7794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4" d="100"/>
          <a:sy n="54" d="100"/>
        </p:scale>
        <p:origin x="1962" y="7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tableStyles" Target="tableStyle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0F4884-FA1C-4995-8A4E-60159F256AB3}" type="datetimeFigureOut">
              <a:rPr lang="en-US" smtClean="0"/>
              <a:t>11/26/2019</a:t>
            </a:fld>
            <a:endParaRPr lang="en-US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9F0E3F-FDA4-4DDF-9476-C4A861DC47CE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8666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l" latinLnBrk="0">
              <a:defRPr lang="fr-FR"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r" latinLnBrk="0">
              <a:defRPr lang="fr-FR" sz="1200"/>
            </a:lvl1pPr>
          </a:lstStyle>
          <a:p>
            <a:fld id="{2447E72A-D913-4DC2-9E0A-E520CE8FCC86}" type="datetimeFigureOut">
              <a:rPr lang="en-US"/>
              <a:pPr/>
              <a:t>11/26/2019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l" latinLnBrk="0">
              <a:defRPr lang="fr-FR" sz="12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r" latinLnBrk="0">
              <a:defRPr lang="fr-FR" sz="1200"/>
            </a:lvl1pPr>
          </a:lstStyle>
          <a:p>
            <a:fld id="{A5D78FC6-CE17-4259-A63C-DDFC12E048FC}" type="slidenum">
              <a:rPr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730747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rtl="0" latinLnBrk="0">
      <a:defRPr lang="fr-FR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>
      <a:defRPr lang="fr-FR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>
      <a:defRPr lang="fr-FR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>
      <a:defRPr lang="fr-FR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>
      <a:defRPr lang="fr-FR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>
      <a:defRPr lang="fr-FR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>
      <a:defRPr lang="fr-FR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>
      <a:defRPr lang="fr-FR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>
      <a:defRPr lang="fr-FR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fr-FR"/>
          </a:p>
        </p:txBody>
      </p:sp>
      <p:sp>
        <p:nvSpPr>
          <p:cNvPr id="10" name="Rectangle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fr-FR"/>
          </a:p>
        </p:txBody>
      </p:sp>
      <p:sp>
        <p:nvSpPr>
          <p:cNvPr id="11" name="Rectangle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fr-FR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 latinLnBrk="0">
              <a:defRPr lang="fr-FR" cap="all" baseline="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 latinLnBrk="0">
              <a:buNone/>
              <a:defRPr lang="fr-FR"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 latinLnBrk="0">
              <a:defRPr lang="fr-FR" sz="2000">
                <a:solidFill>
                  <a:srgbClr val="FFFFFF"/>
                </a:solidFill>
              </a:defRPr>
            </a:lvl1pPr>
          </a:lstStyle>
          <a:p>
            <a:pPr algn="ctr"/>
            <a:fld id="{743653DA-8BF4-4869-96FE-9BCF43372D46}" type="datetime8">
              <a:rPr lang="en-US"/>
              <a:pPr algn="ctr"/>
              <a:t>11/26/2019 10:16 AM</a:t>
            </a:fld>
            <a:endParaRPr lang="fr-FR" sz="2000">
              <a:solidFill>
                <a:srgbClr val="FFFFFF"/>
              </a:solidFill>
            </a:endParaRPr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 latinLnBrk="0">
              <a:defRPr lang="fr-FR">
                <a:solidFill>
                  <a:schemeClr val="tx2"/>
                </a:solidFill>
              </a:defRPr>
            </a:lvl1pPr>
          </a:lstStyle>
          <a:p>
            <a:pPr algn="r"/>
            <a:endParaRPr lang="fr-FR">
              <a:solidFill>
                <a:schemeClr val="tx2"/>
              </a:solidFill>
            </a:endParaRPr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 latinLnBrk="0">
              <a:defRPr lang="fr-FR">
                <a:solidFill>
                  <a:schemeClr val="tx2"/>
                </a:solidFill>
              </a:defRPr>
            </a:lvl1pPr>
          </a:lstStyle>
          <a:p>
            <a:fld id="{72AC53DF-4216-466D-99A7-94400E6C2A25}" type="slidenum">
              <a:rPr/>
              <a:pPr/>
              <a:t>‹N°›</a:t>
            </a:fld>
            <a:endParaRPr lang="fr-FR">
              <a:solidFill>
                <a:schemeClr val="tx2"/>
              </a:solidFill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60324"/>
            <a:ext cx="8153400" cy="762000"/>
          </a:xfrm>
        </p:spPr>
        <p:txBody>
          <a:bodyPr/>
          <a:lstStyle>
            <a:lvl1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29108-AC8D-4212-9283-60D9E99BF07A}" type="datetime8">
              <a:rPr lang="en-US"/>
              <a:pPr/>
              <a:t>11/26/2019 10:16 AM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latinLnBrk="0">
              <a:defRPr lang="fr-FR">
                <a:solidFill>
                  <a:srgbClr val="FFFFFF"/>
                </a:solidFill>
              </a:defRPr>
            </a:lvl1pPr>
          </a:lstStyle>
          <a:p>
            <a:fld id="{1AD93096-5B34-4342-9326-69289CEAE4C2}" type="slidenum">
              <a:rPr/>
              <a:pPr/>
              <a:t>‹N°›</a:t>
            </a:fld>
            <a:endParaRPr lang="fr-FR">
              <a:solidFill>
                <a:srgbClr val="FFFFFF"/>
              </a:solidFill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>
            <a:lvl1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5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latinLnBrk="0">
              <a:buNone/>
              <a:defRPr lang="fr-FR" sz="2800">
                <a:solidFill>
                  <a:schemeClr val="tx2"/>
                </a:solidFill>
              </a:defRPr>
            </a:lvl1pPr>
            <a:lvl2pPr>
              <a:buNone/>
              <a:defRPr lang="fr-FR"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lang="fr-FR"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lang="fr-FR"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lang="fr-FR"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fr-FR"/>
          </a:p>
        </p:txBody>
      </p:sp>
      <p:sp>
        <p:nvSpPr>
          <p:cNvPr id="8" name="Rectangle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fr-FR"/>
          </a:p>
        </p:txBody>
      </p:sp>
      <p:sp>
        <p:nvSpPr>
          <p:cNvPr id="9" name="Rectangle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fr-F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 latinLnBrk="0">
              <a:buNone/>
              <a:defRPr lang="fr-FR" sz="4400" b="0" cap="none">
                <a:solidFill>
                  <a:srgbClr val="FFFFFF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ED3D3-6235-4F4C-B439-DF277FB555A7}" type="datetime8">
              <a:rPr lang="en-US"/>
              <a:pPr/>
              <a:t>11/26/2019 10:16 AM</a:t>
            </a:fld>
            <a:endParaRPr lang="fr-FR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 latinLnBrk="0">
              <a:defRPr lang="fr-FR" sz="2400">
                <a:solidFill>
                  <a:srgbClr val="FFFFFF"/>
                </a:solidFill>
              </a:defRPr>
            </a:lvl1pPr>
          </a:lstStyle>
          <a:p>
            <a:pPr algn="ctr"/>
            <a:fld id="{1AD93096-5B34-4342-9326-69289CEAE4C2}" type="slidenum">
              <a:rPr/>
              <a:pPr algn="ctr"/>
              <a:t>‹N°›</a:t>
            </a:fld>
            <a:endParaRPr lang="fr-FR" sz="2400">
              <a:solidFill>
                <a:srgbClr val="FFFFFF"/>
              </a:solidFill>
            </a:endParaRPr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>
            <a:lvl1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5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>
            <a:lvl1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2pPr>
            <a:lvl3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3pPr>
            <a:lvl4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4pPr>
            <a:lvl5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5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3B5F1E3E-4B2F-4895-B65E-28B2E64F39F6}" type="datetime8">
              <a:rPr lang="en-US"/>
              <a:pPr/>
              <a:t>11/26/2019 10:16 AM</a:t>
            </a:fld>
            <a:endParaRPr lang="fr-FR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algn="ctr"/>
            <a:fld id="{1AD93096-5B34-4342-9326-69289CEAE4C2}" type="slidenum">
              <a:rPr/>
              <a:pPr algn="ctr"/>
              <a:t>‹N°›</a:t>
            </a:fld>
            <a:endParaRPr lang="fr-FR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 latinLnBrk="0">
              <a:defRPr lang="fr-FR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63085435-8225-4333-BFFA-0096413F0D76}" type="datetime8">
              <a:rPr lang="en-US"/>
              <a:pPr/>
              <a:t>11/26/2019 10:16 AM</a:t>
            </a:fld>
            <a:endParaRPr lang="fr-FR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algn="ctr"/>
            <a:fld id="{1AD93096-5B34-4342-9326-69289CEAE4C2}" type="slidenum">
              <a:rPr/>
              <a:pPr algn="ctr"/>
              <a:t>‹N°›</a:t>
            </a:fld>
            <a:endParaRPr lang="fr-FR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fr-FR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 latinLnBrk="0">
              <a:buFontTx/>
              <a:buNone/>
              <a:defRPr lang="fr-FR"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 latinLnBrk="0">
              <a:buFontTx/>
              <a:buNone/>
              <a:defRPr lang="fr-FR"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fr-FR"/>
              <a:t>Modifiez les styles du texte du masque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C494-2A87-468C-A21B-CB14FB9ABB00}" type="datetime8">
              <a:rPr lang="en-US"/>
              <a:pPr/>
              <a:t>11/26/2019 10:16 AM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latinLnBrk="0">
              <a:defRPr lang="fr-FR">
                <a:solidFill>
                  <a:srgbClr val="FFFFFF"/>
                </a:solidFill>
              </a:defRPr>
            </a:lvl1pPr>
          </a:lstStyle>
          <a:p>
            <a:fld id="{1AD93096-5B34-4342-9326-69289CEAE4C2}" type="slidenum">
              <a:rPr/>
              <a:pPr/>
              <a:t>‹N°›</a:t>
            </a:fld>
            <a:endParaRPr lang="fr-FR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80FA0-5B31-4864-A2BB-719EA5A679C6}" type="datetime8">
              <a:rPr lang="en-US"/>
              <a:pPr/>
              <a:t>11/26/2019 10:16 AM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 latinLnBrk="0">
              <a:defRPr lang="fr-FR">
                <a:solidFill>
                  <a:schemeClr val="tx2"/>
                </a:solidFill>
              </a:defRPr>
            </a:lvl1pPr>
          </a:lstStyle>
          <a:p>
            <a:fld id="{1AD93096-5B34-4342-9326-69289CEAE4C2}" type="slidenum">
              <a:rPr/>
              <a:pPr/>
              <a:t>‹N°›</a:t>
            </a:fld>
            <a:endParaRPr lang="fr-FR">
              <a:solidFill>
                <a:schemeClr val="tx2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 latinLnBrk="0">
              <a:buNone/>
              <a:defRPr lang="fr-FR" sz="4400" b="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CC0C8-36B8-442A-833D-B6AACE86BB77}" type="datetime8">
              <a:rPr lang="en-US"/>
              <a:pPr/>
              <a:t>11/26/2019 10:16 AM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latinLnBrk="0">
              <a:defRPr lang="fr-FR">
                <a:solidFill>
                  <a:srgbClr val="FFFFFF"/>
                </a:solidFill>
              </a:defRPr>
            </a:lvl1pPr>
          </a:lstStyle>
          <a:p>
            <a:fld id="{1AD93096-5B34-4342-9326-69289CEAE4C2}" type="slidenum">
              <a:rPr/>
              <a:pPr/>
              <a:t>‹N°›</a:t>
            </a:fld>
            <a:endParaRPr lang="fr-FR">
              <a:solidFill>
                <a:srgbClr val="FFFFFF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 latinLnBrk="0">
              <a:spcAft>
                <a:spcPts val="1000"/>
              </a:spcAft>
              <a:buNone/>
              <a:defRPr lang="fr-FR" sz="1800"/>
            </a:lvl1pPr>
            <a:lvl2pPr>
              <a:buNone/>
              <a:defRPr lang="fr-FR" sz="1200"/>
            </a:lvl2pPr>
            <a:lvl3pPr>
              <a:buNone/>
              <a:defRPr lang="fr-FR" sz="1000"/>
            </a:lvl3pPr>
            <a:lvl4pPr>
              <a:buNone/>
              <a:defRPr lang="fr-FR" sz="900"/>
            </a:lvl4pPr>
            <a:lvl5pPr>
              <a:buNone/>
              <a:defRPr lang="fr-FR" sz="900"/>
            </a:lvl5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 latinLnBrk="0">
              <a:buFontTx/>
              <a:buNone/>
              <a:defRPr lang="fr-FR" sz="1700"/>
            </a:lvl1pPr>
            <a:lvl2pPr>
              <a:buFontTx/>
              <a:buNone/>
              <a:defRPr lang="fr-FR" sz="1200"/>
            </a:lvl2pPr>
            <a:lvl3pPr>
              <a:buFontTx/>
              <a:buNone/>
              <a:defRPr lang="fr-FR" sz="1000"/>
            </a:lvl3pPr>
            <a:lvl4pPr>
              <a:buFontTx/>
              <a:buNone/>
              <a:defRPr lang="fr-FR" sz="900"/>
            </a:lvl4pPr>
            <a:lvl5pPr>
              <a:buFontTx/>
              <a:buNone/>
              <a:defRPr lang="fr-FR" sz="900"/>
            </a:lvl5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8" name="Rectangle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fr-FR"/>
          </a:p>
        </p:txBody>
      </p:sp>
      <p:sp>
        <p:nvSpPr>
          <p:cNvPr id="9" name="Rectangle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fr-FR"/>
          </a:p>
        </p:txBody>
      </p:sp>
      <p:sp>
        <p:nvSpPr>
          <p:cNvPr id="10" name="Rectangle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fr-F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 latinLnBrk="0">
              <a:buNone/>
              <a:defRPr lang="fr-FR" sz="2800" b="0">
                <a:solidFill>
                  <a:srgbClr val="FFFFFF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11" name="Rectangle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fr-FR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51E20EC5-AC53-4169-941E-EDF10CD23748}" type="datetime8">
              <a:rPr lang="en-US"/>
              <a:pPr/>
              <a:t>11/26/2019 10:16 AM</a:t>
            </a:fld>
            <a:endParaRPr lang="fr-FR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 latinLnBrk="0">
              <a:defRPr lang="fr-FR" sz="2800"/>
            </a:lvl1pPr>
          </a:lstStyle>
          <a:p>
            <a:pPr algn="ctr"/>
            <a:fld id="{1AD93096-5B34-4342-9326-69289CEAE4C2}" type="slidenum">
              <a:rPr/>
              <a:pPr algn="ctr"/>
              <a:t>‹N°›</a:t>
            </a:fld>
            <a:endParaRPr lang="fr-FR" sz="2800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fr-F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 latinLnBrk="0">
              <a:buNone/>
              <a:defRPr lang="fr-FR" sz="3200"/>
            </a:lvl1pPr>
          </a:lstStyle>
          <a:p>
            <a:r>
              <a:rPr lang="fr-FR"/>
              <a:t>Cliquez sur l'icône pour ajouter une image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816DF-213E-421B-92D3-C068DBB023D6}" type="datetime8">
              <a:rPr lang="fr-FR">
                <a:solidFill>
                  <a:schemeClr val="tx2"/>
                </a:solidFill>
              </a:rPr>
              <a:pPr/>
              <a:t>26/11/2019 10:16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C53DF-4216-466D-99A7-94400E6C2A25}" type="slidenum">
              <a:rPr lang="fr-FR" sz="1200">
                <a:solidFill>
                  <a:schemeClr val="tx2"/>
                </a:solidFill>
              </a:rPr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re vertical et tex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8D3816DF-213E-421B-92D3-C068DBB023D6}" type="datetime8">
              <a:rPr lang="fr-FR">
                <a:solidFill>
                  <a:schemeClr val="tx2"/>
                </a:solidFill>
              </a:rPr>
              <a:pPr/>
              <a:t>26/11/2019 10:16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fr-FR"/>
          </a:p>
        </p:txBody>
      </p:sp>
      <p:sp>
        <p:nvSpPr>
          <p:cNvPr id="7" name="Rectangle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Rectangle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72AC53DF-4216-466D-99A7-94400E6C2A25}" type="slidenum">
              <a:rPr lang="fr-FR" sz="1200">
                <a:solidFill>
                  <a:schemeClr val="tx2"/>
                </a:solidFill>
              </a:rPr>
              <a:pPr/>
              <a:t>‹N°›</a:t>
            </a:fld>
            <a:endParaRPr lang="fr-F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566530" y="228600"/>
            <a:ext cx="8153400" cy="609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lang="fr-FR" dirty="0"/>
              <a:t>Cliquez pour modifier le style du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579783" y="1234440"/>
            <a:ext cx="8153400" cy="5090159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  <a:p>
            <a:pPr lvl="5"/>
            <a:r>
              <a:rPr lang="fr-FR" dirty="0"/>
              <a:t>Sixième niveau</a:t>
            </a:r>
          </a:p>
          <a:p>
            <a:pPr lvl="6"/>
            <a:r>
              <a:rPr lang="fr-FR" dirty="0"/>
              <a:t>Septième niveau</a:t>
            </a:r>
          </a:p>
          <a:p>
            <a:pPr lvl="7"/>
            <a:r>
              <a:rPr lang="fr-FR" dirty="0"/>
              <a:t>Huitième niveau</a:t>
            </a:r>
          </a:p>
          <a:p>
            <a:pPr lvl="8"/>
            <a:r>
              <a:rPr lang="fr-FR" dirty="0"/>
              <a:t>Neuvième niveau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66183" y="6492875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latinLnBrk="0">
              <a:defRPr lang="fr-FR" sz="1400">
                <a:solidFill>
                  <a:schemeClr val="tx2"/>
                </a:solidFill>
              </a:defRPr>
            </a:lvl1pPr>
          </a:lstStyle>
          <a:p>
            <a:fld id="{8D3816DF-213E-421B-92D3-C068DBB023D6}" type="datetime8">
              <a:rPr lang="fr-FR">
                <a:solidFill>
                  <a:schemeClr val="tx2"/>
                </a:solidFill>
              </a:rPr>
              <a:pPr/>
              <a:t>26/11/2019 10:16</a:t>
            </a:fld>
            <a:endParaRPr lang="fr-FR" sz="1400">
              <a:solidFill>
                <a:schemeClr val="tx2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13741" y="6492875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latinLnBrk="0">
              <a:defRPr lang="fr-FR" sz="1400">
                <a:solidFill>
                  <a:schemeClr val="tx2"/>
                </a:solidFill>
              </a:defRPr>
            </a:lvl1pPr>
          </a:lstStyle>
          <a:p>
            <a:pPr algn="r"/>
            <a:endParaRPr lang="fr-FR" sz="1400">
              <a:solidFill>
                <a:schemeClr val="tx2"/>
              </a:solidFill>
            </a:endParaRPr>
          </a:p>
        </p:txBody>
      </p:sp>
      <p:sp>
        <p:nvSpPr>
          <p:cNvPr id="7" name="Rectangle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fr-FR"/>
          </a:p>
        </p:txBody>
      </p:sp>
      <p:sp>
        <p:nvSpPr>
          <p:cNvPr id="8" name="Rectangle 7"/>
          <p:cNvSpPr/>
          <p:nvPr/>
        </p:nvSpPr>
        <p:spPr>
          <a:xfrm>
            <a:off x="0" y="830262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fr-FR"/>
          </a:p>
        </p:txBody>
      </p:sp>
      <p:sp>
        <p:nvSpPr>
          <p:cNvPr id="9" name="Rectangle 8"/>
          <p:cNvSpPr/>
          <p:nvPr/>
        </p:nvSpPr>
        <p:spPr>
          <a:xfrm>
            <a:off x="590550" y="830262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fr-FR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822324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latinLnBrk="0">
              <a:defRPr lang="fr-FR" sz="1400" b="1">
                <a:solidFill>
                  <a:srgbClr val="FFFFFF"/>
                </a:solidFill>
              </a:defRPr>
            </a:lvl1pPr>
          </a:lstStyle>
          <a:p>
            <a:pPr algn="ctr"/>
            <a:fld id="{72AC53DF-4216-466D-99A7-94400E6C2A25}" type="slidenum">
              <a:rPr lang="fr-FR" sz="1200">
                <a:solidFill>
                  <a:schemeClr val="tx2"/>
                </a:solidFill>
              </a:rPr>
              <a:pPr algn="ctr"/>
              <a:t>‹N°›</a:t>
            </a:fld>
            <a:endParaRPr lang="fr-FR" sz="1400" b="1" dirty="0">
              <a:solidFill>
                <a:srgbClr val="FFFFFF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</p:sldLayoutIdLst>
  <p:txStyles>
    <p:titleStyle>
      <a:lvl1pPr algn="l" rtl="0" eaLnBrk="1" latinLnBrk="0" hangingPunct="1">
        <a:spcBef>
          <a:spcPct val="0"/>
        </a:spcBef>
        <a:buNone/>
        <a:defRPr lang="fr-FR" sz="4400" kern="1200">
          <a:solidFill>
            <a:schemeClr val="tx2"/>
          </a:solidFill>
          <a:latin typeface="Cambria" panose="02040503050406030204" pitchFamily="18" charset="0"/>
          <a:ea typeface="Cambria" panose="02040503050406030204" pitchFamily="18" charset="0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lang="fr-FR" sz="2900" kern="1200">
          <a:solidFill>
            <a:schemeClr val="tx1"/>
          </a:solidFill>
          <a:latin typeface="Cambria" panose="02040503050406030204" pitchFamily="18" charset="0"/>
          <a:ea typeface="Cambria" panose="02040503050406030204" pitchFamily="18" charset="0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lang="fr-FR" sz="2600" kern="1200">
          <a:solidFill>
            <a:schemeClr val="tx1"/>
          </a:solidFill>
          <a:latin typeface="Cambria" panose="02040503050406030204" pitchFamily="18" charset="0"/>
          <a:ea typeface="Cambria" panose="02040503050406030204" pitchFamily="18" charset="0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lang="fr-FR" sz="2300" kern="1200">
          <a:solidFill>
            <a:schemeClr val="tx1"/>
          </a:solidFill>
          <a:latin typeface="Cambria" panose="02040503050406030204" pitchFamily="18" charset="0"/>
          <a:ea typeface="Cambria" panose="02040503050406030204" pitchFamily="18" charset="0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lang="fr-FR" sz="2000" kern="1200">
          <a:solidFill>
            <a:schemeClr val="tx1"/>
          </a:solidFill>
          <a:latin typeface="Cambria" panose="02040503050406030204" pitchFamily="18" charset="0"/>
          <a:ea typeface="Cambria" panose="02040503050406030204" pitchFamily="18" charset="0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lang="fr-FR" sz="2000" kern="1200">
          <a:solidFill>
            <a:schemeClr val="tx1"/>
          </a:solidFill>
          <a:latin typeface="Cambria" panose="02040503050406030204" pitchFamily="18" charset="0"/>
          <a:ea typeface="Cambria" panose="02040503050406030204" pitchFamily="18" charset="0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lang="fr-FR" sz="1800" kern="1200" baseline="0">
          <a:solidFill>
            <a:schemeClr val="tx1"/>
          </a:solidFill>
          <a:latin typeface="Cambria" panose="02040503050406030204" pitchFamily="18" charset="0"/>
          <a:ea typeface="Cambria" panose="02040503050406030204" pitchFamily="18" charset="0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lang="fr-FR" sz="1800" kern="1200" baseline="0">
          <a:solidFill>
            <a:schemeClr val="tx1"/>
          </a:solidFill>
          <a:latin typeface="Cambria" panose="02040503050406030204" pitchFamily="18" charset="0"/>
          <a:ea typeface="Cambria" panose="02040503050406030204" pitchFamily="18" charset="0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lang="fr-FR" sz="1800" kern="1200" baseline="0">
          <a:solidFill>
            <a:schemeClr val="tx1"/>
          </a:solidFill>
          <a:latin typeface="Cambria" panose="02040503050406030204" pitchFamily="18" charset="0"/>
          <a:ea typeface="Cambria" panose="02040503050406030204" pitchFamily="18" charset="0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lang="fr-FR" sz="1800" kern="1200" baseline="0">
          <a:solidFill>
            <a:schemeClr val="tx1"/>
          </a:solidFill>
          <a:latin typeface="Cambria" panose="02040503050406030204" pitchFamily="18" charset="0"/>
          <a:ea typeface="Cambria" panose="02040503050406030204" pitchFamily="18" charset="0"/>
          <a:cs typeface="+mn-cs"/>
        </a:defRPr>
      </a:lvl9pPr>
    </p:bodyStyle>
    <p:otherStyle>
      <a:lvl1pPr marL="0" algn="l" rtl="0" eaLnBrk="1" latinLnBrk="0" hangingPunct="1">
        <a:defRPr lang="fr-FR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hangingPunct="1">
        <a:defRPr lang="fr-FR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hangingPunct="1">
        <a:defRPr lang="fr-FR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hangingPunct="1">
        <a:defRPr lang="fr-FR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hangingPunct="1">
        <a:defRPr lang="fr-FR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hangingPunct="1">
        <a:defRPr lang="fr-FR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hangingPunct="1">
        <a:defRPr lang="fr-FR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hangingPunct="1">
        <a:defRPr lang="fr-FR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hangingPunct="1">
        <a:defRPr lang="fr-FR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lowelab.ucsc.edu/tRNAscan-SE/image/3D-tRNA-lowelab.png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lowelab.ucsc.edu/tRNAscan-SE/image/3D-tRNA-lowelab.png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news.illinois.edu/files/6367/206368/44394.jpg" TargetMode="Externa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news.illinois.edu/files/6367/206368/44394.jpg" TargetMode="Externa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fr-CA" dirty="0"/>
              <a:t>Manuel Lafond</a:t>
            </a:r>
            <a:r>
              <a:rPr lang="fr-CA"/>
              <a:t>, Université de Sherbrooke</a:t>
            </a:r>
            <a:endParaRPr lang="en-US" dirty="0"/>
          </a:p>
        </p:txBody>
      </p:sp>
      <p:cxnSp>
        <p:nvCxnSpPr>
          <p:cNvPr id="6" name="Connecteur droit 5"/>
          <p:cNvCxnSpPr/>
          <p:nvPr/>
        </p:nvCxnSpPr>
        <p:spPr>
          <a:xfrm>
            <a:off x="1219200" y="3295650"/>
            <a:ext cx="6781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1"/>
          <p:cNvSpPr>
            <a:spLocks noGrp="1"/>
          </p:cNvSpPr>
          <p:nvPr>
            <p:ph type="ctrTitle"/>
          </p:nvPr>
        </p:nvSpPr>
        <p:spPr>
          <a:xfrm>
            <a:off x="152400" y="1390650"/>
            <a:ext cx="8991600" cy="1905000"/>
          </a:xfrm>
        </p:spPr>
        <p:txBody>
          <a:bodyPr>
            <a:normAutofit/>
          </a:bodyPr>
          <a:lstStyle/>
          <a:p>
            <a:r>
              <a:rPr lang="fr-FR" b="1">
                <a:solidFill>
                  <a:srgbClr val="FFC000"/>
                </a:solidFill>
              </a:rPr>
              <a:t>Introduction à la Prédiction de structures d'ARN</a:t>
            </a:r>
            <a:endParaRPr lang="fr-FR" b="1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11690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67586E3-2C40-4C79-ADB1-69715D47D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229B929-14AE-48B0-A50B-A08075BDA090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CA"/>
              <a:t>Vous vous rappelez que l'ADN est transcrit en ARN.</a:t>
            </a:r>
          </a:p>
          <a:p>
            <a:r>
              <a:rPr lang="fr-CA"/>
              <a:t>Structure de l'ADN = double-hélice</a:t>
            </a:r>
          </a:p>
          <a:p>
            <a:r>
              <a:rPr lang="fr-CA"/>
              <a:t>Structure de l'ARN = ???</a:t>
            </a:r>
          </a:p>
        </p:txBody>
      </p:sp>
    </p:spTree>
    <p:extLst>
      <p:ext uri="{BB962C8B-B14F-4D97-AF65-F5344CB8AC3E}">
        <p14:creationId xmlns:p14="http://schemas.microsoft.com/office/powerpoint/2010/main" val="21951131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67586E3-2C40-4C79-ADB1-69715D47D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229B929-14AE-48B0-A50B-A08075BDA090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CA"/>
              <a:t>Vous vous rappelez que l'ADN est transcrit en ARN.</a:t>
            </a:r>
          </a:p>
          <a:p>
            <a:r>
              <a:rPr lang="fr-CA"/>
              <a:t>Structure de l'ADN = double-hélice</a:t>
            </a:r>
          </a:p>
          <a:p>
            <a:r>
              <a:rPr lang="fr-CA"/>
              <a:t>Structure de l'ARN = ???</a:t>
            </a:r>
          </a:p>
          <a:p>
            <a:pPr lvl="1"/>
            <a:r>
              <a:rPr lang="fr-CA"/>
              <a:t>Dépend beaucoup de la séquence</a:t>
            </a:r>
          </a:p>
          <a:p>
            <a:pPr lvl="1"/>
            <a:r>
              <a:rPr lang="fr-CA"/>
              <a:t>Chaque nucléotide (A,C,G,U) veut s'apparier.  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2B8100D3-B294-4B02-A5F4-4C8387DE9B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 flipH="1">
            <a:off x="7388932" y="1831267"/>
            <a:ext cx="483762" cy="2002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81466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33B02B6-7766-4C16-AD1B-6D6318576A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F0D0F03-A6EF-41DC-9D7C-335AFFCD3A84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fr-CA"/>
          </a:p>
        </p:txBody>
      </p:sp>
      <p:pic>
        <p:nvPicPr>
          <p:cNvPr id="2050" name="Picture 2" descr="http://lowelab.ucsc.edu/tRNAscan-SE/image/3D-tRNA-lowelab.png">
            <a:extLst>
              <a:ext uri="{FF2B5EF4-FFF2-40B4-BE49-F238E27FC236}">
                <a16:creationId xmlns:a16="http://schemas.microsoft.com/office/drawing/2014/main" id="{2552335D-7A60-4663-A7FB-BC8D2AA3C3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1143000"/>
            <a:ext cx="4210050" cy="51758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BCDDB750-6DC1-4E18-AE3A-9CB4A3DACC03}"/>
              </a:ext>
            </a:extLst>
          </p:cNvPr>
          <p:cNvSpPr txBox="1"/>
          <p:nvPr/>
        </p:nvSpPr>
        <p:spPr>
          <a:xfrm>
            <a:off x="2667000" y="6581001"/>
            <a:ext cx="484094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A" sz="1200"/>
              <a:t>Source: </a:t>
            </a:r>
            <a:r>
              <a:rPr lang="fr-CA" sz="1200">
                <a:hlinkClick r:id="rId3"/>
              </a:rPr>
              <a:t>http://lowelab.ucsc.edu/tRNAscan-SE/image/3D-tRNA-lowelab.png</a:t>
            </a:r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16839002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67586E3-2C40-4C79-ADB1-69715D47D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229B929-14AE-48B0-A50B-A08075BDA090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CA"/>
              <a:t>Vous vous rappelez que l'ADN est transcrit en ARN.</a:t>
            </a:r>
          </a:p>
          <a:p>
            <a:r>
              <a:rPr lang="fr-CA"/>
              <a:t>Structure de l'ADN = double-hélice</a:t>
            </a:r>
          </a:p>
          <a:p>
            <a:r>
              <a:rPr lang="fr-CA"/>
              <a:t>Structure de l'ARN = ???</a:t>
            </a:r>
          </a:p>
          <a:p>
            <a:pPr lvl="1"/>
            <a:r>
              <a:rPr lang="fr-CA"/>
              <a:t>Dépend beaucoup de la séquence</a:t>
            </a:r>
          </a:p>
          <a:p>
            <a:pPr lvl="1"/>
            <a:r>
              <a:rPr lang="fr-CA"/>
              <a:t>Chaque nucléotide (A,C,G,U) veut s'apparier.  </a:t>
            </a:r>
          </a:p>
          <a:p>
            <a:pPr lvl="1"/>
            <a:r>
              <a:rPr lang="fr-CA"/>
              <a:t>ADN =&gt; 2 brins =&gt; chaque nucléotide déjà apparié</a:t>
            </a:r>
          </a:p>
          <a:p>
            <a:pPr lvl="1"/>
            <a:r>
              <a:rPr lang="fr-CA"/>
              <a:t>ARN =&gt; 1 brin =&gt; recherche d'"auto-appariements"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0CBB709D-3E73-4EFC-AA8C-9BEB31288C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 flipH="1">
            <a:off x="7388932" y="1831267"/>
            <a:ext cx="483762" cy="2002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54218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33B02B6-7766-4C16-AD1B-6D6318576A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F0D0F03-A6EF-41DC-9D7C-335AFFCD3A84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fr-CA"/>
          </a:p>
        </p:txBody>
      </p:sp>
      <p:pic>
        <p:nvPicPr>
          <p:cNvPr id="2050" name="Picture 2" descr="http://lowelab.ucsc.edu/tRNAscan-SE/image/3D-tRNA-lowelab.png">
            <a:extLst>
              <a:ext uri="{FF2B5EF4-FFF2-40B4-BE49-F238E27FC236}">
                <a16:creationId xmlns:a16="http://schemas.microsoft.com/office/drawing/2014/main" id="{2552335D-7A60-4663-A7FB-BC8D2AA3C3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1143000"/>
            <a:ext cx="4210050" cy="51758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BCDDB750-6DC1-4E18-AE3A-9CB4A3DACC03}"/>
              </a:ext>
            </a:extLst>
          </p:cNvPr>
          <p:cNvSpPr txBox="1"/>
          <p:nvPr/>
        </p:nvSpPr>
        <p:spPr>
          <a:xfrm>
            <a:off x="2667000" y="6581001"/>
            <a:ext cx="484094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A" sz="1200"/>
              <a:t>Source: </a:t>
            </a:r>
            <a:r>
              <a:rPr lang="fr-CA" sz="1200">
                <a:hlinkClick r:id="rId3"/>
              </a:rPr>
              <a:t>http://lowelab.ucsc.edu/tRNAscan-SE/image/3D-tRNA-lowelab.png</a:t>
            </a:r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26635563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1F3C88C-049A-4116-BB42-14A3C0430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2629C8E-A8BB-4165-9E7A-E3D9BC315DEE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fr-CA"/>
          </a:p>
        </p:txBody>
      </p:sp>
      <p:pic>
        <p:nvPicPr>
          <p:cNvPr id="4098" name="Picture 2" descr="https://news.illinois.edu/files/6367/206368/44394.jpg">
            <a:extLst>
              <a:ext uri="{FF2B5EF4-FFF2-40B4-BE49-F238E27FC236}">
                <a16:creationId xmlns:a16="http://schemas.microsoft.com/office/drawing/2014/main" id="{490A5273-BA0D-413A-8776-80BE244435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1066800"/>
            <a:ext cx="4762500" cy="4914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4B3C44FF-C895-4A8A-B8EF-404CC09A50F3}"/>
              </a:ext>
            </a:extLst>
          </p:cNvPr>
          <p:cNvSpPr txBox="1"/>
          <p:nvPr/>
        </p:nvSpPr>
        <p:spPr>
          <a:xfrm rot="19943033">
            <a:off x="4495800" y="3124200"/>
            <a:ext cx="3124200" cy="32004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fr-CA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EE7A8527-F475-4AB1-BA1B-4ED04272DBD9}"/>
              </a:ext>
            </a:extLst>
          </p:cNvPr>
          <p:cNvSpPr txBox="1"/>
          <p:nvPr/>
        </p:nvSpPr>
        <p:spPr>
          <a:xfrm>
            <a:off x="2667000" y="6581001"/>
            <a:ext cx="41621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A" sz="1200"/>
              <a:t>Source: </a:t>
            </a:r>
            <a:r>
              <a:rPr lang="fr-CA" sz="1200">
                <a:hlinkClick r:id="rId3"/>
              </a:rPr>
              <a:t>https://news.illinois.edu/files/6367/206368/44394.jpg</a:t>
            </a:r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28062500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1F3C88C-049A-4116-BB42-14A3C0430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2629C8E-A8BB-4165-9E7A-E3D9BC315DEE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fr-CA"/>
          </a:p>
        </p:txBody>
      </p:sp>
      <p:pic>
        <p:nvPicPr>
          <p:cNvPr id="4098" name="Picture 2" descr="https://news.illinois.edu/files/6367/206368/44394.jpg">
            <a:extLst>
              <a:ext uri="{FF2B5EF4-FFF2-40B4-BE49-F238E27FC236}">
                <a16:creationId xmlns:a16="http://schemas.microsoft.com/office/drawing/2014/main" id="{490A5273-BA0D-413A-8776-80BE244435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1066800"/>
            <a:ext cx="4762500" cy="4914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EE7A8527-F475-4AB1-BA1B-4ED04272DBD9}"/>
              </a:ext>
            </a:extLst>
          </p:cNvPr>
          <p:cNvSpPr txBox="1"/>
          <p:nvPr/>
        </p:nvSpPr>
        <p:spPr>
          <a:xfrm>
            <a:off x="2667000" y="6581001"/>
            <a:ext cx="41621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A" sz="1200"/>
              <a:t>Source: </a:t>
            </a:r>
            <a:r>
              <a:rPr lang="fr-CA" sz="1200">
                <a:hlinkClick r:id="rId3"/>
              </a:rPr>
              <a:t>https://news.illinois.edu/files/6367/206368/44394.jpg</a:t>
            </a:r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11258869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E936D70-B300-4DF9-AED8-1CF3C6083D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EC97D45-97C0-4CA1-9E3F-316E9DAC1EC1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95376" y="1447800"/>
            <a:ext cx="4492752" cy="4495800"/>
          </a:xfrm>
        </p:spPr>
        <p:txBody>
          <a:bodyPr/>
          <a:lstStyle/>
          <a:p>
            <a:r>
              <a:rPr lang="fr-CA"/>
              <a:t>La structure 2D sert à montrer les appariements.</a:t>
            </a:r>
          </a:p>
          <a:p>
            <a:r>
              <a:rPr lang="fr-CA"/>
              <a:t>Les sous-structures de la représentation informent (parfois) sur la fonction de l'ARN.</a:t>
            </a:r>
          </a:p>
          <a:p>
            <a:r>
              <a:rPr lang="fr-CA"/>
              <a:t>Non-appariement = énergie libre (à combler)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EB135ABB-B7F8-46F1-82A0-9CC32EF15D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0"/>
            <a:ext cx="385297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30206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re 1"/>
          <p:cNvSpPr>
            <a:spLocks noGrp="1"/>
          </p:cNvSpPr>
          <p:nvPr>
            <p:ph type="title"/>
          </p:nvPr>
        </p:nvSpPr>
        <p:spPr>
          <a:xfrm>
            <a:off x="612648" y="60324"/>
            <a:ext cx="8153400" cy="762000"/>
          </a:xfrm>
        </p:spPr>
        <p:txBody>
          <a:bodyPr/>
          <a:lstStyle/>
          <a:p>
            <a:r>
              <a:rPr lang="en-US"/>
              <a:t>Structures de l'ARN</a:t>
            </a:r>
            <a:endParaRPr lang="en-US" noProof="0" dirty="0"/>
          </a:p>
        </p:txBody>
      </p:sp>
      <p:pic>
        <p:nvPicPr>
          <p:cNvPr id="2" name="Picture 2" descr="https://www.researchgate.net/profile/Namhee_Kim3/publication/278662209/figure/fig6/AS:267858898845703@1440873946020/1-Network-like-features-of-RNA-from-1D-to-3D-The-primary-secondary-and-tertiary.png">
            <a:extLst>
              <a:ext uri="{FF2B5EF4-FFF2-40B4-BE49-F238E27FC236}">
                <a16:creationId xmlns:a16="http://schemas.microsoft.com/office/drawing/2014/main" id="{B4700B78-E0D2-48C5-8868-82A137E6C6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866" y="1447800"/>
            <a:ext cx="6982268" cy="434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00325ABC-A3A4-4962-BE98-622CB8EB5A57}"/>
              </a:ext>
            </a:extLst>
          </p:cNvPr>
          <p:cNvSpPr txBox="1"/>
          <p:nvPr/>
        </p:nvSpPr>
        <p:spPr>
          <a:xfrm>
            <a:off x="2667000" y="6581001"/>
            <a:ext cx="65614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A" sz="1200"/>
              <a:t>Source: Kim et al., "</a:t>
            </a:r>
            <a:r>
              <a:rPr lang="en-US" sz="1200"/>
              <a:t>Graph Applications to RNA Structure and Function</a:t>
            </a:r>
            <a:r>
              <a:rPr lang="fr-CA" sz="1200"/>
              <a:t>", Biophysics of RNA Folding 2012 </a:t>
            </a:r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20375286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re 1"/>
          <p:cNvSpPr>
            <a:spLocks noGrp="1"/>
          </p:cNvSpPr>
          <p:nvPr>
            <p:ph type="title"/>
          </p:nvPr>
        </p:nvSpPr>
        <p:spPr>
          <a:xfrm>
            <a:off x="612648" y="60324"/>
            <a:ext cx="8153400" cy="762000"/>
          </a:xfrm>
        </p:spPr>
        <p:txBody>
          <a:bodyPr/>
          <a:lstStyle/>
          <a:p>
            <a:r>
              <a:rPr lang="en-US"/>
              <a:t>Structures de l'ARN</a:t>
            </a:r>
            <a:endParaRPr lang="en-US" noProof="0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00325ABC-A3A4-4962-BE98-622CB8EB5A57}"/>
              </a:ext>
            </a:extLst>
          </p:cNvPr>
          <p:cNvSpPr txBox="1"/>
          <p:nvPr/>
        </p:nvSpPr>
        <p:spPr>
          <a:xfrm>
            <a:off x="2667000" y="6581001"/>
            <a:ext cx="65614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A" sz="1200"/>
              <a:t>Source: Kim et al., "</a:t>
            </a:r>
            <a:r>
              <a:rPr lang="en-US" sz="1200"/>
              <a:t>Graph Applications to RNA Structure and Function</a:t>
            </a:r>
            <a:r>
              <a:rPr lang="fr-CA" sz="1200"/>
              <a:t>", Biophysics of RNA Folding 2012 </a:t>
            </a:r>
            <a:endParaRPr lang="en-US" sz="1200"/>
          </a:p>
        </p:txBody>
      </p:sp>
      <p:sp>
        <p:nvSpPr>
          <p:cNvPr id="6" name="Espace réservé du contenu 2">
            <a:extLst>
              <a:ext uri="{FF2B5EF4-FFF2-40B4-BE49-F238E27FC236}">
                <a16:creationId xmlns:a16="http://schemas.microsoft.com/office/drawing/2014/main" id="{272BE2E4-7AAB-4CA0-9A24-2DB19680678E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304800" y="1181100"/>
            <a:ext cx="8686800" cy="4495800"/>
          </a:xfrm>
        </p:spPr>
        <p:txBody>
          <a:bodyPr>
            <a:normAutofit/>
          </a:bodyPr>
          <a:lstStyle/>
          <a:p>
            <a:r>
              <a:rPr lang="fr-CA" sz="2400"/>
              <a:t>Structure primaire: la séquence (1D)</a:t>
            </a:r>
          </a:p>
          <a:p>
            <a:r>
              <a:rPr lang="fr-CA" sz="2400"/>
              <a:t>Structure secondaire: paires de bases appariées (2D)</a:t>
            </a:r>
          </a:p>
          <a:p>
            <a:r>
              <a:rPr lang="fr-CA" sz="2400"/>
              <a:t>Structure teritiaire: représentation (3D)</a:t>
            </a:r>
          </a:p>
        </p:txBody>
      </p:sp>
      <p:pic>
        <p:nvPicPr>
          <p:cNvPr id="7" name="Picture 2" descr="https://www.researchgate.net/profile/Namhee_Kim3/publication/278662209/figure/fig6/AS:267858898845703@1440873946020/1-Network-like-features-of-RNA-from-1D-to-3D-The-primary-secondary-and-tertiary.png">
            <a:extLst>
              <a:ext uri="{FF2B5EF4-FFF2-40B4-BE49-F238E27FC236}">
                <a16:creationId xmlns:a16="http://schemas.microsoft.com/office/drawing/2014/main" id="{87078106-2317-4E33-9B92-AA7BCAFD0A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9585" y="3048000"/>
            <a:ext cx="5144829" cy="320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160325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DFAF005-F88E-4ED2-87AC-716FAA839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Qui se ressemble s'apparie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90AF1D2-7211-4C09-9BD8-B7E5E25921C5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5026152" cy="4495800"/>
          </a:xfrm>
        </p:spPr>
        <p:txBody>
          <a:bodyPr>
            <a:normAutofit lnSpcReduction="10000"/>
          </a:bodyPr>
          <a:lstStyle/>
          <a:p>
            <a:r>
              <a:rPr lang="fr-CA"/>
              <a:t>Paire de bases = deux nucléotides appariés</a:t>
            </a:r>
          </a:p>
          <a:p>
            <a:r>
              <a:rPr lang="fr-CA"/>
              <a:t>Appariements canoniques</a:t>
            </a:r>
          </a:p>
          <a:p>
            <a:pPr lvl="1"/>
            <a:r>
              <a:rPr lang="fr-CA"/>
              <a:t>G - C</a:t>
            </a:r>
          </a:p>
          <a:p>
            <a:pPr lvl="1"/>
            <a:r>
              <a:rPr lang="fr-CA"/>
              <a:t>A - U</a:t>
            </a:r>
          </a:p>
          <a:p>
            <a:r>
              <a:rPr lang="fr-CA"/>
              <a:t>Appariement "wobble"</a:t>
            </a:r>
          </a:p>
          <a:p>
            <a:pPr lvl="1"/>
            <a:r>
              <a:rPr lang="fr-CA"/>
              <a:t>G - U</a:t>
            </a:r>
          </a:p>
          <a:p>
            <a:pPr lvl="1"/>
            <a:endParaRPr lang="fr-CA"/>
          </a:p>
          <a:p>
            <a:r>
              <a:rPr lang="fr-CA"/>
              <a:t>Autres appariements possibles, mais rares.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7D55EF10-EA65-4C9C-A575-7037AD0346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0200" y="1066800"/>
            <a:ext cx="3573982" cy="5563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1117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DFAF005-F88E-4ED2-87AC-716FAA839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Qui se ressemble s'apparie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90AF1D2-7211-4C09-9BD8-B7E5E25921C5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5026152" cy="4495800"/>
          </a:xfrm>
        </p:spPr>
        <p:txBody>
          <a:bodyPr>
            <a:normAutofit/>
          </a:bodyPr>
          <a:lstStyle/>
          <a:p>
            <a:r>
              <a:rPr lang="fr-CA"/>
              <a:t>Pour nos fins, appariements possibles</a:t>
            </a:r>
          </a:p>
          <a:p>
            <a:pPr lvl="1"/>
            <a:r>
              <a:rPr lang="fr-CA"/>
              <a:t>G - C</a:t>
            </a:r>
          </a:p>
          <a:p>
            <a:pPr lvl="1"/>
            <a:r>
              <a:rPr lang="fr-CA"/>
              <a:t>A - U</a:t>
            </a:r>
          </a:p>
          <a:p>
            <a:pPr lvl="1"/>
            <a:r>
              <a:rPr lang="fr-CA"/>
              <a:t>G - U</a:t>
            </a:r>
          </a:p>
          <a:p>
            <a:pPr lvl="1"/>
            <a:endParaRPr lang="fr-CA"/>
          </a:p>
          <a:p>
            <a:r>
              <a:rPr lang="fr-CA"/>
              <a:t>Possiblement avec poids différent.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7D55EF10-EA65-4C9C-A575-7037AD0346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0200" y="1066800"/>
            <a:ext cx="3573982" cy="5563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47182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95B5596-B6F9-43DE-9CBE-800D7CF18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Qui se ressemble s'apparie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4F35289E-111E-4458-A92D-FCD0972CF5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0109" y="1752600"/>
            <a:ext cx="3486551" cy="3936801"/>
          </a:xfrm>
          <a:prstGeom prst="rect">
            <a:avLst/>
          </a:prstGeom>
        </p:spPr>
      </p:pic>
      <p:sp>
        <p:nvSpPr>
          <p:cNvPr id="6" name="Espace réservé du contenu 2">
            <a:extLst>
              <a:ext uri="{FF2B5EF4-FFF2-40B4-BE49-F238E27FC236}">
                <a16:creationId xmlns:a16="http://schemas.microsoft.com/office/drawing/2014/main" id="{742962EB-C67E-4C01-B312-F5DAA00C47F8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5026152" cy="4495800"/>
          </a:xfrm>
        </p:spPr>
        <p:txBody>
          <a:bodyPr>
            <a:normAutofit/>
          </a:bodyPr>
          <a:lstStyle/>
          <a:p>
            <a:r>
              <a:rPr lang="fr-CA"/>
              <a:t>Pour nos fins, appariements possibles</a:t>
            </a:r>
          </a:p>
          <a:p>
            <a:pPr lvl="1"/>
            <a:r>
              <a:rPr lang="fr-CA"/>
              <a:t>G - C</a:t>
            </a:r>
          </a:p>
          <a:p>
            <a:pPr lvl="1"/>
            <a:r>
              <a:rPr lang="fr-CA"/>
              <a:t>A - U</a:t>
            </a:r>
          </a:p>
          <a:p>
            <a:pPr lvl="1"/>
            <a:r>
              <a:rPr lang="fr-CA"/>
              <a:t>G - U</a:t>
            </a:r>
          </a:p>
          <a:p>
            <a:pPr lvl="1"/>
            <a:endParaRPr lang="fr-CA"/>
          </a:p>
          <a:p>
            <a:r>
              <a:rPr lang="fr-CA"/>
              <a:t>Possiblement avec poids différent.</a:t>
            </a:r>
          </a:p>
        </p:txBody>
      </p:sp>
    </p:spTree>
    <p:extLst>
      <p:ext uri="{BB962C8B-B14F-4D97-AF65-F5344CB8AC3E}">
        <p14:creationId xmlns:p14="http://schemas.microsoft.com/office/powerpoint/2010/main" val="28773570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6DD7BFB-A14B-4A54-8B79-017F0783C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Modélisation du problème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509FFE2-500A-4ADE-8C09-9B1F7A8C46F9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12648" y="1181100"/>
            <a:ext cx="8153400" cy="4495800"/>
          </a:xfrm>
        </p:spPr>
        <p:txBody>
          <a:bodyPr/>
          <a:lstStyle/>
          <a:p>
            <a:r>
              <a:rPr lang="fr-CA" u="sng"/>
              <a:t>Entrée</a:t>
            </a:r>
            <a:r>
              <a:rPr lang="fr-CA"/>
              <a:t>: séquence S d'ARN</a:t>
            </a:r>
          </a:p>
          <a:p>
            <a:r>
              <a:rPr lang="fr-CA" u="sng"/>
              <a:t>Sortie</a:t>
            </a:r>
            <a:r>
              <a:rPr lang="fr-CA"/>
              <a:t>: liste des paires de positions </a:t>
            </a:r>
          </a:p>
          <a:p>
            <a:pPr marL="0" indent="0">
              <a:buNone/>
            </a:pPr>
            <a:r>
              <a:rPr lang="fr-CA"/>
              <a:t>    (s</a:t>
            </a:r>
            <a:r>
              <a:rPr lang="fr-CA" baseline="-25000"/>
              <a:t>1</a:t>
            </a:r>
            <a:r>
              <a:rPr lang="fr-CA"/>
              <a:t>, t</a:t>
            </a:r>
            <a:r>
              <a:rPr lang="fr-CA" baseline="-25000"/>
              <a:t>1</a:t>
            </a:r>
            <a:r>
              <a:rPr lang="fr-CA"/>
              <a:t>), (s</a:t>
            </a:r>
            <a:r>
              <a:rPr lang="fr-CA" baseline="-25000"/>
              <a:t>2</a:t>
            </a:r>
            <a:r>
              <a:rPr lang="fr-CA"/>
              <a:t>, t</a:t>
            </a:r>
            <a:r>
              <a:rPr lang="fr-CA" baseline="-25000"/>
              <a:t>2</a:t>
            </a:r>
            <a:r>
              <a:rPr lang="fr-CA"/>
              <a:t>), ..., (s</a:t>
            </a:r>
            <a:r>
              <a:rPr lang="fr-CA" baseline="-25000"/>
              <a:t>k</a:t>
            </a:r>
            <a:r>
              <a:rPr lang="fr-CA"/>
              <a:t>, t</a:t>
            </a:r>
            <a:r>
              <a:rPr lang="fr-CA" baseline="-25000"/>
              <a:t>k</a:t>
            </a:r>
            <a:r>
              <a:rPr lang="fr-CA"/>
              <a:t>) des paires de bases.</a:t>
            </a:r>
          </a:p>
          <a:p>
            <a:endParaRPr lang="fr-CA"/>
          </a:p>
          <a:p>
            <a:pPr lvl="1"/>
            <a:endParaRPr lang="fr-CA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F1264E57-5577-4ADA-8D25-EAAAD76AA7F7}"/>
              </a:ext>
            </a:extLst>
          </p:cNvPr>
          <p:cNvSpPr txBox="1"/>
          <p:nvPr/>
        </p:nvSpPr>
        <p:spPr>
          <a:xfrm>
            <a:off x="1100865" y="5774066"/>
            <a:ext cx="69413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A" sz="2800">
                <a:latin typeface="Cambria" panose="02040503050406030204" pitchFamily="18" charset="0"/>
                <a:ea typeface="Cambria" panose="02040503050406030204" pitchFamily="18" charset="0"/>
              </a:rPr>
              <a:t>c a u c g a a c g u c c u c a a g a c a g c u c u c u</a:t>
            </a:r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3327E20C-3476-4FBB-8DD0-7F68BF6CA89A}"/>
              </a:ext>
            </a:extLst>
          </p:cNvPr>
          <p:cNvCxnSpPr/>
          <p:nvPr/>
        </p:nvCxnSpPr>
        <p:spPr>
          <a:xfrm flipV="1">
            <a:off x="1295400" y="4572000"/>
            <a:ext cx="0" cy="12954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9803AA35-D2E7-4A51-B053-D0751106EABE}"/>
              </a:ext>
            </a:extLst>
          </p:cNvPr>
          <p:cNvCxnSpPr>
            <a:cxnSpLocks/>
          </p:cNvCxnSpPr>
          <p:nvPr/>
        </p:nvCxnSpPr>
        <p:spPr>
          <a:xfrm flipH="1">
            <a:off x="1295400" y="4572000"/>
            <a:ext cx="40386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1CCEC6D9-75D4-4C76-AF18-A8B02056937B}"/>
              </a:ext>
            </a:extLst>
          </p:cNvPr>
          <p:cNvCxnSpPr>
            <a:cxnSpLocks/>
          </p:cNvCxnSpPr>
          <p:nvPr/>
        </p:nvCxnSpPr>
        <p:spPr>
          <a:xfrm>
            <a:off x="5334000" y="4572000"/>
            <a:ext cx="0" cy="12954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14">
            <a:extLst>
              <a:ext uri="{FF2B5EF4-FFF2-40B4-BE49-F238E27FC236}">
                <a16:creationId xmlns:a16="http://schemas.microsoft.com/office/drawing/2014/main" id="{16ED1FD3-9207-46A1-8C76-FC0B14994207}"/>
              </a:ext>
            </a:extLst>
          </p:cNvPr>
          <p:cNvCxnSpPr>
            <a:cxnSpLocks/>
          </p:cNvCxnSpPr>
          <p:nvPr/>
        </p:nvCxnSpPr>
        <p:spPr>
          <a:xfrm flipH="1">
            <a:off x="1828800" y="5029200"/>
            <a:ext cx="32004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C0DE1B59-19AF-4CDD-A1BF-A9D3454C3539}"/>
              </a:ext>
            </a:extLst>
          </p:cNvPr>
          <p:cNvCxnSpPr>
            <a:cxnSpLocks/>
          </p:cNvCxnSpPr>
          <p:nvPr/>
        </p:nvCxnSpPr>
        <p:spPr>
          <a:xfrm>
            <a:off x="1828800" y="5029200"/>
            <a:ext cx="0" cy="8382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18">
            <a:extLst>
              <a:ext uri="{FF2B5EF4-FFF2-40B4-BE49-F238E27FC236}">
                <a16:creationId xmlns:a16="http://schemas.microsoft.com/office/drawing/2014/main" id="{0682AD40-2987-4E33-890F-4D3B402A4805}"/>
              </a:ext>
            </a:extLst>
          </p:cNvPr>
          <p:cNvCxnSpPr>
            <a:cxnSpLocks/>
          </p:cNvCxnSpPr>
          <p:nvPr/>
        </p:nvCxnSpPr>
        <p:spPr>
          <a:xfrm>
            <a:off x="5034951" y="5029200"/>
            <a:ext cx="0" cy="8382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eur droit 19">
            <a:extLst>
              <a:ext uri="{FF2B5EF4-FFF2-40B4-BE49-F238E27FC236}">
                <a16:creationId xmlns:a16="http://schemas.microsoft.com/office/drawing/2014/main" id="{724DDDA4-4C30-46E4-9E60-C41918885409}"/>
              </a:ext>
            </a:extLst>
          </p:cNvPr>
          <p:cNvCxnSpPr>
            <a:cxnSpLocks/>
          </p:cNvCxnSpPr>
          <p:nvPr/>
        </p:nvCxnSpPr>
        <p:spPr>
          <a:xfrm>
            <a:off x="2286000" y="5448300"/>
            <a:ext cx="0" cy="419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21">
            <a:extLst>
              <a:ext uri="{FF2B5EF4-FFF2-40B4-BE49-F238E27FC236}">
                <a16:creationId xmlns:a16="http://schemas.microsoft.com/office/drawing/2014/main" id="{0F818FB2-AC5D-4E16-A756-EFA710DE4232}"/>
              </a:ext>
            </a:extLst>
          </p:cNvPr>
          <p:cNvCxnSpPr>
            <a:cxnSpLocks/>
          </p:cNvCxnSpPr>
          <p:nvPr/>
        </p:nvCxnSpPr>
        <p:spPr>
          <a:xfrm>
            <a:off x="3086595" y="5448300"/>
            <a:ext cx="0" cy="419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9E3CF276-22B8-490D-BC74-7E0976FBEF52}"/>
              </a:ext>
            </a:extLst>
          </p:cNvPr>
          <p:cNvCxnSpPr>
            <a:cxnSpLocks/>
          </p:cNvCxnSpPr>
          <p:nvPr/>
        </p:nvCxnSpPr>
        <p:spPr>
          <a:xfrm>
            <a:off x="2286000" y="5448300"/>
            <a:ext cx="802976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eur droit 25">
            <a:extLst>
              <a:ext uri="{FF2B5EF4-FFF2-40B4-BE49-F238E27FC236}">
                <a16:creationId xmlns:a16="http://schemas.microsoft.com/office/drawing/2014/main" id="{CA7D1E8E-C1B6-4CF3-9EAD-7DCD0128A434}"/>
              </a:ext>
            </a:extLst>
          </p:cNvPr>
          <p:cNvCxnSpPr>
            <a:cxnSpLocks/>
          </p:cNvCxnSpPr>
          <p:nvPr/>
        </p:nvCxnSpPr>
        <p:spPr>
          <a:xfrm>
            <a:off x="3505200" y="5448300"/>
            <a:ext cx="0" cy="419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953CC363-7022-4283-AE72-FB17D7DE4C88}"/>
              </a:ext>
            </a:extLst>
          </p:cNvPr>
          <p:cNvCxnSpPr>
            <a:cxnSpLocks/>
          </p:cNvCxnSpPr>
          <p:nvPr/>
        </p:nvCxnSpPr>
        <p:spPr>
          <a:xfrm>
            <a:off x="4800600" y="5448300"/>
            <a:ext cx="0" cy="419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08D335FA-244E-43C1-8A66-069AB58FEBF7}"/>
              </a:ext>
            </a:extLst>
          </p:cNvPr>
          <p:cNvCxnSpPr>
            <a:cxnSpLocks/>
          </p:cNvCxnSpPr>
          <p:nvPr/>
        </p:nvCxnSpPr>
        <p:spPr>
          <a:xfrm>
            <a:off x="3505200" y="5448300"/>
            <a:ext cx="12954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eur droit 29">
            <a:extLst>
              <a:ext uri="{FF2B5EF4-FFF2-40B4-BE49-F238E27FC236}">
                <a16:creationId xmlns:a16="http://schemas.microsoft.com/office/drawing/2014/main" id="{026A975A-75B9-4C58-9800-AEFCB57FF05E}"/>
              </a:ext>
            </a:extLst>
          </p:cNvPr>
          <p:cNvCxnSpPr>
            <a:cxnSpLocks/>
          </p:cNvCxnSpPr>
          <p:nvPr/>
        </p:nvCxnSpPr>
        <p:spPr>
          <a:xfrm flipV="1">
            <a:off x="5562600" y="4572000"/>
            <a:ext cx="0" cy="12954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eur droit 30">
            <a:extLst>
              <a:ext uri="{FF2B5EF4-FFF2-40B4-BE49-F238E27FC236}">
                <a16:creationId xmlns:a16="http://schemas.microsoft.com/office/drawing/2014/main" id="{67CC08CD-C744-4EEF-BC6F-846EB9F5FFC3}"/>
              </a:ext>
            </a:extLst>
          </p:cNvPr>
          <p:cNvCxnSpPr>
            <a:cxnSpLocks/>
          </p:cNvCxnSpPr>
          <p:nvPr/>
        </p:nvCxnSpPr>
        <p:spPr>
          <a:xfrm flipH="1">
            <a:off x="5562600" y="4572000"/>
            <a:ext cx="22098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eur droit 31">
            <a:extLst>
              <a:ext uri="{FF2B5EF4-FFF2-40B4-BE49-F238E27FC236}">
                <a16:creationId xmlns:a16="http://schemas.microsoft.com/office/drawing/2014/main" id="{F671889E-9870-41FD-A20D-341B06087D14}"/>
              </a:ext>
            </a:extLst>
          </p:cNvPr>
          <p:cNvCxnSpPr>
            <a:cxnSpLocks/>
          </p:cNvCxnSpPr>
          <p:nvPr/>
        </p:nvCxnSpPr>
        <p:spPr>
          <a:xfrm>
            <a:off x="7772400" y="4572000"/>
            <a:ext cx="0" cy="12954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eur droit 39">
            <a:extLst>
              <a:ext uri="{FF2B5EF4-FFF2-40B4-BE49-F238E27FC236}">
                <a16:creationId xmlns:a16="http://schemas.microsoft.com/office/drawing/2014/main" id="{2B8252EB-FEB7-46CE-BE5D-776D0C471BE9}"/>
              </a:ext>
            </a:extLst>
          </p:cNvPr>
          <p:cNvCxnSpPr>
            <a:cxnSpLocks/>
          </p:cNvCxnSpPr>
          <p:nvPr/>
        </p:nvCxnSpPr>
        <p:spPr>
          <a:xfrm>
            <a:off x="6266012" y="5448300"/>
            <a:ext cx="0" cy="419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eur droit 40">
            <a:extLst>
              <a:ext uri="{FF2B5EF4-FFF2-40B4-BE49-F238E27FC236}">
                <a16:creationId xmlns:a16="http://schemas.microsoft.com/office/drawing/2014/main" id="{24FB8F8C-C9E6-4F3B-8893-4EECFAD20818}"/>
              </a:ext>
            </a:extLst>
          </p:cNvPr>
          <p:cNvCxnSpPr>
            <a:cxnSpLocks/>
          </p:cNvCxnSpPr>
          <p:nvPr/>
        </p:nvCxnSpPr>
        <p:spPr>
          <a:xfrm>
            <a:off x="7066607" y="5448300"/>
            <a:ext cx="0" cy="419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eur droit 41">
            <a:extLst>
              <a:ext uri="{FF2B5EF4-FFF2-40B4-BE49-F238E27FC236}">
                <a16:creationId xmlns:a16="http://schemas.microsoft.com/office/drawing/2014/main" id="{E8536356-F355-4C47-8C7A-3FF3C3595891}"/>
              </a:ext>
            </a:extLst>
          </p:cNvPr>
          <p:cNvCxnSpPr>
            <a:cxnSpLocks/>
          </p:cNvCxnSpPr>
          <p:nvPr/>
        </p:nvCxnSpPr>
        <p:spPr>
          <a:xfrm>
            <a:off x="6266012" y="5448300"/>
            <a:ext cx="802976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28033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6DD7BFB-A14B-4A54-8B79-017F0783C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Modélisation du problème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509FFE2-500A-4ADE-8C09-9B1F7A8C46F9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12648" y="1181100"/>
            <a:ext cx="8153400" cy="4495800"/>
          </a:xfrm>
        </p:spPr>
        <p:txBody>
          <a:bodyPr/>
          <a:lstStyle/>
          <a:p>
            <a:r>
              <a:rPr lang="fr-CA" u="sng"/>
              <a:t>Entrée</a:t>
            </a:r>
            <a:r>
              <a:rPr lang="fr-CA"/>
              <a:t>: séquence S d'ARN</a:t>
            </a:r>
          </a:p>
          <a:p>
            <a:r>
              <a:rPr lang="fr-CA" u="sng"/>
              <a:t>Sortie</a:t>
            </a:r>
            <a:r>
              <a:rPr lang="fr-CA"/>
              <a:t>: liste des paires de positions </a:t>
            </a:r>
          </a:p>
          <a:p>
            <a:pPr marL="0" indent="0">
              <a:buNone/>
            </a:pPr>
            <a:r>
              <a:rPr lang="fr-CA"/>
              <a:t>    (s</a:t>
            </a:r>
            <a:r>
              <a:rPr lang="fr-CA" baseline="-25000"/>
              <a:t>1</a:t>
            </a:r>
            <a:r>
              <a:rPr lang="fr-CA"/>
              <a:t>, t</a:t>
            </a:r>
            <a:r>
              <a:rPr lang="fr-CA" baseline="-25000"/>
              <a:t>1</a:t>
            </a:r>
            <a:r>
              <a:rPr lang="fr-CA"/>
              <a:t>), (s</a:t>
            </a:r>
            <a:r>
              <a:rPr lang="fr-CA" baseline="-25000"/>
              <a:t>2</a:t>
            </a:r>
            <a:r>
              <a:rPr lang="fr-CA"/>
              <a:t>, t</a:t>
            </a:r>
            <a:r>
              <a:rPr lang="fr-CA" baseline="-25000"/>
              <a:t>2</a:t>
            </a:r>
            <a:r>
              <a:rPr lang="fr-CA"/>
              <a:t>), ..., (s</a:t>
            </a:r>
            <a:r>
              <a:rPr lang="fr-CA" baseline="-25000"/>
              <a:t>k</a:t>
            </a:r>
            <a:r>
              <a:rPr lang="fr-CA"/>
              <a:t>, t</a:t>
            </a:r>
            <a:r>
              <a:rPr lang="fr-CA" baseline="-25000"/>
              <a:t>k</a:t>
            </a:r>
            <a:r>
              <a:rPr lang="fr-CA"/>
              <a:t>) des paires de bases.</a:t>
            </a:r>
          </a:p>
          <a:p>
            <a:endParaRPr lang="fr-CA"/>
          </a:p>
          <a:p>
            <a:r>
              <a:rPr lang="fr-CA"/>
              <a:t>Nucléotide non-apparié = énergie libre</a:t>
            </a:r>
          </a:p>
          <a:p>
            <a:r>
              <a:rPr lang="fr-CA" b="1" u="sng">
                <a:solidFill>
                  <a:srgbClr val="FF0000"/>
                </a:solidFill>
              </a:rPr>
              <a:t>Hypothèse 0</a:t>
            </a:r>
            <a:r>
              <a:rPr lang="fr-CA"/>
              <a:t>: l'ARN va se replier de façon à minimiser l'énergie libre.</a:t>
            </a:r>
          </a:p>
          <a:p>
            <a:pPr lvl="1"/>
            <a:r>
              <a:rPr lang="fr-CA"/>
              <a:t>=&gt; l'ARN a tendance à maximiser les appariements</a:t>
            </a:r>
          </a:p>
          <a:p>
            <a:pPr lvl="1"/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3369772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6DD7BFB-A14B-4A54-8B79-017F0783C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Modélisation du problème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509FFE2-500A-4ADE-8C09-9B1F7A8C46F9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12648" y="1181100"/>
            <a:ext cx="8153400" cy="4495800"/>
          </a:xfrm>
        </p:spPr>
        <p:txBody>
          <a:bodyPr/>
          <a:lstStyle/>
          <a:p>
            <a:r>
              <a:rPr lang="fr-CA"/>
              <a:t>Nucléotide non-apparié = énergie libre</a:t>
            </a:r>
          </a:p>
          <a:p>
            <a:r>
              <a:rPr lang="fr-CA" b="1" u="sng">
                <a:solidFill>
                  <a:srgbClr val="FF0000"/>
                </a:solidFill>
              </a:rPr>
              <a:t>Hypothèse 0</a:t>
            </a:r>
            <a:r>
              <a:rPr lang="fr-CA"/>
              <a:t>: l'ARN va se replier de façon à minimiser l'énergie libre.</a:t>
            </a:r>
          </a:p>
          <a:p>
            <a:pPr lvl="1"/>
            <a:r>
              <a:rPr lang="fr-CA"/>
              <a:t>=&gt; l'ARN a tendance à maximiser les appariements</a:t>
            </a:r>
          </a:p>
          <a:p>
            <a:pPr lvl="1"/>
            <a:endParaRPr lang="fr-CA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65AAD121-14ED-4919-8F0A-C52F0B47DB8F}"/>
              </a:ext>
            </a:extLst>
          </p:cNvPr>
          <p:cNvSpPr txBox="1"/>
          <p:nvPr/>
        </p:nvSpPr>
        <p:spPr>
          <a:xfrm>
            <a:off x="1100865" y="5850266"/>
            <a:ext cx="69413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A" sz="2800">
                <a:latin typeface="Cambria" panose="02040503050406030204" pitchFamily="18" charset="0"/>
                <a:ea typeface="Cambria" panose="02040503050406030204" pitchFamily="18" charset="0"/>
              </a:rPr>
              <a:t>c a u c g a a c g u c c u c a a g a c a g c u c u c u</a:t>
            </a:r>
          </a:p>
        </p:txBody>
      </p: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840D6005-F91B-4789-A7FF-C369839DBF7A}"/>
              </a:ext>
            </a:extLst>
          </p:cNvPr>
          <p:cNvCxnSpPr/>
          <p:nvPr/>
        </p:nvCxnSpPr>
        <p:spPr>
          <a:xfrm flipV="1">
            <a:off x="1295400" y="4648200"/>
            <a:ext cx="0" cy="12954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7C07F594-58D0-473F-8153-6DADEDBDFDBF}"/>
              </a:ext>
            </a:extLst>
          </p:cNvPr>
          <p:cNvCxnSpPr>
            <a:cxnSpLocks/>
          </p:cNvCxnSpPr>
          <p:nvPr/>
        </p:nvCxnSpPr>
        <p:spPr>
          <a:xfrm flipH="1">
            <a:off x="1295400" y="4648200"/>
            <a:ext cx="40386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C0A4A85B-7204-472A-B202-E07CA6F79C85}"/>
              </a:ext>
            </a:extLst>
          </p:cNvPr>
          <p:cNvCxnSpPr>
            <a:cxnSpLocks/>
          </p:cNvCxnSpPr>
          <p:nvPr/>
        </p:nvCxnSpPr>
        <p:spPr>
          <a:xfrm>
            <a:off x="5334000" y="4648200"/>
            <a:ext cx="0" cy="12954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666D9717-C51C-4812-B529-20B8CB9E3719}"/>
              </a:ext>
            </a:extLst>
          </p:cNvPr>
          <p:cNvCxnSpPr>
            <a:cxnSpLocks/>
          </p:cNvCxnSpPr>
          <p:nvPr/>
        </p:nvCxnSpPr>
        <p:spPr>
          <a:xfrm flipH="1">
            <a:off x="1828800" y="5105400"/>
            <a:ext cx="32004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86ED2B51-555C-4F1E-BDE3-FD47250C76CF}"/>
              </a:ext>
            </a:extLst>
          </p:cNvPr>
          <p:cNvCxnSpPr>
            <a:cxnSpLocks/>
          </p:cNvCxnSpPr>
          <p:nvPr/>
        </p:nvCxnSpPr>
        <p:spPr>
          <a:xfrm>
            <a:off x="1828800" y="5105400"/>
            <a:ext cx="0" cy="8382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DD7E4F6B-F60D-43D5-925E-27B0D3DAC9DD}"/>
              </a:ext>
            </a:extLst>
          </p:cNvPr>
          <p:cNvCxnSpPr>
            <a:cxnSpLocks/>
          </p:cNvCxnSpPr>
          <p:nvPr/>
        </p:nvCxnSpPr>
        <p:spPr>
          <a:xfrm>
            <a:off x="5034951" y="5105400"/>
            <a:ext cx="0" cy="8382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1B6BAA8D-595C-429F-B214-76DCA11F1D79}"/>
              </a:ext>
            </a:extLst>
          </p:cNvPr>
          <p:cNvCxnSpPr>
            <a:cxnSpLocks/>
          </p:cNvCxnSpPr>
          <p:nvPr/>
        </p:nvCxnSpPr>
        <p:spPr>
          <a:xfrm>
            <a:off x="2286000" y="5524500"/>
            <a:ext cx="0" cy="419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46A912BE-E6E4-4F68-A870-C135B0F731C9}"/>
              </a:ext>
            </a:extLst>
          </p:cNvPr>
          <p:cNvCxnSpPr>
            <a:cxnSpLocks/>
          </p:cNvCxnSpPr>
          <p:nvPr/>
        </p:nvCxnSpPr>
        <p:spPr>
          <a:xfrm>
            <a:off x="3086595" y="5524500"/>
            <a:ext cx="0" cy="419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535D8B2F-005E-410B-846F-0D8D616E19D0}"/>
              </a:ext>
            </a:extLst>
          </p:cNvPr>
          <p:cNvCxnSpPr>
            <a:cxnSpLocks/>
          </p:cNvCxnSpPr>
          <p:nvPr/>
        </p:nvCxnSpPr>
        <p:spPr>
          <a:xfrm>
            <a:off x="2286000" y="5524500"/>
            <a:ext cx="802976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E2AC508A-017B-4E8A-BF9B-CBD44173E679}"/>
              </a:ext>
            </a:extLst>
          </p:cNvPr>
          <p:cNvCxnSpPr>
            <a:cxnSpLocks/>
          </p:cNvCxnSpPr>
          <p:nvPr/>
        </p:nvCxnSpPr>
        <p:spPr>
          <a:xfrm>
            <a:off x="3505200" y="5524500"/>
            <a:ext cx="0" cy="419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14">
            <a:extLst>
              <a:ext uri="{FF2B5EF4-FFF2-40B4-BE49-F238E27FC236}">
                <a16:creationId xmlns:a16="http://schemas.microsoft.com/office/drawing/2014/main" id="{BC7CBEE8-E5F6-46A2-902F-AC12A96D0CB1}"/>
              </a:ext>
            </a:extLst>
          </p:cNvPr>
          <p:cNvCxnSpPr>
            <a:cxnSpLocks/>
          </p:cNvCxnSpPr>
          <p:nvPr/>
        </p:nvCxnSpPr>
        <p:spPr>
          <a:xfrm>
            <a:off x="4800600" y="5524500"/>
            <a:ext cx="0" cy="419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C6B9408A-DFD8-45F5-BB65-F2D5E555D80B}"/>
              </a:ext>
            </a:extLst>
          </p:cNvPr>
          <p:cNvCxnSpPr>
            <a:cxnSpLocks/>
          </p:cNvCxnSpPr>
          <p:nvPr/>
        </p:nvCxnSpPr>
        <p:spPr>
          <a:xfrm>
            <a:off x="3505200" y="5524500"/>
            <a:ext cx="12954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E26E510E-4C17-4EB2-8BFF-F0B88597C280}"/>
              </a:ext>
            </a:extLst>
          </p:cNvPr>
          <p:cNvCxnSpPr>
            <a:cxnSpLocks/>
          </p:cNvCxnSpPr>
          <p:nvPr/>
        </p:nvCxnSpPr>
        <p:spPr>
          <a:xfrm flipV="1">
            <a:off x="5562600" y="4648200"/>
            <a:ext cx="0" cy="12954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B311AC9D-9596-434A-87E8-79B3975B31B8}"/>
              </a:ext>
            </a:extLst>
          </p:cNvPr>
          <p:cNvCxnSpPr>
            <a:cxnSpLocks/>
          </p:cNvCxnSpPr>
          <p:nvPr/>
        </p:nvCxnSpPr>
        <p:spPr>
          <a:xfrm flipH="1">
            <a:off x="5562600" y="4648200"/>
            <a:ext cx="22098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18">
            <a:extLst>
              <a:ext uri="{FF2B5EF4-FFF2-40B4-BE49-F238E27FC236}">
                <a16:creationId xmlns:a16="http://schemas.microsoft.com/office/drawing/2014/main" id="{7FB676BE-F11E-4E59-B210-0674E3DD5FF7}"/>
              </a:ext>
            </a:extLst>
          </p:cNvPr>
          <p:cNvCxnSpPr>
            <a:cxnSpLocks/>
          </p:cNvCxnSpPr>
          <p:nvPr/>
        </p:nvCxnSpPr>
        <p:spPr>
          <a:xfrm>
            <a:off x="7772400" y="4648200"/>
            <a:ext cx="0" cy="12954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eur droit 19">
            <a:extLst>
              <a:ext uri="{FF2B5EF4-FFF2-40B4-BE49-F238E27FC236}">
                <a16:creationId xmlns:a16="http://schemas.microsoft.com/office/drawing/2014/main" id="{D5804CFA-EDD5-4D20-A5B5-8DE1F51858FB}"/>
              </a:ext>
            </a:extLst>
          </p:cNvPr>
          <p:cNvCxnSpPr>
            <a:cxnSpLocks/>
          </p:cNvCxnSpPr>
          <p:nvPr/>
        </p:nvCxnSpPr>
        <p:spPr>
          <a:xfrm>
            <a:off x="6266012" y="5524500"/>
            <a:ext cx="0" cy="419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1952826C-3868-460F-A923-61F59734C21B}"/>
              </a:ext>
            </a:extLst>
          </p:cNvPr>
          <p:cNvCxnSpPr>
            <a:cxnSpLocks/>
          </p:cNvCxnSpPr>
          <p:nvPr/>
        </p:nvCxnSpPr>
        <p:spPr>
          <a:xfrm>
            <a:off x="7066607" y="5524500"/>
            <a:ext cx="0" cy="419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21">
            <a:extLst>
              <a:ext uri="{FF2B5EF4-FFF2-40B4-BE49-F238E27FC236}">
                <a16:creationId xmlns:a16="http://schemas.microsoft.com/office/drawing/2014/main" id="{BC0BDBB9-28DC-4DBC-A5C5-D99B7C385436}"/>
              </a:ext>
            </a:extLst>
          </p:cNvPr>
          <p:cNvCxnSpPr>
            <a:cxnSpLocks/>
          </p:cNvCxnSpPr>
          <p:nvPr/>
        </p:nvCxnSpPr>
        <p:spPr>
          <a:xfrm>
            <a:off x="6266012" y="5524500"/>
            <a:ext cx="802976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00713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07BB9B2-A4EF-4B30-8476-51CAFBDC1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Modélisation du problème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742402F-BB72-4F9B-89AF-41353C969320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12648" y="1066800"/>
            <a:ext cx="8153400" cy="4495800"/>
          </a:xfrm>
        </p:spPr>
        <p:txBody>
          <a:bodyPr/>
          <a:lstStyle/>
          <a:p>
            <a:r>
              <a:rPr lang="fr-CA" b="1" u="sng">
                <a:solidFill>
                  <a:srgbClr val="FF0000"/>
                </a:solidFill>
              </a:rPr>
              <a:t>Hypothèse 1</a:t>
            </a:r>
            <a:r>
              <a:rPr lang="fr-CA"/>
              <a:t>: chaque nucléotide est apparié 0 ou 1 fois.</a:t>
            </a:r>
          </a:p>
          <a:p>
            <a:endParaRPr lang="fr-CA"/>
          </a:p>
          <a:p>
            <a:r>
              <a:rPr lang="fr-CA" b="1" u="sng">
                <a:solidFill>
                  <a:srgbClr val="FF0000"/>
                </a:solidFill>
              </a:rPr>
              <a:t>Hypothèse 2</a:t>
            </a:r>
            <a:r>
              <a:rPr lang="fr-CA"/>
              <a:t>: les appariements se font de façon "planaire" dans l'espace</a:t>
            </a:r>
          </a:p>
          <a:p>
            <a:pPr lvl="1"/>
            <a:r>
              <a:rPr lang="fr-CA"/>
              <a:t>Pas de croisement entre les appariements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33B891D8-C015-4DBF-9379-6F2A3E740F62}"/>
              </a:ext>
            </a:extLst>
          </p:cNvPr>
          <p:cNvSpPr txBox="1"/>
          <p:nvPr/>
        </p:nvSpPr>
        <p:spPr>
          <a:xfrm>
            <a:off x="1100865" y="5850266"/>
            <a:ext cx="69413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A" sz="2800">
                <a:latin typeface="Cambria" panose="02040503050406030204" pitchFamily="18" charset="0"/>
                <a:ea typeface="Cambria" panose="02040503050406030204" pitchFamily="18" charset="0"/>
              </a:rPr>
              <a:t>c a u c g a a c g u c c u c a a g a c a g c u c u c u</a:t>
            </a:r>
          </a:p>
        </p:txBody>
      </p: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56B6813F-7C31-46B0-A7C0-46496E67B134}"/>
              </a:ext>
            </a:extLst>
          </p:cNvPr>
          <p:cNvCxnSpPr/>
          <p:nvPr/>
        </p:nvCxnSpPr>
        <p:spPr>
          <a:xfrm flipV="1">
            <a:off x="1295400" y="4648200"/>
            <a:ext cx="0" cy="12954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DB690AA5-EBA9-408B-891A-3159F35CF6E9}"/>
              </a:ext>
            </a:extLst>
          </p:cNvPr>
          <p:cNvCxnSpPr>
            <a:cxnSpLocks/>
          </p:cNvCxnSpPr>
          <p:nvPr/>
        </p:nvCxnSpPr>
        <p:spPr>
          <a:xfrm flipH="1">
            <a:off x="1295400" y="4648200"/>
            <a:ext cx="40386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658F59AE-C829-4D82-BF85-D30B9A41B996}"/>
              </a:ext>
            </a:extLst>
          </p:cNvPr>
          <p:cNvCxnSpPr>
            <a:cxnSpLocks/>
          </p:cNvCxnSpPr>
          <p:nvPr/>
        </p:nvCxnSpPr>
        <p:spPr>
          <a:xfrm>
            <a:off x="5334000" y="4648200"/>
            <a:ext cx="0" cy="12954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F0232F57-4D3E-4049-BDEB-BBD1E386199E}"/>
              </a:ext>
            </a:extLst>
          </p:cNvPr>
          <p:cNvCxnSpPr>
            <a:cxnSpLocks/>
          </p:cNvCxnSpPr>
          <p:nvPr/>
        </p:nvCxnSpPr>
        <p:spPr>
          <a:xfrm flipH="1">
            <a:off x="1828800" y="5105400"/>
            <a:ext cx="32004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99684AC8-1AEB-4E5D-8F51-70FF22F909D1}"/>
              </a:ext>
            </a:extLst>
          </p:cNvPr>
          <p:cNvCxnSpPr>
            <a:cxnSpLocks/>
          </p:cNvCxnSpPr>
          <p:nvPr/>
        </p:nvCxnSpPr>
        <p:spPr>
          <a:xfrm>
            <a:off x="1828800" y="5105400"/>
            <a:ext cx="0" cy="8382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031CA312-8830-440D-BCF5-7C6FCA8658D5}"/>
              </a:ext>
            </a:extLst>
          </p:cNvPr>
          <p:cNvCxnSpPr>
            <a:cxnSpLocks/>
          </p:cNvCxnSpPr>
          <p:nvPr/>
        </p:nvCxnSpPr>
        <p:spPr>
          <a:xfrm>
            <a:off x="5034951" y="5105400"/>
            <a:ext cx="0" cy="8382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1D110CAA-3518-412B-96E2-5D2D7241A998}"/>
              </a:ext>
            </a:extLst>
          </p:cNvPr>
          <p:cNvCxnSpPr>
            <a:cxnSpLocks/>
          </p:cNvCxnSpPr>
          <p:nvPr/>
        </p:nvCxnSpPr>
        <p:spPr>
          <a:xfrm>
            <a:off x="2286000" y="5524500"/>
            <a:ext cx="0" cy="419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E64D0FFE-A363-49CA-8F0F-E1235A22634B}"/>
              </a:ext>
            </a:extLst>
          </p:cNvPr>
          <p:cNvCxnSpPr>
            <a:cxnSpLocks/>
          </p:cNvCxnSpPr>
          <p:nvPr/>
        </p:nvCxnSpPr>
        <p:spPr>
          <a:xfrm>
            <a:off x="3086595" y="5524500"/>
            <a:ext cx="0" cy="419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E09E84D2-57A6-4962-BE71-EAA4D8BC4A06}"/>
              </a:ext>
            </a:extLst>
          </p:cNvPr>
          <p:cNvCxnSpPr>
            <a:cxnSpLocks/>
          </p:cNvCxnSpPr>
          <p:nvPr/>
        </p:nvCxnSpPr>
        <p:spPr>
          <a:xfrm>
            <a:off x="2286000" y="5524500"/>
            <a:ext cx="802976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4E989952-6700-41BE-B8A1-623D66D1AA71}"/>
              </a:ext>
            </a:extLst>
          </p:cNvPr>
          <p:cNvCxnSpPr>
            <a:cxnSpLocks/>
          </p:cNvCxnSpPr>
          <p:nvPr/>
        </p:nvCxnSpPr>
        <p:spPr>
          <a:xfrm>
            <a:off x="3505200" y="5524500"/>
            <a:ext cx="0" cy="419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14">
            <a:extLst>
              <a:ext uri="{FF2B5EF4-FFF2-40B4-BE49-F238E27FC236}">
                <a16:creationId xmlns:a16="http://schemas.microsoft.com/office/drawing/2014/main" id="{9E4C00F8-39B4-4E11-A490-A7DB932A02DA}"/>
              </a:ext>
            </a:extLst>
          </p:cNvPr>
          <p:cNvCxnSpPr>
            <a:cxnSpLocks/>
          </p:cNvCxnSpPr>
          <p:nvPr/>
        </p:nvCxnSpPr>
        <p:spPr>
          <a:xfrm>
            <a:off x="4800600" y="5524500"/>
            <a:ext cx="0" cy="419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6214FE4A-2B2F-490A-8F27-091BD366F199}"/>
              </a:ext>
            </a:extLst>
          </p:cNvPr>
          <p:cNvCxnSpPr>
            <a:cxnSpLocks/>
          </p:cNvCxnSpPr>
          <p:nvPr/>
        </p:nvCxnSpPr>
        <p:spPr>
          <a:xfrm>
            <a:off x="3505200" y="5524500"/>
            <a:ext cx="12954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D0C6F915-FDF0-4B4E-BF98-F550C6BDC012}"/>
              </a:ext>
            </a:extLst>
          </p:cNvPr>
          <p:cNvCxnSpPr>
            <a:cxnSpLocks/>
          </p:cNvCxnSpPr>
          <p:nvPr/>
        </p:nvCxnSpPr>
        <p:spPr>
          <a:xfrm flipV="1">
            <a:off x="5562600" y="4648200"/>
            <a:ext cx="0" cy="12954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5AA8D05E-CFFB-43C5-A192-AFC68A5F0343}"/>
              </a:ext>
            </a:extLst>
          </p:cNvPr>
          <p:cNvCxnSpPr>
            <a:cxnSpLocks/>
          </p:cNvCxnSpPr>
          <p:nvPr/>
        </p:nvCxnSpPr>
        <p:spPr>
          <a:xfrm flipH="1">
            <a:off x="5562600" y="4648200"/>
            <a:ext cx="22098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18">
            <a:extLst>
              <a:ext uri="{FF2B5EF4-FFF2-40B4-BE49-F238E27FC236}">
                <a16:creationId xmlns:a16="http://schemas.microsoft.com/office/drawing/2014/main" id="{523CC12B-6D98-4402-9826-542CBB6A71E7}"/>
              </a:ext>
            </a:extLst>
          </p:cNvPr>
          <p:cNvCxnSpPr>
            <a:cxnSpLocks/>
          </p:cNvCxnSpPr>
          <p:nvPr/>
        </p:nvCxnSpPr>
        <p:spPr>
          <a:xfrm>
            <a:off x="7772400" y="4648200"/>
            <a:ext cx="0" cy="12954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eur droit 19">
            <a:extLst>
              <a:ext uri="{FF2B5EF4-FFF2-40B4-BE49-F238E27FC236}">
                <a16:creationId xmlns:a16="http://schemas.microsoft.com/office/drawing/2014/main" id="{9F501753-E81A-4616-B953-FA203D101966}"/>
              </a:ext>
            </a:extLst>
          </p:cNvPr>
          <p:cNvCxnSpPr>
            <a:cxnSpLocks/>
          </p:cNvCxnSpPr>
          <p:nvPr/>
        </p:nvCxnSpPr>
        <p:spPr>
          <a:xfrm>
            <a:off x="6266012" y="5524500"/>
            <a:ext cx="0" cy="419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7709BFC1-5CC7-4801-9221-A6D418B9C8D1}"/>
              </a:ext>
            </a:extLst>
          </p:cNvPr>
          <p:cNvCxnSpPr>
            <a:cxnSpLocks/>
          </p:cNvCxnSpPr>
          <p:nvPr/>
        </p:nvCxnSpPr>
        <p:spPr>
          <a:xfrm>
            <a:off x="7066607" y="5524500"/>
            <a:ext cx="0" cy="419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21">
            <a:extLst>
              <a:ext uri="{FF2B5EF4-FFF2-40B4-BE49-F238E27FC236}">
                <a16:creationId xmlns:a16="http://schemas.microsoft.com/office/drawing/2014/main" id="{0AA9C733-F7A9-4C0C-90EC-41B3960E5594}"/>
              </a:ext>
            </a:extLst>
          </p:cNvPr>
          <p:cNvCxnSpPr>
            <a:cxnSpLocks/>
          </p:cNvCxnSpPr>
          <p:nvPr/>
        </p:nvCxnSpPr>
        <p:spPr>
          <a:xfrm>
            <a:off x="6266012" y="5524500"/>
            <a:ext cx="802976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52663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07BB9B2-A4EF-4B30-8476-51CAFBDC1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Modélisation du problème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742402F-BB72-4F9B-89AF-41353C969320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12648" y="1066800"/>
            <a:ext cx="8153400" cy="4495800"/>
          </a:xfrm>
        </p:spPr>
        <p:txBody>
          <a:bodyPr/>
          <a:lstStyle/>
          <a:p>
            <a:r>
              <a:rPr lang="fr-CA" b="1" u="sng">
                <a:solidFill>
                  <a:srgbClr val="FF0000"/>
                </a:solidFill>
              </a:rPr>
              <a:t>Hypothèse 1</a:t>
            </a:r>
            <a:r>
              <a:rPr lang="fr-CA"/>
              <a:t>: chaque nucléotide est apparié 0 ou 1 fois.</a:t>
            </a:r>
          </a:p>
          <a:p>
            <a:pPr lvl="1"/>
            <a:r>
              <a:rPr lang="fr-CA" i="1">
                <a:highlight>
                  <a:srgbClr val="FFFF00"/>
                </a:highlight>
              </a:rPr>
              <a:t>Pas toujours vrai (triplets de bases existent)</a:t>
            </a:r>
          </a:p>
          <a:p>
            <a:r>
              <a:rPr lang="fr-CA" b="1" u="sng">
                <a:solidFill>
                  <a:srgbClr val="FF0000"/>
                </a:solidFill>
              </a:rPr>
              <a:t>Hypothèse 2</a:t>
            </a:r>
            <a:r>
              <a:rPr lang="fr-CA"/>
              <a:t>: les appariements se font de façon "planaire" dans l'espace</a:t>
            </a:r>
          </a:p>
          <a:p>
            <a:pPr lvl="1"/>
            <a:r>
              <a:rPr lang="fr-CA"/>
              <a:t>Pas de croisement entre les appariements</a:t>
            </a:r>
          </a:p>
          <a:p>
            <a:pPr lvl="1"/>
            <a:r>
              <a:rPr lang="fr-CA" i="1">
                <a:highlight>
                  <a:srgbClr val="FFFF00"/>
                </a:highlight>
              </a:rPr>
              <a:t>Pas toujours vrai (croisement = pseudo-noeud)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33B891D8-C015-4DBF-9379-6F2A3E740F62}"/>
              </a:ext>
            </a:extLst>
          </p:cNvPr>
          <p:cNvSpPr txBox="1"/>
          <p:nvPr/>
        </p:nvSpPr>
        <p:spPr>
          <a:xfrm>
            <a:off x="1100865" y="5850266"/>
            <a:ext cx="69413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A" sz="2800">
                <a:latin typeface="Cambria" panose="02040503050406030204" pitchFamily="18" charset="0"/>
                <a:ea typeface="Cambria" panose="02040503050406030204" pitchFamily="18" charset="0"/>
              </a:rPr>
              <a:t>c a u c g a a c g u c c u c a a g a c a g c u c u c u</a:t>
            </a:r>
          </a:p>
        </p:txBody>
      </p: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56B6813F-7C31-46B0-A7C0-46496E67B134}"/>
              </a:ext>
            </a:extLst>
          </p:cNvPr>
          <p:cNvCxnSpPr/>
          <p:nvPr/>
        </p:nvCxnSpPr>
        <p:spPr>
          <a:xfrm flipV="1">
            <a:off x="1295400" y="4648200"/>
            <a:ext cx="0" cy="12954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DB690AA5-EBA9-408B-891A-3159F35CF6E9}"/>
              </a:ext>
            </a:extLst>
          </p:cNvPr>
          <p:cNvCxnSpPr>
            <a:cxnSpLocks/>
          </p:cNvCxnSpPr>
          <p:nvPr/>
        </p:nvCxnSpPr>
        <p:spPr>
          <a:xfrm flipH="1">
            <a:off x="1295400" y="4648200"/>
            <a:ext cx="40386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658F59AE-C829-4D82-BF85-D30B9A41B996}"/>
              </a:ext>
            </a:extLst>
          </p:cNvPr>
          <p:cNvCxnSpPr>
            <a:cxnSpLocks/>
          </p:cNvCxnSpPr>
          <p:nvPr/>
        </p:nvCxnSpPr>
        <p:spPr>
          <a:xfrm>
            <a:off x="5334000" y="4648200"/>
            <a:ext cx="0" cy="12954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F0232F57-4D3E-4049-BDEB-BBD1E386199E}"/>
              </a:ext>
            </a:extLst>
          </p:cNvPr>
          <p:cNvCxnSpPr>
            <a:cxnSpLocks/>
          </p:cNvCxnSpPr>
          <p:nvPr/>
        </p:nvCxnSpPr>
        <p:spPr>
          <a:xfrm flipH="1">
            <a:off x="1828800" y="5105400"/>
            <a:ext cx="32004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99684AC8-1AEB-4E5D-8F51-70FF22F909D1}"/>
              </a:ext>
            </a:extLst>
          </p:cNvPr>
          <p:cNvCxnSpPr>
            <a:cxnSpLocks/>
          </p:cNvCxnSpPr>
          <p:nvPr/>
        </p:nvCxnSpPr>
        <p:spPr>
          <a:xfrm>
            <a:off x="1828800" y="5105400"/>
            <a:ext cx="0" cy="8382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031CA312-8830-440D-BCF5-7C6FCA8658D5}"/>
              </a:ext>
            </a:extLst>
          </p:cNvPr>
          <p:cNvCxnSpPr>
            <a:cxnSpLocks/>
          </p:cNvCxnSpPr>
          <p:nvPr/>
        </p:nvCxnSpPr>
        <p:spPr>
          <a:xfrm>
            <a:off x="5034951" y="5105400"/>
            <a:ext cx="0" cy="8382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1D110CAA-3518-412B-96E2-5D2D7241A998}"/>
              </a:ext>
            </a:extLst>
          </p:cNvPr>
          <p:cNvCxnSpPr>
            <a:cxnSpLocks/>
          </p:cNvCxnSpPr>
          <p:nvPr/>
        </p:nvCxnSpPr>
        <p:spPr>
          <a:xfrm>
            <a:off x="2286000" y="5524500"/>
            <a:ext cx="0" cy="419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E64D0FFE-A363-49CA-8F0F-E1235A22634B}"/>
              </a:ext>
            </a:extLst>
          </p:cNvPr>
          <p:cNvCxnSpPr>
            <a:cxnSpLocks/>
          </p:cNvCxnSpPr>
          <p:nvPr/>
        </p:nvCxnSpPr>
        <p:spPr>
          <a:xfrm>
            <a:off x="3086595" y="5524500"/>
            <a:ext cx="0" cy="419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E09E84D2-57A6-4962-BE71-EAA4D8BC4A06}"/>
              </a:ext>
            </a:extLst>
          </p:cNvPr>
          <p:cNvCxnSpPr>
            <a:cxnSpLocks/>
          </p:cNvCxnSpPr>
          <p:nvPr/>
        </p:nvCxnSpPr>
        <p:spPr>
          <a:xfrm>
            <a:off x="2286000" y="5524500"/>
            <a:ext cx="802976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4E989952-6700-41BE-B8A1-623D66D1AA71}"/>
              </a:ext>
            </a:extLst>
          </p:cNvPr>
          <p:cNvCxnSpPr>
            <a:cxnSpLocks/>
          </p:cNvCxnSpPr>
          <p:nvPr/>
        </p:nvCxnSpPr>
        <p:spPr>
          <a:xfrm>
            <a:off x="3505200" y="5524500"/>
            <a:ext cx="0" cy="419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14">
            <a:extLst>
              <a:ext uri="{FF2B5EF4-FFF2-40B4-BE49-F238E27FC236}">
                <a16:creationId xmlns:a16="http://schemas.microsoft.com/office/drawing/2014/main" id="{9E4C00F8-39B4-4E11-A490-A7DB932A02DA}"/>
              </a:ext>
            </a:extLst>
          </p:cNvPr>
          <p:cNvCxnSpPr>
            <a:cxnSpLocks/>
          </p:cNvCxnSpPr>
          <p:nvPr/>
        </p:nvCxnSpPr>
        <p:spPr>
          <a:xfrm>
            <a:off x="4800600" y="5524500"/>
            <a:ext cx="0" cy="419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6214FE4A-2B2F-490A-8F27-091BD366F199}"/>
              </a:ext>
            </a:extLst>
          </p:cNvPr>
          <p:cNvCxnSpPr>
            <a:cxnSpLocks/>
          </p:cNvCxnSpPr>
          <p:nvPr/>
        </p:nvCxnSpPr>
        <p:spPr>
          <a:xfrm>
            <a:off x="3505200" y="5524500"/>
            <a:ext cx="12954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D0C6F915-FDF0-4B4E-BF98-F550C6BDC012}"/>
              </a:ext>
            </a:extLst>
          </p:cNvPr>
          <p:cNvCxnSpPr>
            <a:cxnSpLocks/>
          </p:cNvCxnSpPr>
          <p:nvPr/>
        </p:nvCxnSpPr>
        <p:spPr>
          <a:xfrm flipV="1">
            <a:off x="5562600" y="4648200"/>
            <a:ext cx="0" cy="12954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5AA8D05E-CFFB-43C5-A192-AFC68A5F0343}"/>
              </a:ext>
            </a:extLst>
          </p:cNvPr>
          <p:cNvCxnSpPr>
            <a:cxnSpLocks/>
          </p:cNvCxnSpPr>
          <p:nvPr/>
        </p:nvCxnSpPr>
        <p:spPr>
          <a:xfrm flipH="1">
            <a:off x="5562600" y="4648200"/>
            <a:ext cx="22098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18">
            <a:extLst>
              <a:ext uri="{FF2B5EF4-FFF2-40B4-BE49-F238E27FC236}">
                <a16:creationId xmlns:a16="http://schemas.microsoft.com/office/drawing/2014/main" id="{523CC12B-6D98-4402-9826-542CBB6A71E7}"/>
              </a:ext>
            </a:extLst>
          </p:cNvPr>
          <p:cNvCxnSpPr>
            <a:cxnSpLocks/>
          </p:cNvCxnSpPr>
          <p:nvPr/>
        </p:nvCxnSpPr>
        <p:spPr>
          <a:xfrm>
            <a:off x="7772400" y="4648200"/>
            <a:ext cx="0" cy="12954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eur droit 19">
            <a:extLst>
              <a:ext uri="{FF2B5EF4-FFF2-40B4-BE49-F238E27FC236}">
                <a16:creationId xmlns:a16="http://schemas.microsoft.com/office/drawing/2014/main" id="{9F501753-E81A-4616-B953-FA203D101966}"/>
              </a:ext>
            </a:extLst>
          </p:cNvPr>
          <p:cNvCxnSpPr>
            <a:cxnSpLocks/>
          </p:cNvCxnSpPr>
          <p:nvPr/>
        </p:nvCxnSpPr>
        <p:spPr>
          <a:xfrm>
            <a:off x="6266012" y="5524500"/>
            <a:ext cx="0" cy="419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7709BFC1-5CC7-4801-9221-A6D418B9C8D1}"/>
              </a:ext>
            </a:extLst>
          </p:cNvPr>
          <p:cNvCxnSpPr>
            <a:cxnSpLocks/>
          </p:cNvCxnSpPr>
          <p:nvPr/>
        </p:nvCxnSpPr>
        <p:spPr>
          <a:xfrm>
            <a:off x="7066607" y="5524500"/>
            <a:ext cx="0" cy="419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21">
            <a:extLst>
              <a:ext uri="{FF2B5EF4-FFF2-40B4-BE49-F238E27FC236}">
                <a16:creationId xmlns:a16="http://schemas.microsoft.com/office/drawing/2014/main" id="{0AA9C733-F7A9-4C0C-90EC-41B3960E5594}"/>
              </a:ext>
            </a:extLst>
          </p:cNvPr>
          <p:cNvCxnSpPr>
            <a:cxnSpLocks/>
          </p:cNvCxnSpPr>
          <p:nvPr/>
        </p:nvCxnSpPr>
        <p:spPr>
          <a:xfrm>
            <a:off x="6266012" y="5524500"/>
            <a:ext cx="802976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59516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07BB9B2-A4EF-4B30-8476-51CAFBDC1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Modélisation du problème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742402F-BB72-4F9B-89AF-41353C969320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12648" y="1066800"/>
            <a:ext cx="8153400" cy="4495800"/>
          </a:xfrm>
        </p:spPr>
        <p:txBody>
          <a:bodyPr/>
          <a:lstStyle/>
          <a:p>
            <a:r>
              <a:rPr lang="fr-CA" b="1" u="sng">
                <a:solidFill>
                  <a:srgbClr val="FF0000"/>
                </a:solidFill>
              </a:rPr>
              <a:t>Hypothèse 1</a:t>
            </a:r>
            <a:r>
              <a:rPr lang="fr-CA"/>
              <a:t>: chaque nucléotide est apparié 0 ou 1 fois.</a:t>
            </a:r>
          </a:p>
          <a:p>
            <a:endParaRPr lang="fr-CA"/>
          </a:p>
          <a:p>
            <a:r>
              <a:rPr lang="fr-CA" b="1" u="sng">
                <a:solidFill>
                  <a:srgbClr val="FF0000"/>
                </a:solidFill>
              </a:rPr>
              <a:t>Hypothèse 2</a:t>
            </a:r>
            <a:r>
              <a:rPr lang="fr-CA"/>
              <a:t>: les appariements se font de façon "planaire" dans l'espace</a:t>
            </a:r>
          </a:p>
          <a:p>
            <a:pPr lvl="1"/>
            <a:r>
              <a:rPr lang="fr-CA"/>
              <a:t>Pas de croisement entre les appariements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33B891D8-C015-4DBF-9379-6F2A3E740F62}"/>
              </a:ext>
            </a:extLst>
          </p:cNvPr>
          <p:cNvSpPr txBox="1"/>
          <p:nvPr/>
        </p:nvSpPr>
        <p:spPr>
          <a:xfrm>
            <a:off x="1100865" y="5850266"/>
            <a:ext cx="69413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A" sz="2800">
                <a:latin typeface="Cambria" panose="02040503050406030204" pitchFamily="18" charset="0"/>
                <a:ea typeface="Cambria" panose="02040503050406030204" pitchFamily="18" charset="0"/>
              </a:rPr>
              <a:t>c a u c g a a c g u c c u c a a g a c a g c u c u c u</a:t>
            </a:r>
          </a:p>
        </p:txBody>
      </p: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56B6813F-7C31-46B0-A7C0-46496E67B134}"/>
              </a:ext>
            </a:extLst>
          </p:cNvPr>
          <p:cNvCxnSpPr/>
          <p:nvPr/>
        </p:nvCxnSpPr>
        <p:spPr>
          <a:xfrm flipV="1">
            <a:off x="1295400" y="4648200"/>
            <a:ext cx="0" cy="12954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DB690AA5-EBA9-408B-891A-3159F35CF6E9}"/>
              </a:ext>
            </a:extLst>
          </p:cNvPr>
          <p:cNvCxnSpPr>
            <a:cxnSpLocks/>
          </p:cNvCxnSpPr>
          <p:nvPr/>
        </p:nvCxnSpPr>
        <p:spPr>
          <a:xfrm flipH="1">
            <a:off x="1295400" y="4648200"/>
            <a:ext cx="40386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658F59AE-C829-4D82-BF85-D30B9A41B996}"/>
              </a:ext>
            </a:extLst>
          </p:cNvPr>
          <p:cNvCxnSpPr>
            <a:cxnSpLocks/>
          </p:cNvCxnSpPr>
          <p:nvPr/>
        </p:nvCxnSpPr>
        <p:spPr>
          <a:xfrm>
            <a:off x="5334000" y="4648200"/>
            <a:ext cx="0" cy="12954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F0232F57-4D3E-4049-BDEB-BBD1E386199E}"/>
              </a:ext>
            </a:extLst>
          </p:cNvPr>
          <p:cNvCxnSpPr>
            <a:cxnSpLocks/>
          </p:cNvCxnSpPr>
          <p:nvPr/>
        </p:nvCxnSpPr>
        <p:spPr>
          <a:xfrm flipH="1">
            <a:off x="1828800" y="5105400"/>
            <a:ext cx="32004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99684AC8-1AEB-4E5D-8F51-70FF22F909D1}"/>
              </a:ext>
            </a:extLst>
          </p:cNvPr>
          <p:cNvCxnSpPr>
            <a:cxnSpLocks/>
          </p:cNvCxnSpPr>
          <p:nvPr/>
        </p:nvCxnSpPr>
        <p:spPr>
          <a:xfrm>
            <a:off x="1828800" y="5105400"/>
            <a:ext cx="0" cy="8382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031CA312-8830-440D-BCF5-7C6FCA8658D5}"/>
              </a:ext>
            </a:extLst>
          </p:cNvPr>
          <p:cNvCxnSpPr>
            <a:cxnSpLocks/>
          </p:cNvCxnSpPr>
          <p:nvPr/>
        </p:nvCxnSpPr>
        <p:spPr>
          <a:xfrm>
            <a:off x="5034951" y="5105400"/>
            <a:ext cx="0" cy="8382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1D110CAA-3518-412B-96E2-5D2D7241A998}"/>
              </a:ext>
            </a:extLst>
          </p:cNvPr>
          <p:cNvCxnSpPr>
            <a:cxnSpLocks/>
          </p:cNvCxnSpPr>
          <p:nvPr/>
        </p:nvCxnSpPr>
        <p:spPr>
          <a:xfrm>
            <a:off x="2286000" y="5524500"/>
            <a:ext cx="0" cy="419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E64D0FFE-A363-49CA-8F0F-E1235A22634B}"/>
              </a:ext>
            </a:extLst>
          </p:cNvPr>
          <p:cNvCxnSpPr>
            <a:cxnSpLocks/>
          </p:cNvCxnSpPr>
          <p:nvPr/>
        </p:nvCxnSpPr>
        <p:spPr>
          <a:xfrm>
            <a:off x="3086595" y="5524500"/>
            <a:ext cx="0" cy="419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E09E84D2-57A6-4962-BE71-EAA4D8BC4A06}"/>
              </a:ext>
            </a:extLst>
          </p:cNvPr>
          <p:cNvCxnSpPr>
            <a:cxnSpLocks/>
          </p:cNvCxnSpPr>
          <p:nvPr/>
        </p:nvCxnSpPr>
        <p:spPr>
          <a:xfrm>
            <a:off x="2286000" y="5524500"/>
            <a:ext cx="802976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4E989952-6700-41BE-B8A1-623D66D1AA71}"/>
              </a:ext>
            </a:extLst>
          </p:cNvPr>
          <p:cNvCxnSpPr>
            <a:cxnSpLocks/>
          </p:cNvCxnSpPr>
          <p:nvPr/>
        </p:nvCxnSpPr>
        <p:spPr>
          <a:xfrm>
            <a:off x="3505200" y="5524500"/>
            <a:ext cx="0" cy="419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14">
            <a:extLst>
              <a:ext uri="{FF2B5EF4-FFF2-40B4-BE49-F238E27FC236}">
                <a16:creationId xmlns:a16="http://schemas.microsoft.com/office/drawing/2014/main" id="{9E4C00F8-39B4-4E11-A490-A7DB932A02DA}"/>
              </a:ext>
            </a:extLst>
          </p:cNvPr>
          <p:cNvCxnSpPr>
            <a:cxnSpLocks/>
          </p:cNvCxnSpPr>
          <p:nvPr/>
        </p:nvCxnSpPr>
        <p:spPr>
          <a:xfrm>
            <a:off x="4800600" y="5524500"/>
            <a:ext cx="0" cy="419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6214FE4A-2B2F-490A-8F27-091BD366F199}"/>
              </a:ext>
            </a:extLst>
          </p:cNvPr>
          <p:cNvCxnSpPr>
            <a:cxnSpLocks/>
          </p:cNvCxnSpPr>
          <p:nvPr/>
        </p:nvCxnSpPr>
        <p:spPr>
          <a:xfrm>
            <a:off x="3505200" y="5524500"/>
            <a:ext cx="12954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D0C6F915-FDF0-4B4E-BF98-F550C6BDC012}"/>
              </a:ext>
            </a:extLst>
          </p:cNvPr>
          <p:cNvCxnSpPr>
            <a:cxnSpLocks/>
          </p:cNvCxnSpPr>
          <p:nvPr/>
        </p:nvCxnSpPr>
        <p:spPr>
          <a:xfrm flipV="1">
            <a:off x="5562600" y="4648200"/>
            <a:ext cx="0" cy="12954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5AA8D05E-CFFB-43C5-A192-AFC68A5F0343}"/>
              </a:ext>
            </a:extLst>
          </p:cNvPr>
          <p:cNvCxnSpPr>
            <a:cxnSpLocks/>
          </p:cNvCxnSpPr>
          <p:nvPr/>
        </p:nvCxnSpPr>
        <p:spPr>
          <a:xfrm flipH="1">
            <a:off x="5562600" y="4648200"/>
            <a:ext cx="22098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18">
            <a:extLst>
              <a:ext uri="{FF2B5EF4-FFF2-40B4-BE49-F238E27FC236}">
                <a16:creationId xmlns:a16="http://schemas.microsoft.com/office/drawing/2014/main" id="{523CC12B-6D98-4402-9826-542CBB6A71E7}"/>
              </a:ext>
            </a:extLst>
          </p:cNvPr>
          <p:cNvCxnSpPr>
            <a:cxnSpLocks/>
          </p:cNvCxnSpPr>
          <p:nvPr/>
        </p:nvCxnSpPr>
        <p:spPr>
          <a:xfrm>
            <a:off x="7772400" y="4648200"/>
            <a:ext cx="0" cy="12954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eur droit 19">
            <a:extLst>
              <a:ext uri="{FF2B5EF4-FFF2-40B4-BE49-F238E27FC236}">
                <a16:creationId xmlns:a16="http://schemas.microsoft.com/office/drawing/2014/main" id="{9F501753-E81A-4616-B953-FA203D101966}"/>
              </a:ext>
            </a:extLst>
          </p:cNvPr>
          <p:cNvCxnSpPr>
            <a:cxnSpLocks/>
          </p:cNvCxnSpPr>
          <p:nvPr/>
        </p:nvCxnSpPr>
        <p:spPr>
          <a:xfrm>
            <a:off x="6266012" y="5524500"/>
            <a:ext cx="0" cy="419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7709BFC1-5CC7-4801-9221-A6D418B9C8D1}"/>
              </a:ext>
            </a:extLst>
          </p:cNvPr>
          <p:cNvCxnSpPr>
            <a:cxnSpLocks/>
          </p:cNvCxnSpPr>
          <p:nvPr/>
        </p:nvCxnSpPr>
        <p:spPr>
          <a:xfrm>
            <a:off x="7066607" y="5524500"/>
            <a:ext cx="0" cy="419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21">
            <a:extLst>
              <a:ext uri="{FF2B5EF4-FFF2-40B4-BE49-F238E27FC236}">
                <a16:creationId xmlns:a16="http://schemas.microsoft.com/office/drawing/2014/main" id="{0AA9C733-F7A9-4C0C-90EC-41B3960E5594}"/>
              </a:ext>
            </a:extLst>
          </p:cNvPr>
          <p:cNvCxnSpPr>
            <a:cxnSpLocks/>
          </p:cNvCxnSpPr>
          <p:nvPr/>
        </p:nvCxnSpPr>
        <p:spPr>
          <a:xfrm>
            <a:off x="6266012" y="5524500"/>
            <a:ext cx="802976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19851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E1F1E6A-2923-4EB5-A780-BF3A801F1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Modélisation du problème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CF8D227-C3CF-432C-BBCD-7F3FF3AE6FA1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12648" y="1181100"/>
            <a:ext cx="8153400" cy="4495800"/>
          </a:xfrm>
        </p:spPr>
        <p:txBody>
          <a:bodyPr/>
          <a:lstStyle/>
          <a:p>
            <a:r>
              <a:rPr lang="fr-CA"/>
              <a:t>L'hypothèse du non-croisement donne une condition d'emboîtement sur les appariements </a:t>
            </a:r>
          </a:p>
          <a:p>
            <a:pPr marL="0" indent="0">
              <a:buNone/>
            </a:pPr>
            <a:r>
              <a:rPr lang="fr-CA"/>
              <a:t>    A = { (s</a:t>
            </a:r>
            <a:r>
              <a:rPr lang="fr-CA" baseline="-25000"/>
              <a:t>1</a:t>
            </a:r>
            <a:r>
              <a:rPr lang="fr-CA"/>
              <a:t>, t</a:t>
            </a:r>
            <a:r>
              <a:rPr lang="fr-CA" baseline="-25000"/>
              <a:t>1</a:t>
            </a:r>
            <a:r>
              <a:rPr lang="fr-CA"/>
              <a:t>), (s</a:t>
            </a:r>
            <a:r>
              <a:rPr lang="fr-CA" baseline="-25000"/>
              <a:t>2</a:t>
            </a:r>
            <a:r>
              <a:rPr lang="fr-CA"/>
              <a:t>, t</a:t>
            </a:r>
            <a:r>
              <a:rPr lang="fr-CA" baseline="-25000"/>
              <a:t>2</a:t>
            </a:r>
            <a:r>
              <a:rPr lang="fr-CA"/>
              <a:t>), ..., (s</a:t>
            </a:r>
            <a:r>
              <a:rPr lang="fr-CA" baseline="-25000"/>
              <a:t>k</a:t>
            </a:r>
            <a:r>
              <a:rPr lang="fr-CA"/>
              <a:t>, t</a:t>
            </a:r>
            <a:r>
              <a:rPr lang="fr-CA" baseline="-25000"/>
              <a:t>k</a:t>
            </a:r>
            <a:r>
              <a:rPr lang="fr-CA"/>
              <a:t>) }</a:t>
            </a:r>
          </a:p>
          <a:p>
            <a:r>
              <a:rPr lang="fr-CA"/>
              <a:t>Pour tout (s</a:t>
            </a:r>
            <a:r>
              <a:rPr lang="fr-CA" baseline="-25000"/>
              <a:t>i</a:t>
            </a:r>
            <a:r>
              <a:rPr lang="fr-CA"/>
              <a:t>, t</a:t>
            </a:r>
            <a:r>
              <a:rPr lang="fr-CA" baseline="-25000"/>
              <a:t>i</a:t>
            </a:r>
            <a:r>
              <a:rPr lang="fr-CA"/>
              <a:t>) et (s</a:t>
            </a:r>
            <a:r>
              <a:rPr lang="fr-CA" baseline="-25000"/>
              <a:t>j</a:t>
            </a:r>
            <a:r>
              <a:rPr lang="fr-CA"/>
              <a:t>, t</a:t>
            </a:r>
            <a:r>
              <a:rPr lang="fr-CA" baseline="-25000"/>
              <a:t>j</a:t>
            </a:r>
            <a:r>
              <a:rPr lang="fr-CA"/>
              <a:t>) dans A, on a </a:t>
            </a:r>
          </a:p>
          <a:p>
            <a:pPr marL="0" indent="0">
              <a:buNone/>
            </a:pPr>
            <a:r>
              <a:rPr lang="fr-CA"/>
              <a:t>    s</a:t>
            </a:r>
            <a:r>
              <a:rPr lang="fr-CA" baseline="-25000"/>
              <a:t>i</a:t>
            </a:r>
            <a:r>
              <a:rPr lang="fr-CA"/>
              <a:t> &lt; s</a:t>
            </a:r>
            <a:r>
              <a:rPr lang="fr-CA" baseline="-25000"/>
              <a:t>j</a:t>
            </a:r>
            <a:r>
              <a:rPr lang="fr-CA"/>
              <a:t> &lt; t</a:t>
            </a:r>
            <a:r>
              <a:rPr lang="fr-CA" baseline="-25000"/>
              <a:t>i</a:t>
            </a:r>
            <a:r>
              <a:rPr lang="fr-CA"/>
              <a:t> si et seulement si s</a:t>
            </a:r>
            <a:r>
              <a:rPr lang="fr-CA" baseline="-25000"/>
              <a:t>i</a:t>
            </a:r>
            <a:r>
              <a:rPr lang="fr-CA"/>
              <a:t> &lt; t</a:t>
            </a:r>
            <a:r>
              <a:rPr lang="fr-CA" baseline="-25000"/>
              <a:t>j</a:t>
            </a:r>
            <a:r>
              <a:rPr lang="fr-CA"/>
              <a:t> &lt; t</a:t>
            </a:r>
            <a:r>
              <a:rPr lang="fr-CA" baseline="-25000"/>
              <a:t>i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8F7CCD1F-B949-4AA6-B9D8-0301D3E61BE0}"/>
              </a:ext>
            </a:extLst>
          </p:cNvPr>
          <p:cNvSpPr txBox="1"/>
          <p:nvPr/>
        </p:nvSpPr>
        <p:spPr>
          <a:xfrm>
            <a:off x="1100865" y="5850266"/>
            <a:ext cx="69413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A" sz="2800">
                <a:latin typeface="Cambria" panose="02040503050406030204" pitchFamily="18" charset="0"/>
                <a:ea typeface="Cambria" panose="02040503050406030204" pitchFamily="18" charset="0"/>
              </a:rPr>
              <a:t>c a u c g a a c g u c c u c a a g a c a g c u c u c u</a:t>
            </a:r>
          </a:p>
        </p:txBody>
      </p: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51522346-E700-4D64-BCA3-9347322832E6}"/>
              </a:ext>
            </a:extLst>
          </p:cNvPr>
          <p:cNvCxnSpPr/>
          <p:nvPr/>
        </p:nvCxnSpPr>
        <p:spPr>
          <a:xfrm flipV="1">
            <a:off x="1295400" y="4648200"/>
            <a:ext cx="0" cy="12954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97CC829E-3599-40FE-A77C-EF1A9990FE5F}"/>
              </a:ext>
            </a:extLst>
          </p:cNvPr>
          <p:cNvCxnSpPr>
            <a:cxnSpLocks/>
          </p:cNvCxnSpPr>
          <p:nvPr/>
        </p:nvCxnSpPr>
        <p:spPr>
          <a:xfrm flipH="1">
            <a:off x="1295400" y="4648200"/>
            <a:ext cx="40386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470AE837-5243-404E-9DB3-C76C1870FD83}"/>
              </a:ext>
            </a:extLst>
          </p:cNvPr>
          <p:cNvCxnSpPr>
            <a:cxnSpLocks/>
          </p:cNvCxnSpPr>
          <p:nvPr/>
        </p:nvCxnSpPr>
        <p:spPr>
          <a:xfrm>
            <a:off x="5334000" y="4648200"/>
            <a:ext cx="0" cy="12954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95C6A515-AA7B-4A6F-81D2-4D69595D5C2F}"/>
              </a:ext>
            </a:extLst>
          </p:cNvPr>
          <p:cNvCxnSpPr>
            <a:cxnSpLocks/>
          </p:cNvCxnSpPr>
          <p:nvPr/>
        </p:nvCxnSpPr>
        <p:spPr>
          <a:xfrm flipH="1">
            <a:off x="1828800" y="5105400"/>
            <a:ext cx="32004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C798C640-420F-4586-B008-342D0E264FC0}"/>
              </a:ext>
            </a:extLst>
          </p:cNvPr>
          <p:cNvCxnSpPr>
            <a:cxnSpLocks/>
          </p:cNvCxnSpPr>
          <p:nvPr/>
        </p:nvCxnSpPr>
        <p:spPr>
          <a:xfrm>
            <a:off x="1828800" y="5105400"/>
            <a:ext cx="0" cy="8382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0631C3A3-8413-4BF8-93B8-64940CD0FC35}"/>
              </a:ext>
            </a:extLst>
          </p:cNvPr>
          <p:cNvCxnSpPr>
            <a:cxnSpLocks/>
          </p:cNvCxnSpPr>
          <p:nvPr/>
        </p:nvCxnSpPr>
        <p:spPr>
          <a:xfrm>
            <a:off x="5034951" y="5105400"/>
            <a:ext cx="0" cy="8382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39E5C545-6995-4FD7-9F97-893B1A5CF065}"/>
              </a:ext>
            </a:extLst>
          </p:cNvPr>
          <p:cNvCxnSpPr>
            <a:cxnSpLocks/>
          </p:cNvCxnSpPr>
          <p:nvPr/>
        </p:nvCxnSpPr>
        <p:spPr>
          <a:xfrm>
            <a:off x="2286000" y="5524500"/>
            <a:ext cx="0" cy="419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06C76012-A61F-4DE4-AAEC-623CF9C22460}"/>
              </a:ext>
            </a:extLst>
          </p:cNvPr>
          <p:cNvCxnSpPr>
            <a:cxnSpLocks/>
          </p:cNvCxnSpPr>
          <p:nvPr/>
        </p:nvCxnSpPr>
        <p:spPr>
          <a:xfrm>
            <a:off x="3086595" y="5524500"/>
            <a:ext cx="0" cy="419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22373E17-A727-4E48-91D3-F6C332A50B90}"/>
              </a:ext>
            </a:extLst>
          </p:cNvPr>
          <p:cNvCxnSpPr>
            <a:cxnSpLocks/>
          </p:cNvCxnSpPr>
          <p:nvPr/>
        </p:nvCxnSpPr>
        <p:spPr>
          <a:xfrm>
            <a:off x="2286000" y="5524500"/>
            <a:ext cx="802976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2DDA2819-E255-41C7-99C5-F0EE89D93B05}"/>
              </a:ext>
            </a:extLst>
          </p:cNvPr>
          <p:cNvCxnSpPr>
            <a:cxnSpLocks/>
          </p:cNvCxnSpPr>
          <p:nvPr/>
        </p:nvCxnSpPr>
        <p:spPr>
          <a:xfrm>
            <a:off x="3505200" y="5524500"/>
            <a:ext cx="0" cy="419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14">
            <a:extLst>
              <a:ext uri="{FF2B5EF4-FFF2-40B4-BE49-F238E27FC236}">
                <a16:creationId xmlns:a16="http://schemas.microsoft.com/office/drawing/2014/main" id="{D5533544-9EA5-42BE-8ED2-88C435A514BF}"/>
              </a:ext>
            </a:extLst>
          </p:cNvPr>
          <p:cNvCxnSpPr>
            <a:cxnSpLocks/>
          </p:cNvCxnSpPr>
          <p:nvPr/>
        </p:nvCxnSpPr>
        <p:spPr>
          <a:xfrm>
            <a:off x="4800600" y="5524500"/>
            <a:ext cx="0" cy="419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3CE7607D-B23B-4B1A-BD78-724FFD508A2C}"/>
              </a:ext>
            </a:extLst>
          </p:cNvPr>
          <p:cNvCxnSpPr>
            <a:cxnSpLocks/>
          </p:cNvCxnSpPr>
          <p:nvPr/>
        </p:nvCxnSpPr>
        <p:spPr>
          <a:xfrm>
            <a:off x="3505200" y="5524500"/>
            <a:ext cx="12954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1C7E2C9B-382B-4894-97A1-B815F909566A}"/>
              </a:ext>
            </a:extLst>
          </p:cNvPr>
          <p:cNvCxnSpPr>
            <a:cxnSpLocks/>
          </p:cNvCxnSpPr>
          <p:nvPr/>
        </p:nvCxnSpPr>
        <p:spPr>
          <a:xfrm flipV="1">
            <a:off x="5562600" y="4648200"/>
            <a:ext cx="0" cy="12954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FBA7FA21-C092-47C4-84C6-FBBB104BE269}"/>
              </a:ext>
            </a:extLst>
          </p:cNvPr>
          <p:cNvCxnSpPr>
            <a:cxnSpLocks/>
          </p:cNvCxnSpPr>
          <p:nvPr/>
        </p:nvCxnSpPr>
        <p:spPr>
          <a:xfrm flipH="1">
            <a:off x="5562600" y="4648200"/>
            <a:ext cx="22098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18">
            <a:extLst>
              <a:ext uri="{FF2B5EF4-FFF2-40B4-BE49-F238E27FC236}">
                <a16:creationId xmlns:a16="http://schemas.microsoft.com/office/drawing/2014/main" id="{3EE8857A-EC84-4B7B-97E3-C121D1550CF8}"/>
              </a:ext>
            </a:extLst>
          </p:cNvPr>
          <p:cNvCxnSpPr>
            <a:cxnSpLocks/>
          </p:cNvCxnSpPr>
          <p:nvPr/>
        </p:nvCxnSpPr>
        <p:spPr>
          <a:xfrm>
            <a:off x="7772400" y="4648200"/>
            <a:ext cx="0" cy="12954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eur droit 19">
            <a:extLst>
              <a:ext uri="{FF2B5EF4-FFF2-40B4-BE49-F238E27FC236}">
                <a16:creationId xmlns:a16="http://schemas.microsoft.com/office/drawing/2014/main" id="{CB357F78-053A-4BE0-A290-AAA3B000AB86}"/>
              </a:ext>
            </a:extLst>
          </p:cNvPr>
          <p:cNvCxnSpPr>
            <a:cxnSpLocks/>
          </p:cNvCxnSpPr>
          <p:nvPr/>
        </p:nvCxnSpPr>
        <p:spPr>
          <a:xfrm>
            <a:off x="6266012" y="5524500"/>
            <a:ext cx="0" cy="419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6FF043A4-A4FF-49B1-AFDA-53587F9B98DA}"/>
              </a:ext>
            </a:extLst>
          </p:cNvPr>
          <p:cNvCxnSpPr>
            <a:cxnSpLocks/>
          </p:cNvCxnSpPr>
          <p:nvPr/>
        </p:nvCxnSpPr>
        <p:spPr>
          <a:xfrm>
            <a:off x="7066607" y="5524500"/>
            <a:ext cx="0" cy="419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21">
            <a:extLst>
              <a:ext uri="{FF2B5EF4-FFF2-40B4-BE49-F238E27FC236}">
                <a16:creationId xmlns:a16="http://schemas.microsoft.com/office/drawing/2014/main" id="{F3ACA993-84D8-4BCB-9FD0-D2F8E23E0DDE}"/>
              </a:ext>
            </a:extLst>
          </p:cNvPr>
          <p:cNvCxnSpPr>
            <a:cxnSpLocks/>
          </p:cNvCxnSpPr>
          <p:nvPr/>
        </p:nvCxnSpPr>
        <p:spPr>
          <a:xfrm>
            <a:off x="6266012" y="5524500"/>
            <a:ext cx="802976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89474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E1F1E6A-2923-4EB5-A780-BF3A801F1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Modélisation du problème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CF8D227-C3CF-432C-BBCD-7F3FF3AE6FA1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12648" y="1181100"/>
            <a:ext cx="8153400" cy="4495800"/>
          </a:xfrm>
        </p:spPr>
        <p:txBody>
          <a:bodyPr/>
          <a:lstStyle/>
          <a:p>
            <a:r>
              <a:rPr lang="fr-CA"/>
              <a:t>Pour tout (s</a:t>
            </a:r>
            <a:r>
              <a:rPr lang="fr-CA" baseline="-25000"/>
              <a:t>i</a:t>
            </a:r>
            <a:r>
              <a:rPr lang="fr-CA"/>
              <a:t>, t</a:t>
            </a:r>
            <a:r>
              <a:rPr lang="fr-CA" baseline="-25000"/>
              <a:t>i</a:t>
            </a:r>
            <a:r>
              <a:rPr lang="fr-CA"/>
              <a:t>) et (s</a:t>
            </a:r>
            <a:r>
              <a:rPr lang="fr-CA" baseline="-25000"/>
              <a:t>j</a:t>
            </a:r>
            <a:r>
              <a:rPr lang="fr-CA"/>
              <a:t>, t</a:t>
            </a:r>
            <a:r>
              <a:rPr lang="fr-CA" baseline="-25000"/>
              <a:t>j</a:t>
            </a:r>
            <a:r>
              <a:rPr lang="fr-CA"/>
              <a:t>) dans A, on a </a:t>
            </a:r>
          </a:p>
          <a:p>
            <a:pPr marL="0" indent="0">
              <a:buNone/>
            </a:pPr>
            <a:r>
              <a:rPr lang="fr-CA"/>
              <a:t>    s</a:t>
            </a:r>
            <a:r>
              <a:rPr lang="fr-CA" baseline="-25000"/>
              <a:t>i</a:t>
            </a:r>
            <a:r>
              <a:rPr lang="fr-CA"/>
              <a:t> &lt; s</a:t>
            </a:r>
            <a:r>
              <a:rPr lang="fr-CA" baseline="-25000"/>
              <a:t>j</a:t>
            </a:r>
            <a:r>
              <a:rPr lang="fr-CA"/>
              <a:t> &lt; t</a:t>
            </a:r>
            <a:r>
              <a:rPr lang="fr-CA" baseline="-25000"/>
              <a:t>i</a:t>
            </a:r>
            <a:r>
              <a:rPr lang="fr-CA"/>
              <a:t> si et seulement si s</a:t>
            </a:r>
            <a:r>
              <a:rPr lang="fr-CA" baseline="-25000"/>
              <a:t>i</a:t>
            </a:r>
            <a:r>
              <a:rPr lang="fr-CA"/>
              <a:t> &lt; t</a:t>
            </a:r>
            <a:r>
              <a:rPr lang="fr-CA" baseline="-25000"/>
              <a:t>j</a:t>
            </a:r>
            <a:r>
              <a:rPr lang="fr-CA"/>
              <a:t> &lt; t</a:t>
            </a:r>
            <a:r>
              <a:rPr lang="fr-CA" baseline="-25000"/>
              <a:t>i</a:t>
            </a:r>
          </a:p>
          <a:p>
            <a:r>
              <a:rPr lang="fr-CA"/>
              <a:t>Si cette condition n'est pas respectée, on a ce qu'on appelle un </a:t>
            </a:r>
            <a:r>
              <a:rPr lang="fr-CA" i="1"/>
              <a:t>pseudo-noeud.</a:t>
            </a:r>
            <a:endParaRPr lang="fr-CA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8F7CCD1F-B949-4AA6-B9D8-0301D3E61BE0}"/>
              </a:ext>
            </a:extLst>
          </p:cNvPr>
          <p:cNvSpPr txBox="1"/>
          <p:nvPr/>
        </p:nvSpPr>
        <p:spPr>
          <a:xfrm>
            <a:off x="1100865" y="5850266"/>
            <a:ext cx="69413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A" sz="2800">
                <a:latin typeface="Cambria" panose="02040503050406030204" pitchFamily="18" charset="0"/>
                <a:ea typeface="Cambria" panose="02040503050406030204" pitchFamily="18" charset="0"/>
              </a:rPr>
              <a:t>c a u c g a a c g u c c u c a a g a c a g c u c u c u</a:t>
            </a:r>
          </a:p>
        </p:txBody>
      </p: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51522346-E700-4D64-BCA3-9347322832E6}"/>
              </a:ext>
            </a:extLst>
          </p:cNvPr>
          <p:cNvCxnSpPr/>
          <p:nvPr/>
        </p:nvCxnSpPr>
        <p:spPr>
          <a:xfrm flipV="1">
            <a:off x="1295400" y="4648200"/>
            <a:ext cx="0" cy="12954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97CC829E-3599-40FE-A77C-EF1A9990FE5F}"/>
              </a:ext>
            </a:extLst>
          </p:cNvPr>
          <p:cNvCxnSpPr>
            <a:cxnSpLocks/>
          </p:cNvCxnSpPr>
          <p:nvPr/>
        </p:nvCxnSpPr>
        <p:spPr>
          <a:xfrm flipH="1">
            <a:off x="1295400" y="4648200"/>
            <a:ext cx="40386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470AE837-5243-404E-9DB3-C76C1870FD83}"/>
              </a:ext>
            </a:extLst>
          </p:cNvPr>
          <p:cNvCxnSpPr>
            <a:cxnSpLocks/>
          </p:cNvCxnSpPr>
          <p:nvPr/>
        </p:nvCxnSpPr>
        <p:spPr>
          <a:xfrm>
            <a:off x="5334000" y="4648200"/>
            <a:ext cx="0" cy="12954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95C6A515-AA7B-4A6F-81D2-4D69595D5C2F}"/>
              </a:ext>
            </a:extLst>
          </p:cNvPr>
          <p:cNvCxnSpPr>
            <a:cxnSpLocks/>
          </p:cNvCxnSpPr>
          <p:nvPr/>
        </p:nvCxnSpPr>
        <p:spPr>
          <a:xfrm flipH="1">
            <a:off x="1828800" y="4191000"/>
            <a:ext cx="44958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C798C640-420F-4586-B008-342D0E264FC0}"/>
              </a:ext>
            </a:extLst>
          </p:cNvPr>
          <p:cNvCxnSpPr>
            <a:cxnSpLocks/>
          </p:cNvCxnSpPr>
          <p:nvPr/>
        </p:nvCxnSpPr>
        <p:spPr>
          <a:xfrm>
            <a:off x="1828800" y="4191000"/>
            <a:ext cx="0" cy="17526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0631C3A3-8413-4BF8-93B8-64940CD0FC35}"/>
              </a:ext>
            </a:extLst>
          </p:cNvPr>
          <p:cNvCxnSpPr>
            <a:cxnSpLocks/>
          </p:cNvCxnSpPr>
          <p:nvPr/>
        </p:nvCxnSpPr>
        <p:spPr>
          <a:xfrm>
            <a:off x="6324600" y="4191000"/>
            <a:ext cx="0" cy="17526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88345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5FBFD18-F454-4B04-9576-596C14849C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DC3B84C-080E-4CEA-B444-B892D6771D15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fr-CA"/>
          </a:p>
        </p:txBody>
      </p:sp>
      <p:pic>
        <p:nvPicPr>
          <p:cNvPr id="1026" name="Picture 2" descr="https://upload.wikimedia.org/wikipedia/commons/thumb/9/9e/Pseudoknot_1YMO.png/800px-Pseudoknot_1YMO.png">
            <a:extLst>
              <a:ext uri="{FF2B5EF4-FFF2-40B4-BE49-F238E27FC236}">
                <a16:creationId xmlns:a16="http://schemas.microsoft.com/office/drawing/2014/main" id="{6CB62033-5516-4CB5-B3E8-B7932634A0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0"/>
            <a:ext cx="576897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50224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72A8A34-DEC8-482E-8F53-372FF0C87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Pseudo-noeuds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7C2072A-EA6D-458A-8F52-6E30DCFE940E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fr-CA"/>
          </a:p>
        </p:txBody>
      </p:sp>
      <p:pic>
        <p:nvPicPr>
          <p:cNvPr id="5122" name="Picture 2" descr="https://www.researchgate.net/publication/322513362/figure/fig4/AS:583232871960577@1516064960720/RNA-pseudoknot-types-RNA-pseudoknot-types-from-Pseudobase-20-classification.png">
            <a:extLst>
              <a:ext uri="{FF2B5EF4-FFF2-40B4-BE49-F238E27FC236}">
                <a16:creationId xmlns:a16="http://schemas.microsoft.com/office/drawing/2014/main" id="{DD606412-B8FF-459A-939A-D418015F7F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8725" y="1252537"/>
            <a:ext cx="6686550" cy="5191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92281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E1F1E6A-2923-4EB5-A780-BF3A801F1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Modélisation du problème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CF8D227-C3CF-432C-BBCD-7F3FF3AE6FA1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12648" y="1181100"/>
            <a:ext cx="8153400" cy="4495800"/>
          </a:xfrm>
        </p:spPr>
        <p:txBody>
          <a:bodyPr/>
          <a:lstStyle/>
          <a:p>
            <a:r>
              <a:rPr lang="fr-CA"/>
              <a:t>Pour tout (s</a:t>
            </a:r>
            <a:r>
              <a:rPr lang="fr-CA" baseline="-25000"/>
              <a:t>i</a:t>
            </a:r>
            <a:r>
              <a:rPr lang="fr-CA"/>
              <a:t>, t</a:t>
            </a:r>
            <a:r>
              <a:rPr lang="fr-CA" baseline="-25000"/>
              <a:t>i</a:t>
            </a:r>
            <a:r>
              <a:rPr lang="fr-CA"/>
              <a:t>) et (s</a:t>
            </a:r>
            <a:r>
              <a:rPr lang="fr-CA" baseline="-25000"/>
              <a:t>j</a:t>
            </a:r>
            <a:r>
              <a:rPr lang="fr-CA"/>
              <a:t>, t</a:t>
            </a:r>
            <a:r>
              <a:rPr lang="fr-CA" baseline="-25000"/>
              <a:t>j</a:t>
            </a:r>
            <a:r>
              <a:rPr lang="fr-CA"/>
              <a:t>) dans A, on a </a:t>
            </a:r>
          </a:p>
          <a:p>
            <a:pPr marL="0" indent="0">
              <a:buNone/>
            </a:pPr>
            <a:r>
              <a:rPr lang="fr-CA"/>
              <a:t>    s</a:t>
            </a:r>
            <a:r>
              <a:rPr lang="fr-CA" baseline="-25000"/>
              <a:t>i</a:t>
            </a:r>
            <a:r>
              <a:rPr lang="fr-CA"/>
              <a:t> &lt; s</a:t>
            </a:r>
            <a:r>
              <a:rPr lang="fr-CA" baseline="-25000"/>
              <a:t>j</a:t>
            </a:r>
            <a:r>
              <a:rPr lang="fr-CA"/>
              <a:t> &lt; t</a:t>
            </a:r>
            <a:r>
              <a:rPr lang="fr-CA" baseline="-25000"/>
              <a:t>i</a:t>
            </a:r>
            <a:r>
              <a:rPr lang="fr-CA"/>
              <a:t> si et seulement si s</a:t>
            </a:r>
            <a:r>
              <a:rPr lang="fr-CA" baseline="-25000"/>
              <a:t>i</a:t>
            </a:r>
            <a:r>
              <a:rPr lang="fr-CA"/>
              <a:t> &lt; t</a:t>
            </a:r>
            <a:r>
              <a:rPr lang="fr-CA" baseline="-25000"/>
              <a:t>j</a:t>
            </a:r>
            <a:r>
              <a:rPr lang="fr-CA"/>
              <a:t> &lt; t</a:t>
            </a:r>
            <a:r>
              <a:rPr lang="fr-CA" baseline="-25000"/>
              <a:t>i</a:t>
            </a:r>
          </a:p>
          <a:p>
            <a:r>
              <a:rPr lang="fr-CA"/>
              <a:t>Si cette condition n'est pas respectée, on a ce qu'on appelle un </a:t>
            </a:r>
            <a:r>
              <a:rPr lang="fr-CA" i="1"/>
              <a:t>pseudo-noeud.</a:t>
            </a:r>
          </a:p>
          <a:p>
            <a:endParaRPr lang="fr-CA" i="1"/>
          </a:p>
          <a:p>
            <a:r>
              <a:rPr lang="fr-CA"/>
              <a:t>L'hypothèse 2 implique "pas de pseudo-noeuds".</a:t>
            </a:r>
          </a:p>
          <a:p>
            <a:pPr lvl="1"/>
            <a:r>
              <a:rPr lang="fr-CA"/>
              <a:t>Relativement rare (mais bien existant), et compliqué!</a:t>
            </a:r>
          </a:p>
          <a:p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6844251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73FF40F-C0A6-48D4-8CA3-0DD8EB289A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Modélisation du problème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72DB54F-6AFB-45DB-9251-C4A0B3C52CA0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22173" y="1181100"/>
            <a:ext cx="8153400" cy="4495800"/>
          </a:xfrm>
        </p:spPr>
        <p:txBody>
          <a:bodyPr>
            <a:normAutofit/>
          </a:bodyPr>
          <a:lstStyle/>
          <a:p>
            <a:r>
              <a:rPr lang="fr-CA" sz="2400"/>
              <a:t>Même sans pseudo-noeuds, il y a plusieurs sous-structures, chacune avec ses implications en énergie libre.</a:t>
            </a:r>
          </a:p>
        </p:txBody>
      </p:sp>
      <p:pic>
        <p:nvPicPr>
          <p:cNvPr id="11266" name="Picture 2" descr="https://www.tbi.univie.ac.at/RNA/ViennaRNA/doc/html/loop_types.png">
            <a:extLst>
              <a:ext uri="{FF2B5EF4-FFF2-40B4-BE49-F238E27FC236}">
                <a16:creationId xmlns:a16="http://schemas.microsoft.com/office/drawing/2014/main" id="{738D0DC2-69E1-4953-8CE9-BEDB4DC13C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2133600"/>
            <a:ext cx="7620000" cy="4124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C6606EE5-D9E3-4797-90CD-55144CAFA83A}"/>
              </a:ext>
            </a:extLst>
          </p:cNvPr>
          <p:cNvSpPr txBox="1"/>
          <p:nvPr/>
        </p:nvSpPr>
        <p:spPr>
          <a:xfrm>
            <a:off x="1066800" y="4011096"/>
            <a:ext cx="1356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A"/>
              <a:t>(empilement)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FCE2468F-4B53-499C-ABAB-40C2AEAF8584}"/>
              </a:ext>
            </a:extLst>
          </p:cNvPr>
          <p:cNvSpPr txBox="1"/>
          <p:nvPr/>
        </p:nvSpPr>
        <p:spPr>
          <a:xfrm>
            <a:off x="3099754" y="4014968"/>
            <a:ext cx="1973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A"/>
              <a:t>(tige-boucle/hélice)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DA7F6C48-D318-4A38-B590-835228F0A46B}"/>
              </a:ext>
            </a:extLst>
          </p:cNvPr>
          <p:cNvSpPr txBox="1"/>
          <p:nvPr/>
        </p:nvSpPr>
        <p:spPr>
          <a:xfrm>
            <a:off x="6044247" y="4014968"/>
            <a:ext cx="16896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A"/>
              <a:t>(boucle multiple)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D6FD6EB9-EFA6-4597-8CA2-928BEE31F7DF}"/>
              </a:ext>
            </a:extLst>
          </p:cNvPr>
          <p:cNvSpPr txBox="1"/>
          <p:nvPr/>
        </p:nvSpPr>
        <p:spPr>
          <a:xfrm>
            <a:off x="914400" y="6140470"/>
            <a:ext cx="18389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A"/>
              <a:t>(boucle intérieure)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5CE2574A-6F3E-45AA-8536-DC857017D3CF}"/>
              </a:ext>
            </a:extLst>
          </p:cNvPr>
          <p:cNvSpPr txBox="1"/>
          <p:nvPr/>
        </p:nvSpPr>
        <p:spPr>
          <a:xfrm>
            <a:off x="3446900" y="6140470"/>
            <a:ext cx="12795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A"/>
              <a:t>(renflement)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C3C93CBE-F12C-4545-B148-1A0C90C38E96}"/>
              </a:ext>
            </a:extLst>
          </p:cNvPr>
          <p:cNvSpPr txBox="1"/>
          <p:nvPr/>
        </p:nvSpPr>
        <p:spPr>
          <a:xfrm>
            <a:off x="6044247" y="6140470"/>
            <a:ext cx="16716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A"/>
              <a:t>(boucle externe)</a:t>
            </a:r>
          </a:p>
        </p:txBody>
      </p:sp>
    </p:spTree>
    <p:extLst>
      <p:ext uri="{BB962C8B-B14F-4D97-AF65-F5344CB8AC3E}">
        <p14:creationId xmlns:p14="http://schemas.microsoft.com/office/powerpoint/2010/main" val="376833463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A6D159C-89BF-4AD2-A852-AB0ECA0D4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2B811E6-9CEF-4D3F-B8CA-52BE750198CC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fr-CA"/>
          </a:p>
        </p:txBody>
      </p:sp>
      <p:grpSp>
        <p:nvGrpSpPr>
          <p:cNvPr id="4" name="Groupe 2">
            <a:extLst>
              <a:ext uri="{FF2B5EF4-FFF2-40B4-BE49-F238E27FC236}">
                <a16:creationId xmlns:a16="http://schemas.microsoft.com/office/drawing/2014/main" id="{022016F2-87E0-4067-B6CE-25E6679C0B46}"/>
              </a:ext>
            </a:extLst>
          </p:cNvPr>
          <p:cNvGrpSpPr>
            <a:grpSpLocks/>
          </p:cNvGrpSpPr>
          <p:nvPr/>
        </p:nvGrpSpPr>
        <p:grpSpPr bwMode="auto">
          <a:xfrm>
            <a:off x="1520698" y="1143000"/>
            <a:ext cx="6337300" cy="5548312"/>
            <a:chOff x="1691678" y="1224026"/>
            <a:chExt cx="6336705" cy="5548292"/>
          </a:xfrm>
        </p:grpSpPr>
        <p:pic>
          <p:nvPicPr>
            <p:cNvPr id="5" name="Image 4" descr="elements-structuraux.bmp">
              <a:extLst>
                <a:ext uri="{FF2B5EF4-FFF2-40B4-BE49-F238E27FC236}">
                  <a16:creationId xmlns:a16="http://schemas.microsoft.com/office/drawing/2014/main" id="{AAE423A8-B47B-4FDF-A49C-701E7962D1E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91678" y="1224026"/>
              <a:ext cx="6336705" cy="5548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" name="ZoneTexte 5">
              <a:extLst>
                <a:ext uri="{FF2B5EF4-FFF2-40B4-BE49-F238E27FC236}">
                  <a16:creationId xmlns:a16="http://schemas.microsoft.com/office/drawing/2014/main" id="{94876ECC-14F0-4775-BB75-6068BED77D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31840" y="3338043"/>
              <a:ext cx="1071127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 eaLnBrk="0" hangingPunct="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 eaLnBrk="0" hangingPunct="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 eaLnBrk="0" hangingPunct="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 eaLnBrk="0" hangingPunct="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fr-FR" altLang="fr-FR" sz="1200">
                  <a:solidFill>
                    <a:srgbClr val="C00000"/>
                  </a:solidFill>
                  <a:latin typeface="Arial" panose="020B0604020202020204" pitchFamily="34" charset="0"/>
                </a:rPr>
                <a:t>Empilements</a:t>
              </a:r>
            </a:p>
          </p:txBody>
        </p:sp>
        <p:sp>
          <p:nvSpPr>
            <p:cNvPr id="7" name="ZoneTexte 3">
              <a:extLst>
                <a:ext uri="{FF2B5EF4-FFF2-40B4-BE49-F238E27FC236}">
                  <a16:creationId xmlns:a16="http://schemas.microsoft.com/office/drawing/2014/main" id="{E76C64D2-E2A1-4942-9C4F-CDF04C63DA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14991" y="3644999"/>
              <a:ext cx="1634486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 eaLnBrk="0" hangingPunct="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 eaLnBrk="0" hangingPunct="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 eaLnBrk="0" hangingPunct="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 eaLnBrk="0" hangingPunct="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fr-FR" altLang="fr-FR" sz="1200">
                  <a:solidFill>
                    <a:srgbClr val="C00000"/>
                  </a:solidFill>
                  <a:latin typeface="Arial" panose="020B0604020202020204" pitchFamily="34" charset="0"/>
                </a:rPr>
                <a:t>Tige-boucle ou hélice</a:t>
              </a:r>
            </a:p>
          </p:txBody>
        </p:sp>
        <p:sp>
          <p:nvSpPr>
            <p:cNvPr id="8" name="ZoneTexte 6">
              <a:extLst>
                <a:ext uri="{FF2B5EF4-FFF2-40B4-BE49-F238E27FC236}">
                  <a16:creationId xmlns:a16="http://schemas.microsoft.com/office/drawing/2014/main" id="{12DDBBD0-B6D6-453A-B45A-11BF26F86B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83135" y="5253353"/>
              <a:ext cx="968535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 eaLnBrk="0" hangingPunct="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 eaLnBrk="0" hangingPunct="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 eaLnBrk="0" hangingPunct="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 eaLnBrk="0" hangingPunct="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fr-FR" altLang="fr-FR" sz="1200">
                  <a:solidFill>
                    <a:srgbClr val="C00000"/>
                  </a:solidFill>
                  <a:latin typeface="Arial" panose="020B0604020202020204" pitchFamily="34" charset="0"/>
                </a:rPr>
                <a:t>Renflement</a:t>
              </a:r>
            </a:p>
          </p:txBody>
        </p:sp>
        <p:sp>
          <p:nvSpPr>
            <p:cNvPr id="9" name="ZoneTexte 4">
              <a:extLst>
                <a:ext uri="{FF2B5EF4-FFF2-40B4-BE49-F238E27FC236}">
                  <a16:creationId xmlns:a16="http://schemas.microsoft.com/office/drawing/2014/main" id="{583DD7CD-BAB1-4A15-8E6D-3C8FD35AD0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65915" y="2426404"/>
              <a:ext cx="1164101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 eaLnBrk="0" hangingPunct="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 eaLnBrk="0" hangingPunct="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 eaLnBrk="0" hangingPunct="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 eaLnBrk="0" hangingPunct="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fr-FR" altLang="fr-FR" sz="1200">
                  <a:solidFill>
                    <a:srgbClr val="C00000"/>
                  </a:solidFill>
                  <a:latin typeface="Arial" panose="020B0604020202020204" pitchFamily="34" charset="0"/>
                </a:rPr>
                <a:t>Boucle interne</a:t>
              </a:r>
            </a:p>
          </p:txBody>
        </p:sp>
        <p:sp>
          <p:nvSpPr>
            <p:cNvPr id="10" name="ZoneTexte 7">
              <a:extLst>
                <a:ext uri="{FF2B5EF4-FFF2-40B4-BE49-F238E27FC236}">
                  <a16:creationId xmlns:a16="http://schemas.microsoft.com/office/drawing/2014/main" id="{16FF24CC-ECE7-4DE7-9358-4708586D5D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70780" y="4372760"/>
              <a:ext cx="1223412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 eaLnBrk="0" hangingPunct="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 eaLnBrk="0" hangingPunct="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 eaLnBrk="0" hangingPunct="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 eaLnBrk="0" hangingPunct="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fr-FR" altLang="fr-FR" sz="1200">
                  <a:solidFill>
                    <a:srgbClr val="C00000"/>
                  </a:solidFill>
                  <a:latin typeface="Arial" panose="020B0604020202020204" pitchFamily="34" charset="0"/>
                </a:rPr>
                <a:t>Boucle multiple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3041252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6FAA246-9E9C-4746-9DD8-D4636A2DF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Modélisation du problème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21C7254-65DC-47B4-950A-3854ACEA7997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12648" y="1181100"/>
            <a:ext cx="8607552" cy="4495800"/>
          </a:xfrm>
        </p:spPr>
        <p:txBody>
          <a:bodyPr>
            <a:normAutofit/>
          </a:bodyPr>
          <a:lstStyle/>
          <a:p>
            <a:r>
              <a:rPr lang="fr-CA" dirty="0"/>
              <a:t>Pour l'instant, version simple du problème: maximiser les paires de bases sous nos hypothèse.</a:t>
            </a:r>
          </a:p>
          <a:p>
            <a:endParaRPr lang="fr-CA" dirty="0"/>
          </a:p>
          <a:p>
            <a:r>
              <a:rPr lang="fr-CA" u="sng" dirty="0"/>
              <a:t>Entrée</a:t>
            </a:r>
            <a:r>
              <a:rPr lang="fr-CA" dirty="0"/>
              <a:t>: séquence S d'ARN</a:t>
            </a:r>
          </a:p>
          <a:p>
            <a:r>
              <a:rPr lang="fr-CA" u="sng" dirty="0"/>
              <a:t>Sortie</a:t>
            </a:r>
            <a:r>
              <a:rPr lang="fr-CA"/>
              <a:t>: nombre </a:t>
            </a:r>
            <a:r>
              <a:rPr lang="fr-CA" b="1"/>
              <a:t>maximum</a:t>
            </a:r>
            <a:r>
              <a:rPr lang="fr-CA"/>
              <a:t> </a:t>
            </a:r>
            <a:r>
              <a:rPr lang="fr-CA" dirty="0"/>
              <a:t>de paires de positions </a:t>
            </a:r>
          </a:p>
          <a:p>
            <a:pPr marL="0" indent="0">
              <a:buNone/>
            </a:pPr>
            <a:r>
              <a:rPr lang="fr-CA" dirty="0"/>
              <a:t>    (s</a:t>
            </a:r>
            <a:r>
              <a:rPr lang="fr-CA" baseline="-25000" dirty="0"/>
              <a:t>1</a:t>
            </a:r>
            <a:r>
              <a:rPr lang="fr-CA" dirty="0"/>
              <a:t>, t</a:t>
            </a:r>
            <a:r>
              <a:rPr lang="fr-CA" baseline="-25000" dirty="0"/>
              <a:t>1</a:t>
            </a:r>
            <a:r>
              <a:rPr lang="fr-CA" dirty="0"/>
              <a:t>), (s</a:t>
            </a:r>
            <a:r>
              <a:rPr lang="fr-CA" baseline="-25000" dirty="0"/>
              <a:t>2</a:t>
            </a:r>
            <a:r>
              <a:rPr lang="fr-CA" dirty="0"/>
              <a:t>, t</a:t>
            </a:r>
            <a:r>
              <a:rPr lang="fr-CA" baseline="-25000" dirty="0"/>
              <a:t>2</a:t>
            </a:r>
            <a:r>
              <a:rPr lang="fr-CA" dirty="0"/>
              <a:t>), ..., (</a:t>
            </a:r>
            <a:r>
              <a:rPr lang="fr-CA" dirty="0" err="1"/>
              <a:t>s</a:t>
            </a:r>
            <a:r>
              <a:rPr lang="fr-CA" baseline="-25000" dirty="0" err="1"/>
              <a:t>k</a:t>
            </a:r>
            <a:r>
              <a:rPr lang="fr-CA" dirty="0"/>
              <a:t>, </a:t>
            </a:r>
            <a:r>
              <a:rPr lang="fr-CA" dirty="0" err="1"/>
              <a:t>t</a:t>
            </a:r>
            <a:r>
              <a:rPr lang="fr-CA" baseline="-25000" dirty="0" err="1"/>
              <a:t>k</a:t>
            </a:r>
            <a:r>
              <a:rPr lang="fr-CA" dirty="0"/>
              <a:t>) de paires de bases</a:t>
            </a:r>
          </a:p>
          <a:p>
            <a:pPr marL="0" indent="0">
              <a:buNone/>
            </a:pPr>
            <a:r>
              <a:rPr lang="fr-CA" dirty="0"/>
              <a:t>    avec condition s</a:t>
            </a:r>
            <a:r>
              <a:rPr lang="fr-CA" baseline="-25000" dirty="0"/>
              <a:t>i</a:t>
            </a:r>
            <a:r>
              <a:rPr lang="fr-CA" dirty="0"/>
              <a:t> &lt; </a:t>
            </a:r>
            <a:r>
              <a:rPr lang="fr-CA" dirty="0" err="1"/>
              <a:t>s</a:t>
            </a:r>
            <a:r>
              <a:rPr lang="fr-CA" baseline="-25000" dirty="0" err="1"/>
              <a:t>j</a:t>
            </a:r>
            <a:r>
              <a:rPr lang="fr-CA" dirty="0"/>
              <a:t> &lt; t</a:t>
            </a:r>
            <a:r>
              <a:rPr lang="fr-CA" baseline="-25000" dirty="0"/>
              <a:t>i</a:t>
            </a:r>
            <a:r>
              <a:rPr lang="fr-CA" dirty="0"/>
              <a:t> si et seulement si </a:t>
            </a:r>
            <a:r>
              <a:rPr lang="fr-CA" dirty="0" err="1"/>
              <a:t>s</a:t>
            </a:r>
            <a:r>
              <a:rPr lang="fr-CA" baseline="-25000" dirty="0" err="1"/>
              <a:t>i</a:t>
            </a:r>
            <a:r>
              <a:rPr lang="fr-CA" dirty="0"/>
              <a:t> &lt; t</a:t>
            </a:r>
            <a:r>
              <a:rPr lang="fr-CA" baseline="-25000" dirty="0"/>
              <a:t>j</a:t>
            </a:r>
            <a:r>
              <a:rPr lang="fr-CA" dirty="0"/>
              <a:t> &lt; t</a:t>
            </a:r>
            <a:r>
              <a:rPr lang="fr-CA" baseline="-25000" dirty="0"/>
              <a:t>i</a:t>
            </a:r>
            <a:r>
              <a:rPr lang="fr-CA" dirty="0"/>
              <a:t> </a:t>
            </a:r>
          </a:p>
          <a:p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383709504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6FAA246-9E9C-4746-9DD8-D4636A2DF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Modélisation du problème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21C7254-65DC-47B4-950A-3854ACEA7997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12648" y="1181100"/>
            <a:ext cx="8607552" cy="5448300"/>
          </a:xfrm>
        </p:spPr>
        <p:txBody>
          <a:bodyPr>
            <a:normAutofit/>
          </a:bodyPr>
          <a:lstStyle/>
          <a:p>
            <a:r>
              <a:rPr lang="fr-CA"/>
              <a:t>Pour l'instant, version simple du problème: maximiser les paires de bases sous nos hypothèse.</a:t>
            </a:r>
          </a:p>
          <a:p>
            <a:endParaRPr lang="fr-CA"/>
          </a:p>
          <a:p>
            <a:r>
              <a:rPr lang="fr-CA" u="sng"/>
              <a:t>Entrée</a:t>
            </a:r>
            <a:r>
              <a:rPr lang="fr-CA"/>
              <a:t>: séquence S d'ARN</a:t>
            </a:r>
          </a:p>
          <a:p>
            <a:r>
              <a:rPr lang="fr-CA" u="sng"/>
              <a:t>Sortie</a:t>
            </a:r>
            <a:r>
              <a:rPr lang="fr-CA"/>
              <a:t>: nombre </a:t>
            </a:r>
            <a:r>
              <a:rPr lang="fr-CA" b="1"/>
              <a:t>maximum</a:t>
            </a:r>
            <a:r>
              <a:rPr lang="fr-CA"/>
              <a:t> de paires de positions </a:t>
            </a:r>
          </a:p>
          <a:p>
            <a:pPr marL="0" indent="0">
              <a:buNone/>
            </a:pPr>
            <a:r>
              <a:rPr lang="fr-CA"/>
              <a:t>    (s</a:t>
            </a:r>
            <a:r>
              <a:rPr lang="fr-CA" baseline="-25000"/>
              <a:t>1</a:t>
            </a:r>
            <a:r>
              <a:rPr lang="fr-CA"/>
              <a:t>, t</a:t>
            </a:r>
            <a:r>
              <a:rPr lang="fr-CA" baseline="-25000"/>
              <a:t>1</a:t>
            </a:r>
            <a:r>
              <a:rPr lang="fr-CA"/>
              <a:t>), (s</a:t>
            </a:r>
            <a:r>
              <a:rPr lang="fr-CA" baseline="-25000"/>
              <a:t>2</a:t>
            </a:r>
            <a:r>
              <a:rPr lang="fr-CA"/>
              <a:t>, t</a:t>
            </a:r>
            <a:r>
              <a:rPr lang="fr-CA" baseline="-25000"/>
              <a:t>2</a:t>
            </a:r>
            <a:r>
              <a:rPr lang="fr-CA"/>
              <a:t>), ..., (s</a:t>
            </a:r>
            <a:r>
              <a:rPr lang="fr-CA" baseline="-25000"/>
              <a:t>k</a:t>
            </a:r>
            <a:r>
              <a:rPr lang="fr-CA"/>
              <a:t>, t</a:t>
            </a:r>
            <a:r>
              <a:rPr lang="fr-CA" baseline="-25000"/>
              <a:t>k</a:t>
            </a:r>
            <a:r>
              <a:rPr lang="fr-CA"/>
              <a:t>) de paires de bases</a:t>
            </a:r>
          </a:p>
          <a:p>
            <a:pPr marL="0" indent="0">
              <a:buNone/>
            </a:pPr>
            <a:r>
              <a:rPr lang="fr-CA"/>
              <a:t>    avec condition s</a:t>
            </a:r>
            <a:r>
              <a:rPr lang="fr-CA" baseline="-25000"/>
              <a:t>i</a:t>
            </a:r>
            <a:r>
              <a:rPr lang="fr-CA"/>
              <a:t> &lt; s</a:t>
            </a:r>
            <a:r>
              <a:rPr lang="fr-CA" baseline="-25000"/>
              <a:t>j</a:t>
            </a:r>
            <a:r>
              <a:rPr lang="fr-CA"/>
              <a:t> &lt; t</a:t>
            </a:r>
            <a:r>
              <a:rPr lang="fr-CA" baseline="-25000"/>
              <a:t>i</a:t>
            </a:r>
            <a:r>
              <a:rPr lang="fr-CA"/>
              <a:t> si et seulement si s</a:t>
            </a:r>
            <a:r>
              <a:rPr lang="fr-CA" baseline="-25000"/>
              <a:t>i</a:t>
            </a:r>
            <a:r>
              <a:rPr lang="fr-CA"/>
              <a:t> &lt; t</a:t>
            </a:r>
            <a:r>
              <a:rPr lang="fr-CA" baseline="-25000"/>
              <a:t>j</a:t>
            </a:r>
            <a:r>
              <a:rPr lang="fr-CA"/>
              <a:t> &lt; t</a:t>
            </a:r>
            <a:r>
              <a:rPr lang="fr-CA" baseline="-25000"/>
              <a:t>i</a:t>
            </a:r>
          </a:p>
          <a:p>
            <a:pPr marL="0" indent="0">
              <a:buNone/>
            </a:pPr>
            <a:endParaRPr lang="fr-CA" baseline="-25000"/>
          </a:p>
          <a:p>
            <a:pPr marL="0" indent="0">
              <a:buNone/>
            </a:pPr>
            <a:r>
              <a:rPr lang="fr-CA"/>
              <a:t>Algorithme de Nussinov (1978)</a:t>
            </a:r>
          </a:p>
          <a:p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07873797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6FAA246-9E9C-4746-9DD8-D4636A2DF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Modélisation du problème V2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21C7254-65DC-47B4-950A-3854ACEA7997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12648" y="1181100"/>
            <a:ext cx="8607552" cy="5448300"/>
          </a:xfrm>
        </p:spPr>
        <p:txBody>
          <a:bodyPr>
            <a:normAutofit/>
          </a:bodyPr>
          <a:lstStyle/>
          <a:p>
            <a:r>
              <a:rPr lang="fr-CA" sz="2800"/>
              <a:t>Formulation simpliste: ignore le fait que chaque sous-structure a son propre apport en énergie libre.</a:t>
            </a:r>
          </a:p>
          <a:p>
            <a:endParaRPr lang="fr-CA" sz="2800"/>
          </a:p>
        </p:txBody>
      </p:sp>
    </p:spTree>
    <p:extLst>
      <p:ext uri="{BB962C8B-B14F-4D97-AF65-F5344CB8AC3E}">
        <p14:creationId xmlns:p14="http://schemas.microsoft.com/office/powerpoint/2010/main" val="130318430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A6D159C-89BF-4AD2-A852-AB0ECA0D4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2B811E6-9CEF-4D3F-B8CA-52BE750198CC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fr-CA"/>
          </a:p>
        </p:txBody>
      </p:sp>
      <p:grpSp>
        <p:nvGrpSpPr>
          <p:cNvPr id="4" name="Groupe 2">
            <a:extLst>
              <a:ext uri="{FF2B5EF4-FFF2-40B4-BE49-F238E27FC236}">
                <a16:creationId xmlns:a16="http://schemas.microsoft.com/office/drawing/2014/main" id="{022016F2-87E0-4067-B6CE-25E6679C0B46}"/>
              </a:ext>
            </a:extLst>
          </p:cNvPr>
          <p:cNvGrpSpPr>
            <a:grpSpLocks/>
          </p:cNvGrpSpPr>
          <p:nvPr/>
        </p:nvGrpSpPr>
        <p:grpSpPr bwMode="auto">
          <a:xfrm>
            <a:off x="1520698" y="1143000"/>
            <a:ext cx="6337300" cy="5548312"/>
            <a:chOff x="1691678" y="1224026"/>
            <a:chExt cx="6336705" cy="5548292"/>
          </a:xfrm>
        </p:grpSpPr>
        <p:pic>
          <p:nvPicPr>
            <p:cNvPr id="5" name="Image 4" descr="elements-structuraux.bmp">
              <a:extLst>
                <a:ext uri="{FF2B5EF4-FFF2-40B4-BE49-F238E27FC236}">
                  <a16:creationId xmlns:a16="http://schemas.microsoft.com/office/drawing/2014/main" id="{AAE423A8-B47B-4FDF-A49C-701E7962D1E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91678" y="1224026"/>
              <a:ext cx="6336705" cy="5548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" name="ZoneTexte 5">
              <a:extLst>
                <a:ext uri="{FF2B5EF4-FFF2-40B4-BE49-F238E27FC236}">
                  <a16:creationId xmlns:a16="http://schemas.microsoft.com/office/drawing/2014/main" id="{94876ECC-14F0-4775-BB75-6068BED77D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31840" y="3338043"/>
              <a:ext cx="1071127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 eaLnBrk="0" hangingPunct="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 eaLnBrk="0" hangingPunct="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 eaLnBrk="0" hangingPunct="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 eaLnBrk="0" hangingPunct="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fr-FR" altLang="fr-FR" sz="1200">
                  <a:solidFill>
                    <a:srgbClr val="C00000"/>
                  </a:solidFill>
                  <a:latin typeface="Arial" panose="020B0604020202020204" pitchFamily="34" charset="0"/>
                </a:rPr>
                <a:t>Empilements</a:t>
              </a:r>
            </a:p>
          </p:txBody>
        </p:sp>
        <p:sp>
          <p:nvSpPr>
            <p:cNvPr id="7" name="ZoneTexte 3">
              <a:extLst>
                <a:ext uri="{FF2B5EF4-FFF2-40B4-BE49-F238E27FC236}">
                  <a16:creationId xmlns:a16="http://schemas.microsoft.com/office/drawing/2014/main" id="{E76C64D2-E2A1-4942-9C4F-CDF04C63DA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14991" y="3644999"/>
              <a:ext cx="1634486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 eaLnBrk="0" hangingPunct="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 eaLnBrk="0" hangingPunct="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 eaLnBrk="0" hangingPunct="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 eaLnBrk="0" hangingPunct="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fr-FR" altLang="fr-FR" sz="1200">
                  <a:solidFill>
                    <a:srgbClr val="C00000"/>
                  </a:solidFill>
                  <a:latin typeface="Arial" panose="020B0604020202020204" pitchFamily="34" charset="0"/>
                </a:rPr>
                <a:t>Tige-boucle ou hélice</a:t>
              </a:r>
            </a:p>
          </p:txBody>
        </p:sp>
        <p:sp>
          <p:nvSpPr>
            <p:cNvPr id="8" name="ZoneTexte 6">
              <a:extLst>
                <a:ext uri="{FF2B5EF4-FFF2-40B4-BE49-F238E27FC236}">
                  <a16:creationId xmlns:a16="http://schemas.microsoft.com/office/drawing/2014/main" id="{12DDBBD0-B6D6-453A-B45A-11BF26F86B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83135" y="5253353"/>
              <a:ext cx="968535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 eaLnBrk="0" hangingPunct="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 eaLnBrk="0" hangingPunct="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 eaLnBrk="0" hangingPunct="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 eaLnBrk="0" hangingPunct="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fr-FR" altLang="fr-FR" sz="1200">
                  <a:solidFill>
                    <a:srgbClr val="C00000"/>
                  </a:solidFill>
                  <a:latin typeface="Arial" panose="020B0604020202020204" pitchFamily="34" charset="0"/>
                </a:rPr>
                <a:t>Renflement</a:t>
              </a:r>
            </a:p>
          </p:txBody>
        </p:sp>
        <p:sp>
          <p:nvSpPr>
            <p:cNvPr id="9" name="ZoneTexte 4">
              <a:extLst>
                <a:ext uri="{FF2B5EF4-FFF2-40B4-BE49-F238E27FC236}">
                  <a16:creationId xmlns:a16="http://schemas.microsoft.com/office/drawing/2014/main" id="{583DD7CD-BAB1-4A15-8E6D-3C8FD35AD0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65915" y="2426404"/>
              <a:ext cx="1164101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 eaLnBrk="0" hangingPunct="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 eaLnBrk="0" hangingPunct="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 eaLnBrk="0" hangingPunct="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 eaLnBrk="0" hangingPunct="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fr-FR" altLang="fr-FR" sz="1200">
                  <a:solidFill>
                    <a:srgbClr val="C00000"/>
                  </a:solidFill>
                  <a:latin typeface="Arial" panose="020B0604020202020204" pitchFamily="34" charset="0"/>
                </a:rPr>
                <a:t>Boucle interne</a:t>
              </a:r>
            </a:p>
          </p:txBody>
        </p:sp>
        <p:sp>
          <p:nvSpPr>
            <p:cNvPr id="10" name="ZoneTexte 7">
              <a:extLst>
                <a:ext uri="{FF2B5EF4-FFF2-40B4-BE49-F238E27FC236}">
                  <a16:creationId xmlns:a16="http://schemas.microsoft.com/office/drawing/2014/main" id="{16FF24CC-ECE7-4DE7-9358-4708586D5D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70780" y="4372760"/>
              <a:ext cx="1223412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 eaLnBrk="0" hangingPunct="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 eaLnBrk="0" hangingPunct="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 eaLnBrk="0" hangingPunct="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 eaLnBrk="0" hangingPunct="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fr-FR" altLang="fr-FR" sz="1200">
                  <a:solidFill>
                    <a:srgbClr val="C00000"/>
                  </a:solidFill>
                  <a:latin typeface="Arial" panose="020B0604020202020204" pitchFamily="34" charset="0"/>
                </a:rPr>
                <a:t>Boucle multiple</a:t>
              </a:r>
            </a:p>
          </p:txBody>
        </p:sp>
      </p:grpSp>
      <p:sp>
        <p:nvSpPr>
          <p:cNvPr id="11" name="ZoneTexte 10">
            <a:extLst>
              <a:ext uri="{FF2B5EF4-FFF2-40B4-BE49-F238E27FC236}">
                <a16:creationId xmlns:a16="http://schemas.microsoft.com/office/drawing/2014/main" id="{E9BBCF68-49EB-4C03-8831-6651FEA61CF9}"/>
              </a:ext>
            </a:extLst>
          </p:cNvPr>
          <p:cNvSpPr txBox="1"/>
          <p:nvPr/>
        </p:nvSpPr>
        <p:spPr>
          <a:xfrm>
            <a:off x="3012295" y="1733979"/>
            <a:ext cx="388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A"/>
              <a:t>s1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9F25B7A8-69B1-402E-AEFB-CA634692E5B6}"/>
              </a:ext>
            </a:extLst>
          </p:cNvPr>
          <p:cNvSpPr txBox="1"/>
          <p:nvPr/>
        </p:nvSpPr>
        <p:spPr>
          <a:xfrm>
            <a:off x="4244366" y="2350952"/>
            <a:ext cx="388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A"/>
              <a:t>s2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CF8939BC-A47C-451F-B92F-C15E78FB9F3A}"/>
              </a:ext>
            </a:extLst>
          </p:cNvPr>
          <p:cNvSpPr txBox="1"/>
          <p:nvPr/>
        </p:nvSpPr>
        <p:spPr>
          <a:xfrm>
            <a:off x="4746149" y="2977202"/>
            <a:ext cx="388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A"/>
              <a:t>s3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8C40B014-BEC3-4E8F-A926-448853889F2F}"/>
              </a:ext>
            </a:extLst>
          </p:cNvPr>
          <p:cNvSpPr txBox="1"/>
          <p:nvPr/>
        </p:nvSpPr>
        <p:spPr>
          <a:xfrm>
            <a:off x="2335455" y="3969325"/>
            <a:ext cx="388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A"/>
              <a:t>s4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360640BF-1CE7-4C7E-B575-5F1C55445951}"/>
              </a:ext>
            </a:extLst>
          </p:cNvPr>
          <p:cNvSpPr txBox="1"/>
          <p:nvPr/>
        </p:nvSpPr>
        <p:spPr>
          <a:xfrm>
            <a:off x="3206419" y="3621893"/>
            <a:ext cx="388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A"/>
              <a:t>s5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93DB6D25-70C3-4060-B040-EE0A9D5D9DCB}"/>
              </a:ext>
            </a:extLst>
          </p:cNvPr>
          <p:cNvSpPr txBox="1"/>
          <p:nvPr/>
        </p:nvSpPr>
        <p:spPr>
          <a:xfrm>
            <a:off x="4195790" y="3758638"/>
            <a:ext cx="388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A"/>
              <a:t>s6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EB1DCF38-983C-4026-9E60-C57F8210718F}"/>
              </a:ext>
            </a:extLst>
          </p:cNvPr>
          <p:cNvSpPr txBox="1"/>
          <p:nvPr/>
        </p:nvSpPr>
        <p:spPr>
          <a:xfrm>
            <a:off x="5259637" y="4384079"/>
            <a:ext cx="388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A"/>
              <a:t>s7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B96B4836-DDC1-4C9F-B3D3-B539C2B0CAE0}"/>
              </a:ext>
            </a:extLst>
          </p:cNvPr>
          <p:cNvSpPr txBox="1"/>
          <p:nvPr/>
        </p:nvSpPr>
        <p:spPr>
          <a:xfrm>
            <a:off x="6272273" y="3976992"/>
            <a:ext cx="388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A"/>
              <a:t>s8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2772CAFB-E1DF-4B6C-93D8-F8F890C560EC}"/>
              </a:ext>
            </a:extLst>
          </p:cNvPr>
          <p:cNvSpPr txBox="1"/>
          <p:nvPr/>
        </p:nvSpPr>
        <p:spPr>
          <a:xfrm>
            <a:off x="4114800" y="5103463"/>
            <a:ext cx="388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A"/>
              <a:t>s9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0D81D449-0B6C-4E4F-ABCB-5DB452DBF4E1}"/>
              </a:ext>
            </a:extLst>
          </p:cNvPr>
          <p:cNvSpPr txBox="1"/>
          <p:nvPr/>
        </p:nvSpPr>
        <p:spPr>
          <a:xfrm>
            <a:off x="4006400" y="5855753"/>
            <a:ext cx="5148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A"/>
              <a:t>s10</a:t>
            </a:r>
          </a:p>
        </p:txBody>
      </p:sp>
    </p:spTree>
    <p:extLst>
      <p:ext uri="{BB962C8B-B14F-4D97-AF65-F5344CB8AC3E}">
        <p14:creationId xmlns:p14="http://schemas.microsoft.com/office/powerpoint/2010/main" val="236287549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6FAA246-9E9C-4746-9DD8-D4636A2DF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Modélisation du problème V2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21C7254-65DC-47B4-950A-3854ACEA7997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12648" y="1181100"/>
            <a:ext cx="8607552" cy="5448300"/>
          </a:xfrm>
        </p:spPr>
        <p:txBody>
          <a:bodyPr>
            <a:normAutofit/>
          </a:bodyPr>
          <a:lstStyle/>
          <a:p>
            <a:r>
              <a:rPr lang="fr-CA" sz="2800"/>
              <a:t>Formulation simpliste: ignore le fait que chaque sous-structure a son propre apport en énergie libre.</a:t>
            </a:r>
          </a:p>
          <a:p>
            <a:r>
              <a:rPr lang="fr-CA" sz="2800"/>
              <a:t>Soient s</a:t>
            </a:r>
            <a:r>
              <a:rPr lang="fr-CA" sz="2800" baseline="-25000"/>
              <a:t>1</a:t>
            </a:r>
            <a:r>
              <a:rPr lang="fr-CA" sz="2800"/>
              <a:t>, s</a:t>
            </a:r>
            <a:r>
              <a:rPr lang="fr-CA" sz="2800" baseline="-25000"/>
              <a:t>2</a:t>
            </a:r>
            <a:r>
              <a:rPr lang="fr-CA" sz="2800"/>
              <a:t>, ..., s</a:t>
            </a:r>
            <a:r>
              <a:rPr lang="fr-CA" sz="2800" baseline="-25000"/>
              <a:t>k</a:t>
            </a:r>
            <a:r>
              <a:rPr lang="fr-CA" sz="2800"/>
              <a:t> les sous-structures de l'ARN.  Son énergie libre est </a:t>
            </a:r>
          </a:p>
          <a:p>
            <a:pPr marL="0" indent="0" algn="ctr">
              <a:buNone/>
            </a:pPr>
            <a:r>
              <a:rPr lang="fr-CA" sz="2800"/>
              <a:t>E(S) = e(s</a:t>
            </a:r>
            <a:r>
              <a:rPr lang="fr-CA" sz="2800" baseline="-25000"/>
              <a:t>1</a:t>
            </a:r>
            <a:r>
              <a:rPr lang="fr-CA" sz="2800"/>
              <a:t>) + e(s</a:t>
            </a:r>
            <a:r>
              <a:rPr lang="fr-CA" sz="2800" baseline="-25000"/>
              <a:t>2</a:t>
            </a:r>
            <a:r>
              <a:rPr lang="fr-CA" sz="2800"/>
              <a:t>) + ... + e(s</a:t>
            </a:r>
            <a:r>
              <a:rPr lang="fr-CA" sz="2800" baseline="-25000"/>
              <a:t>k</a:t>
            </a:r>
            <a:r>
              <a:rPr lang="fr-CA" sz="2800"/>
              <a:t>)</a:t>
            </a:r>
          </a:p>
          <a:p>
            <a:endParaRPr lang="fr-CA" sz="2800"/>
          </a:p>
        </p:txBody>
      </p:sp>
    </p:spTree>
    <p:extLst>
      <p:ext uri="{BB962C8B-B14F-4D97-AF65-F5344CB8AC3E}">
        <p14:creationId xmlns:p14="http://schemas.microsoft.com/office/powerpoint/2010/main" val="166544131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6FAA246-9E9C-4746-9DD8-D4636A2DF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Modélisation du problème V2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21C7254-65DC-47B4-950A-3854ACEA7997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12648" y="1181100"/>
            <a:ext cx="8607552" cy="5448300"/>
          </a:xfrm>
        </p:spPr>
        <p:txBody>
          <a:bodyPr>
            <a:normAutofit/>
          </a:bodyPr>
          <a:lstStyle/>
          <a:p>
            <a:r>
              <a:rPr lang="fr-CA" sz="2800"/>
              <a:t>Formulation simpliste: ignore le fait que chaque sous-structure a son propre apport en énergie libre.</a:t>
            </a:r>
          </a:p>
          <a:p>
            <a:r>
              <a:rPr lang="fr-CA" sz="2800"/>
              <a:t>Soient s</a:t>
            </a:r>
            <a:r>
              <a:rPr lang="fr-CA" sz="2800" baseline="-25000"/>
              <a:t>1</a:t>
            </a:r>
            <a:r>
              <a:rPr lang="fr-CA" sz="2800"/>
              <a:t>, s</a:t>
            </a:r>
            <a:r>
              <a:rPr lang="fr-CA" sz="2800" baseline="-25000"/>
              <a:t>2</a:t>
            </a:r>
            <a:r>
              <a:rPr lang="fr-CA" sz="2800"/>
              <a:t>, ..., s</a:t>
            </a:r>
            <a:r>
              <a:rPr lang="fr-CA" sz="2800" baseline="-25000"/>
              <a:t>k</a:t>
            </a:r>
            <a:r>
              <a:rPr lang="fr-CA" sz="2800"/>
              <a:t> les sous-structures de l'ARN.  Son énergie libre est </a:t>
            </a:r>
          </a:p>
          <a:p>
            <a:pPr marL="0" indent="0" algn="ctr">
              <a:buNone/>
            </a:pPr>
            <a:r>
              <a:rPr lang="fr-CA" sz="2800"/>
              <a:t>E(S) = e(s</a:t>
            </a:r>
            <a:r>
              <a:rPr lang="fr-CA" sz="2800" baseline="-25000"/>
              <a:t>1</a:t>
            </a:r>
            <a:r>
              <a:rPr lang="fr-CA" sz="2800"/>
              <a:t>) + e(s</a:t>
            </a:r>
            <a:r>
              <a:rPr lang="fr-CA" sz="2800" baseline="-25000"/>
              <a:t>2</a:t>
            </a:r>
            <a:r>
              <a:rPr lang="fr-CA" sz="2800"/>
              <a:t>) + ... + e(s</a:t>
            </a:r>
            <a:r>
              <a:rPr lang="fr-CA" sz="2800" baseline="-25000"/>
              <a:t>k</a:t>
            </a:r>
            <a:r>
              <a:rPr lang="fr-CA" sz="2800"/>
              <a:t>)</a:t>
            </a:r>
          </a:p>
          <a:p>
            <a:endParaRPr lang="fr-CA" sz="2800"/>
          </a:p>
          <a:p>
            <a:r>
              <a:rPr lang="fr-FR" altLang="fr-FR" sz="2800"/>
              <a:t>Fonction e évaluée expérimentalement sur de petits ARN synthétiques.</a:t>
            </a:r>
            <a:endParaRPr lang="fr-CA" sz="2800"/>
          </a:p>
          <a:p>
            <a:endParaRPr lang="fr-CA" sz="2800"/>
          </a:p>
        </p:txBody>
      </p:sp>
    </p:spTree>
    <p:extLst>
      <p:ext uri="{BB962C8B-B14F-4D97-AF65-F5344CB8AC3E}">
        <p14:creationId xmlns:p14="http://schemas.microsoft.com/office/powerpoint/2010/main" val="67527010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25A21C9-897C-4DDC-A783-DEB243D898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Modélisation du problème V2</a:t>
            </a:r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4F3A1796-B98E-4A57-AB22-4BCDCC2E52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5085071"/>
              </p:ext>
            </p:extLst>
          </p:nvPr>
        </p:nvGraphicFramePr>
        <p:xfrm>
          <a:off x="1420642" y="1428544"/>
          <a:ext cx="6302716" cy="234673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03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03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03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03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03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03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038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15912">
                <a:tc>
                  <a:txBody>
                    <a:bodyPr/>
                    <a:lstStyle/>
                    <a:p>
                      <a:pPr algn="ctr"/>
                      <a:endParaRPr lang="fr-FR" sz="1600" dirty="0"/>
                    </a:p>
                  </a:txBody>
                  <a:tcPr marL="91441" marR="91441" marT="45704" marB="4570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1" dirty="0">
                          <a:solidFill>
                            <a:srgbClr val="0070C0"/>
                          </a:solidFill>
                        </a:rPr>
                        <a:t>A/U</a:t>
                      </a:r>
                    </a:p>
                  </a:txBody>
                  <a:tcPr marL="91441" marR="91441" marT="45704" marB="4570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1" dirty="0">
                          <a:solidFill>
                            <a:srgbClr val="0070C0"/>
                          </a:solidFill>
                        </a:rPr>
                        <a:t>C/G</a:t>
                      </a:r>
                    </a:p>
                  </a:txBody>
                  <a:tcPr marL="91441" marR="91441" marT="45704" marB="4570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1" dirty="0">
                          <a:solidFill>
                            <a:srgbClr val="0070C0"/>
                          </a:solidFill>
                        </a:rPr>
                        <a:t>G/C</a:t>
                      </a:r>
                    </a:p>
                  </a:txBody>
                  <a:tcPr marL="91441" marR="91441" marT="45704" marB="4570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1" dirty="0">
                          <a:solidFill>
                            <a:srgbClr val="0070C0"/>
                          </a:solidFill>
                        </a:rPr>
                        <a:t>U/A</a:t>
                      </a:r>
                    </a:p>
                  </a:txBody>
                  <a:tcPr marL="91441" marR="91441" marT="45704" marB="4570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1" dirty="0">
                          <a:solidFill>
                            <a:srgbClr val="0070C0"/>
                          </a:solidFill>
                        </a:rPr>
                        <a:t>G/U</a:t>
                      </a:r>
                    </a:p>
                  </a:txBody>
                  <a:tcPr marL="91441" marR="91441" marT="45704" marB="4570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1" dirty="0">
                          <a:solidFill>
                            <a:srgbClr val="0070C0"/>
                          </a:solidFill>
                        </a:rPr>
                        <a:t>U/G</a:t>
                      </a:r>
                    </a:p>
                  </a:txBody>
                  <a:tcPr marL="91441" marR="91441" marT="45704" marB="4570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912">
                <a:tc>
                  <a:txBody>
                    <a:bodyPr/>
                    <a:lstStyle/>
                    <a:p>
                      <a:pPr algn="ctr"/>
                      <a:r>
                        <a:rPr lang="fr-FR" sz="1600" b="1" dirty="0">
                          <a:solidFill>
                            <a:srgbClr val="0070C0"/>
                          </a:solidFill>
                        </a:rPr>
                        <a:t>A/U</a:t>
                      </a:r>
                    </a:p>
                  </a:txBody>
                  <a:tcPr marL="91441" marR="91441" marT="45704" marB="4570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-0.9</a:t>
                      </a:r>
                    </a:p>
                  </a:txBody>
                  <a:tcPr marL="91441" marR="91441" marT="45704" marB="4570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-1.8</a:t>
                      </a:r>
                    </a:p>
                  </a:txBody>
                  <a:tcPr marL="91441" marR="91441" marT="45704" marB="4570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-2.3</a:t>
                      </a:r>
                    </a:p>
                  </a:txBody>
                  <a:tcPr marL="91441" marR="91441" marT="45704" marB="4570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-1.1</a:t>
                      </a:r>
                    </a:p>
                  </a:txBody>
                  <a:tcPr marL="91441" marR="91441" marT="45704" marB="4570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-1.1</a:t>
                      </a:r>
                    </a:p>
                  </a:txBody>
                  <a:tcPr marL="91441" marR="91441" marT="45704" marB="4570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-0.8</a:t>
                      </a:r>
                    </a:p>
                  </a:txBody>
                  <a:tcPr marL="91441" marR="91441" marT="45704" marB="4570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5912">
                <a:tc>
                  <a:txBody>
                    <a:bodyPr/>
                    <a:lstStyle/>
                    <a:p>
                      <a:pPr algn="ctr"/>
                      <a:r>
                        <a:rPr lang="fr-FR" sz="1600" b="1" dirty="0">
                          <a:solidFill>
                            <a:srgbClr val="0070C0"/>
                          </a:solidFill>
                        </a:rPr>
                        <a:t>C/G</a:t>
                      </a:r>
                    </a:p>
                  </a:txBody>
                  <a:tcPr marL="91441" marR="91441" marT="45704" marB="4570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-1.7</a:t>
                      </a:r>
                    </a:p>
                  </a:txBody>
                  <a:tcPr marL="91441" marR="91441" marT="45704" marB="4570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-2.9</a:t>
                      </a:r>
                    </a:p>
                  </a:txBody>
                  <a:tcPr marL="91441" marR="91441" marT="45704" marB="4570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-3.4</a:t>
                      </a:r>
                    </a:p>
                  </a:txBody>
                  <a:tcPr marL="91441" marR="91441" marT="45704" marB="4570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-2.3</a:t>
                      </a:r>
                    </a:p>
                  </a:txBody>
                  <a:tcPr marL="91441" marR="91441" marT="45704" marB="4570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-2.1</a:t>
                      </a:r>
                    </a:p>
                  </a:txBody>
                  <a:tcPr marL="91441" marR="91441" marT="45704" marB="4570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-1.4</a:t>
                      </a:r>
                    </a:p>
                  </a:txBody>
                  <a:tcPr marL="91441" marR="91441" marT="45704" marB="45704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5912">
                <a:tc>
                  <a:txBody>
                    <a:bodyPr/>
                    <a:lstStyle/>
                    <a:p>
                      <a:pPr algn="ctr"/>
                      <a:r>
                        <a:rPr lang="fr-FR" sz="1600" b="1" dirty="0">
                          <a:solidFill>
                            <a:srgbClr val="0070C0"/>
                          </a:solidFill>
                        </a:rPr>
                        <a:t>G/C</a:t>
                      </a:r>
                    </a:p>
                  </a:txBody>
                  <a:tcPr marL="91441" marR="91441" marT="45704" marB="4570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-2.1</a:t>
                      </a:r>
                    </a:p>
                  </a:txBody>
                  <a:tcPr marL="91441" marR="91441" marT="45704" marB="4570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-2.0</a:t>
                      </a:r>
                    </a:p>
                  </a:txBody>
                  <a:tcPr marL="91441" marR="91441" marT="45704" marB="4570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-2.9</a:t>
                      </a:r>
                    </a:p>
                  </a:txBody>
                  <a:tcPr marL="91441" marR="91441" marT="45704" marB="4570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-1.8</a:t>
                      </a:r>
                    </a:p>
                  </a:txBody>
                  <a:tcPr marL="91441" marR="91441" marT="45704" marB="4570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-1.9</a:t>
                      </a:r>
                    </a:p>
                  </a:txBody>
                  <a:tcPr marL="91441" marR="91441" marT="45704" marB="4570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-1.2</a:t>
                      </a:r>
                    </a:p>
                  </a:txBody>
                  <a:tcPr marL="91441" marR="91441" marT="45704" marB="45704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5912">
                <a:tc>
                  <a:txBody>
                    <a:bodyPr/>
                    <a:lstStyle/>
                    <a:p>
                      <a:pPr algn="ctr"/>
                      <a:r>
                        <a:rPr lang="fr-FR" sz="1600" b="1" dirty="0">
                          <a:solidFill>
                            <a:srgbClr val="0070C0"/>
                          </a:solidFill>
                        </a:rPr>
                        <a:t>U/A</a:t>
                      </a:r>
                    </a:p>
                  </a:txBody>
                  <a:tcPr marL="91441" marR="91441" marT="45704" marB="4570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-0.9</a:t>
                      </a:r>
                    </a:p>
                  </a:txBody>
                  <a:tcPr marL="91441" marR="91441" marT="45704" marB="4570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-1.7</a:t>
                      </a:r>
                    </a:p>
                  </a:txBody>
                  <a:tcPr marL="91441" marR="91441" marT="45704" marB="4570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-2.1</a:t>
                      </a:r>
                    </a:p>
                  </a:txBody>
                  <a:tcPr marL="91441" marR="91441" marT="45704" marB="4570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-0.9</a:t>
                      </a:r>
                    </a:p>
                  </a:txBody>
                  <a:tcPr marL="91441" marR="91441" marT="45704" marB="4570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-1.0</a:t>
                      </a:r>
                    </a:p>
                  </a:txBody>
                  <a:tcPr marL="91441" marR="91441" marT="45704" marB="4570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-0.5</a:t>
                      </a:r>
                    </a:p>
                  </a:txBody>
                  <a:tcPr marL="91441" marR="91441" marT="45704" marB="45704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5912">
                <a:tc>
                  <a:txBody>
                    <a:bodyPr/>
                    <a:lstStyle/>
                    <a:p>
                      <a:pPr algn="ctr"/>
                      <a:r>
                        <a:rPr lang="fr-FR" sz="1600" b="1" dirty="0">
                          <a:solidFill>
                            <a:srgbClr val="0070C0"/>
                          </a:solidFill>
                        </a:rPr>
                        <a:t>G/U</a:t>
                      </a:r>
                    </a:p>
                  </a:txBody>
                  <a:tcPr marL="91441" marR="91441" marT="45704" marB="4570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-0.5</a:t>
                      </a:r>
                    </a:p>
                  </a:txBody>
                  <a:tcPr marL="91441" marR="91441" marT="45704" marB="4570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-1.2</a:t>
                      </a:r>
                    </a:p>
                  </a:txBody>
                  <a:tcPr marL="91441" marR="91441" marT="45704" marB="4570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-1.4</a:t>
                      </a:r>
                    </a:p>
                  </a:txBody>
                  <a:tcPr marL="91441" marR="91441" marT="45704" marB="4570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-0.8</a:t>
                      </a:r>
                    </a:p>
                  </a:txBody>
                  <a:tcPr marL="91441" marR="91441" marT="45704" marB="4570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-0.4</a:t>
                      </a:r>
                    </a:p>
                  </a:txBody>
                  <a:tcPr marL="91441" marR="91441" marT="45704" marB="4570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-0.2</a:t>
                      </a:r>
                    </a:p>
                  </a:txBody>
                  <a:tcPr marL="91441" marR="91441" marT="45704" marB="45704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5912">
                <a:tc>
                  <a:txBody>
                    <a:bodyPr/>
                    <a:lstStyle/>
                    <a:p>
                      <a:pPr algn="ctr"/>
                      <a:r>
                        <a:rPr lang="fr-FR" sz="1600" b="1" dirty="0">
                          <a:solidFill>
                            <a:srgbClr val="0070C0"/>
                          </a:solidFill>
                        </a:rPr>
                        <a:t>U/G</a:t>
                      </a:r>
                    </a:p>
                  </a:txBody>
                  <a:tcPr marL="91441" marR="91441" marT="45704" marB="4570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-1.0</a:t>
                      </a:r>
                    </a:p>
                  </a:txBody>
                  <a:tcPr marL="91441" marR="91441" marT="45704" marB="4570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-1.9</a:t>
                      </a:r>
                    </a:p>
                  </a:txBody>
                  <a:tcPr marL="91441" marR="91441" marT="45704" marB="4570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-2.1</a:t>
                      </a:r>
                    </a:p>
                  </a:txBody>
                  <a:tcPr marL="91441" marR="91441" marT="45704" marB="4570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-1.1</a:t>
                      </a:r>
                    </a:p>
                  </a:txBody>
                  <a:tcPr marL="91441" marR="91441" marT="45704" marB="4570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-1.5</a:t>
                      </a:r>
                    </a:p>
                  </a:txBody>
                  <a:tcPr marL="91441" marR="91441" marT="45704" marB="4570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-0.4</a:t>
                      </a:r>
                    </a:p>
                  </a:txBody>
                  <a:tcPr marL="91441" marR="91441" marT="45704" marB="45704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ZoneTexte 4">
            <a:extLst>
              <a:ext uri="{FF2B5EF4-FFF2-40B4-BE49-F238E27FC236}">
                <a16:creationId xmlns:a16="http://schemas.microsoft.com/office/drawing/2014/main" id="{45B29BBE-B23D-4E81-8C71-75BA08E58B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0200" y="3700667"/>
            <a:ext cx="28797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fr-FR" altLang="fr-FR" sz="2000"/>
              <a:t>Turner, Sugimoto (1988)</a:t>
            </a:r>
          </a:p>
        </p:txBody>
      </p:sp>
      <p:sp>
        <p:nvSpPr>
          <p:cNvPr id="6" name="ZoneTexte 6">
            <a:extLst>
              <a:ext uri="{FF2B5EF4-FFF2-40B4-BE49-F238E27FC236}">
                <a16:creationId xmlns:a16="http://schemas.microsoft.com/office/drawing/2014/main" id="{57C5AE2F-71C0-4D38-98B1-4200B7CA23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988085"/>
            <a:ext cx="770413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fr-FR" altLang="fr-FR" sz="2000">
                <a:solidFill>
                  <a:srgbClr val="FF0000"/>
                </a:solidFill>
              </a:rPr>
              <a:t>Énergie  d’empilement de paires de base </a:t>
            </a:r>
            <a:r>
              <a:rPr lang="fr-FR" altLang="fr-FR" sz="2000"/>
              <a:t>(kcal/mole à 37degC)</a:t>
            </a:r>
            <a:r>
              <a:rPr lang="fr-FR" altLang="fr-FR" sz="2000">
                <a:solidFill>
                  <a:srgbClr val="FF0000"/>
                </a:solidFill>
              </a:rPr>
              <a:t>:</a:t>
            </a:r>
          </a:p>
        </p:txBody>
      </p:sp>
      <p:sp>
        <p:nvSpPr>
          <p:cNvPr id="7" name="ZoneTexte 7">
            <a:extLst>
              <a:ext uri="{FF2B5EF4-FFF2-40B4-BE49-F238E27FC236}">
                <a16:creationId xmlns:a16="http://schemas.microsoft.com/office/drawing/2014/main" id="{2A937475-0B0D-4E41-8F07-382D8980AE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1205" y="4071878"/>
            <a:ext cx="684212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fr-FR" altLang="fr-FR" sz="2000">
                <a:solidFill>
                  <a:srgbClr val="FF0000"/>
                </a:solidFill>
              </a:rPr>
              <a:t>Énergie  de destabilisation pour les autres boucles:</a:t>
            </a:r>
          </a:p>
        </p:txBody>
      </p:sp>
      <p:graphicFrame>
        <p:nvGraphicFramePr>
          <p:cNvPr id="8" name="Tableau 7">
            <a:extLst>
              <a:ext uri="{FF2B5EF4-FFF2-40B4-BE49-F238E27FC236}">
                <a16:creationId xmlns:a16="http://schemas.microsoft.com/office/drawing/2014/main" id="{29841D2B-F00A-4003-86C7-F08689075D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8532565"/>
              </p:ext>
            </p:extLst>
          </p:nvPr>
        </p:nvGraphicFramePr>
        <p:xfrm>
          <a:off x="1420642" y="4471928"/>
          <a:ext cx="5976937" cy="158432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443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41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21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21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212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921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6081">
                <a:tc>
                  <a:txBody>
                    <a:bodyPr/>
                    <a:lstStyle/>
                    <a:p>
                      <a:pPr algn="ctr"/>
                      <a:r>
                        <a:rPr lang="fr-FR" sz="1600" b="0" dirty="0">
                          <a:solidFill>
                            <a:srgbClr val="0070C0"/>
                          </a:solidFill>
                        </a:rPr>
                        <a:t>Nombre de bases</a:t>
                      </a:r>
                    </a:p>
                  </a:txBody>
                  <a:tcPr marL="91444" marR="91444" marT="45662" marB="4566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1" dirty="0"/>
                        <a:t>1</a:t>
                      </a:r>
                    </a:p>
                  </a:txBody>
                  <a:tcPr marL="91444" marR="91444" marT="45662" marB="4566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1" dirty="0"/>
                        <a:t>5</a:t>
                      </a:r>
                    </a:p>
                  </a:txBody>
                  <a:tcPr marL="91444" marR="91444" marT="45662" marB="4566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1" dirty="0"/>
                        <a:t>10</a:t>
                      </a:r>
                    </a:p>
                  </a:txBody>
                  <a:tcPr marL="91444" marR="91444" marT="45662" marB="4566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1" dirty="0"/>
                        <a:t>20</a:t>
                      </a:r>
                    </a:p>
                  </a:txBody>
                  <a:tcPr marL="91444" marR="91444" marT="45662" marB="4566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1" dirty="0"/>
                        <a:t>30</a:t>
                      </a:r>
                    </a:p>
                  </a:txBody>
                  <a:tcPr marL="91444" marR="91444" marT="45662" marB="45662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081">
                <a:tc>
                  <a:txBody>
                    <a:bodyPr/>
                    <a:lstStyle/>
                    <a:p>
                      <a:pPr algn="ctr"/>
                      <a:r>
                        <a:rPr lang="fr-FR" sz="1600" b="0" dirty="0">
                          <a:solidFill>
                            <a:srgbClr val="0070C0"/>
                          </a:solidFill>
                        </a:rPr>
                        <a:t>Boucle</a:t>
                      </a:r>
                      <a:r>
                        <a:rPr lang="fr-FR" sz="1600" b="0" baseline="0" dirty="0">
                          <a:solidFill>
                            <a:srgbClr val="0070C0"/>
                          </a:solidFill>
                        </a:rPr>
                        <a:t> interne</a:t>
                      </a:r>
                      <a:endParaRPr lang="fr-FR" sz="1600" b="0" dirty="0">
                        <a:solidFill>
                          <a:srgbClr val="0070C0"/>
                        </a:solidFill>
                      </a:endParaRPr>
                    </a:p>
                  </a:txBody>
                  <a:tcPr marL="91444" marR="91444" marT="45662" marB="4566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-</a:t>
                      </a:r>
                    </a:p>
                  </a:txBody>
                  <a:tcPr marL="91444" marR="91444" marT="45662" marB="4566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5.3</a:t>
                      </a:r>
                    </a:p>
                  </a:txBody>
                  <a:tcPr marL="91444" marR="91444" marT="45662" marB="4566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6.6</a:t>
                      </a:r>
                    </a:p>
                  </a:txBody>
                  <a:tcPr marL="91444" marR="91444" marT="45662" marB="4566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7.0</a:t>
                      </a:r>
                    </a:p>
                  </a:txBody>
                  <a:tcPr marL="91444" marR="91444" marT="45662" marB="4566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7.4</a:t>
                      </a:r>
                    </a:p>
                  </a:txBody>
                  <a:tcPr marL="91444" marR="91444" marT="45662" marB="45662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081">
                <a:tc>
                  <a:txBody>
                    <a:bodyPr/>
                    <a:lstStyle/>
                    <a:p>
                      <a:pPr algn="ctr"/>
                      <a:r>
                        <a:rPr lang="fr-FR" sz="1600" b="0" dirty="0">
                          <a:solidFill>
                            <a:srgbClr val="0070C0"/>
                          </a:solidFill>
                        </a:rPr>
                        <a:t>Bulge</a:t>
                      </a:r>
                    </a:p>
                  </a:txBody>
                  <a:tcPr marL="91444" marR="91444" marT="45662" marB="4566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3.9</a:t>
                      </a:r>
                    </a:p>
                  </a:txBody>
                  <a:tcPr marL="91444" marR="91444" marT="45662" marB="4566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4.8</a:t>
                      </a:r>
                    </a:p>
                  </a:txBody>
                  <a:tcPr marL="91444" marR="91444" marT="45662" marB="4566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5.5</a:t>
                      </a:r>
                    </a:p>
                  </a:txBody>
                  <a:tcPr marL="91444" marR="91444" marT="45662" marB="4566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6.3</a:t>
                      </a:r>
                    </a:p>
                  </a:txBody>
                  <a:tcPr marL="91444" marR="91444" marT="45662" marB="4566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6.7</a:t>
                      </a:r>
                    </a:p>
                  </a:txBody>
                  <a:tcPr marL="91444" marR="91444" marT="45662" marB="45662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081">
                <a:tc>
                  <a:txBody>
                    <a:bodyPr/>
                    <a:lstStyle/>
                    <a:p>
                      <a:pPr algn="ctr"/>
                      <a:r>
                        <a:rPr lang="fr-FR" sz="1600" b="0" dirty="0">
                          <a:solidFill>
                            <a:srgbClr val="0070C0"/>
                          </a:solidFill>
                        </a:rPr>
                        <a:t>Épingle</a:t>
                      </a:r>
                      <a:r>
                        <a:rPr lang="fr-FR" sz="1600" b="0" baseline="0" dirty="0">
                          <a:solidFill>
                            <a:srgbClr val="0070C0"/>
                          </a:solidFill>
                        </a:rPr>
                        <a:t> à cheveux</a:t>
                      </a:r>
                      <a:endParaRPr lang="fr-FR" sz="1600" b="0" dirty="0">
                        <a:solidFill>
                          <a:srgbClr val="0070C0"/>
                        </a:solidFill>
                      </a:endParaRPr>
                    </a:p>
                  </a:txBody>
                  <a:tcPr marL="91444" marR="91444" marT="45662" marB="4566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-</a:t>
                      </a:r>
                    </a:p>
                  </a:txBody>
                  <a:tcPr marL="91444" marR="91444" marT="45662" marB="4566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4.4</a:t>
                      </a:r>
                    </a:p>
                  </a:txBody>
                  <a:tcPr marL="91444" marR="91444" marT="45662" marB="4566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5.3</a:t>
                      </a:r>
                    </a:p>
                  </a:txBody>
                  <a:tcPr marL="91444" marR="91444" marT="45662" marB="4566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6.1</a:t>
                      </a:r>
                    </a:p>
                  </a:txBody>
                  <a:tcPr marL="91444" marR="91444" marT="45662" marB="4566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/>
                        <a:t>6.5</a:t>
                      </a:r>
                    </a:p>
                  </a:txBody>
                  <a:tcPr marL="91444" marR="91444" marT="45662" marB="45662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ZoneTexte 9">
            <a:extLst>
              <a:ext uri="{FF2B5EF4-FFF2-40B4-BE49-F238E27FC236}">
                <a16:creationId xmlns:a16="http://schemas.microsoft.com/office/drawing/2014/main" id="{55B9677A-644D-4E43-A179-96744AEC09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52267" y="6087752"/>
            <a:ext cx="28797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fr-FR" altLang="fr-FR" sz="2000"/>
              <a:t>Serra, Turner (1995)</a:t>
            </a:r>
          </a:p>
        </p:txBody>
      </p:sp>
    </p:spTree>
    <p:extLst>
      <p:ext uri="{BB962C8B-B14F-4D97-AF65-F5344CB8AC3E}">
        <p14:creationId xmlns:p14="http://schemas.microsoft.com/office/powerpoint/2010/main" val="316637967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D3DF14F-A9DA-4788-8E36-49126FF60D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ACE8163-6523-4AD5-A1D0-0A16841ACEEE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CA"/>
              <a:t>Désolé pour les amateurs de slides - elles s'arrêtent ici.</a:t>
            </a:r>
          </a:p>
        </p:txBody>
      </p:sp>
    </p:spTree>
    <p:extLst>
      <p:ext uri="{BB962C8B-B14F-4D97-AF65-F5344CB8AC3E}">
        <p14:creationId xmlns:p14="http://schemas.microsoft.com/office/powerpoint/2010/main" val="422763231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édian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0000"/>
                <a:satMod val="155000"/>
              </a:schemeClr>
            </a:gs>
            <a:gs pos="65000">
              <a:schemeClr val="phClr">
                <a:shade val="85000"/>
                <a:satMod val="155000"/>
              </a:schemeClr>
            </a:gs>
            <a:gs pos="100000">
              <a:schemeClr val="phClr">
                <a:shade val="95000"/>
                <a:satMod val="155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algn="tl" rotWithShape="0">
              <a:srgbClr val="000000">
                <a:alpha val="64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prstMaterial="matte">
            <a:bevelT h="22225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0000"/>
                <a:satMod val="155000"/>
              </a:schemeClr>
            </a:gs>
            <a:gs pos="35000">
              <a:schemeClr val="phClr">
                <a:shade val="75000"/>
                <a:satMod val="155000"/>
              </a:schemeClr>
            </a:gs>
            <a:gs pos="100000">
              <a:schemeClr val="phClr">
                <a:tint val="80000"/>
                <a:satMod val="255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B786E968-A0F2-47D4-8CE8-3393AEDB07D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1560</Words>
  <Application>Microsoft Office PowerPoint</Application>
  <PresentationFormat>Affichage à l'écran (4:3)</PresentationFormat>
  <Paragraphs>244</Paragraphs>
  <Slides>35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35</vt:i4>
      </vt:variant>
    </vt:vector>
  </HeadingPairs>
  <TitlesOfParts>
    <vt:vector size="43" baseType="lpstr">
      <vt:lpstr>Arial</vt:lpstr>
      <vt:lpstr>Calibri</vt:lpstr>
      <vt:lpstr>Cambria</vt:lpstr>
      <vt:lpstr>Perpetua</vt:lpstr>
      <vt:lpstr>Tw Cen MT</vt:lpstr>
      <vt:lpstr>Wingdings</vt:lpstr>
      <vt:lpstr>Wingdings 2</vt:lpstr>
      <vt:lpstr>Médian</vt:lpstr>
      <vt:lpstr>Introduction à la Prédiction de structures d'ARN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Structures de l'ARN</vt:lpstr>
      <vt:lpstr>Structures de l'ARN</vt:lpstr>
      <vt:lpstr>Qui se ressemble s'apparie</vt:lpstr>
      <vt:lpstr>Qui se ressemble s'apparie</vt:lpstr>
      <vt:lpstr>Qui se ressemble s'apparie</vt:lpstr>
      <vt:lpstr>Modélisation du problème</vt:lpstr>
      <vt:lpstr>Modélisation du problème</vt:lpstr>
      <vt:lpstr>Modélisation du problème</vt:lpstr>
      <vt:lpstr>Modélisation du problème</vt:lpstr>
      <vt:lpstr>Modélisation du problème</vt:lpstr>
      <vt:lpstr>Modélisation du problème</vt:lpstr>
      <vt:lpstr>Modélisation du problème</vt:lpstr>
      <vt:lpstr>Modélisation du problème</vt:lpstr>
      <vt:lpstr>Présentation PowerPoint</vt:lpstr>
      <vt:lpstr>Pseudo-noeuds</vt:lpstr>
      <vt:lpstr>Modélisation du problème</vt:lpstr>
      <vt:lpstr>Modélisation du problème</vt:lpstr>
      <vt:lpstr>Présentation PowerPoint</vt:lpstr>
      <vt:lpstr>Modélisation du problème</vt:lpstr>
      <vt:lpstr>Modélisation du problème</vt:lpstr>
      <vt:lpstr>Modélisation du problème V2</vt:lpstr>
      <vt:lpstr>Présentation PowerPoint</vt:lpstr>
      <vt:lpstr>Modélisation du problème V2</vt:lpstr>
      <vt:lpstr>Modélisation du problème V2</vt:lpstr>
      <vt:lpstr>Modélisation du problème V2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/>
  <cp:revision>1</cp:revision>
  <dcterms:created xsi:type="dcterms:W3CDTF">2015-09-23T15:54:34Z</dcterms:created>
  <dcterms:modified xsi:type="dcterms:W3CDTF">2019-11-26T15:29:53Z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TC101671259990</vt:lpwstr>
  </property>
</Properties>
</file>